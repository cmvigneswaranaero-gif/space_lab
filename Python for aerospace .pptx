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36" r:id="rId2"/>
    <p:sldId id="33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92" r:id="rId34"/>
    <p:sldId id="287" r:id="rId35"/>
    <p:sldId id="288" r:id="rId36"/>
    <p:sldId id="289" r:id="rId37"/>
    <p:sldId id="290" r:id="rId38"/>
    <p:sldId id="291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47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20" r:id="rId66"/>
    <p:sldId id="321" r:id="rId67"/>
    <p:sldId id="322" r:id="rId68"/>
    <p:sldId id="323" r:id="rId69"/>
    <p:sldId id="324" r:id="rId70"/>
    <p:sldId id="348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19" r:id="rId82"/>
    <p:sldId id="337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38" r:id="rId9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826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02745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02745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02745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7629" y="4543761"/>
            <a:ext cx="9922791" cy="11396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14400" y="4571999"/>
            <a:ext cx="9839325" cy="0"/>
          </a:xfrm>
          <a:custGeom>
            <a:avLst/>
            <a:gdLst/>
            <a:ahLst/>
            <a:cxnLst/>
            <a:rect l="l" t="t" r="r" b="b"/>
            <a:pathLst>
              <a:path w="9839325">
                <a:moveTo>
                  <a:pt x="0" y="0"/>
                </a:moveTo>
                <a:lnTo>
                  <a:pt x="9839198" y="0"/>
                </a:lnTo>
              </a:path>
            </a:pathLst>
          </a:custGeom>
          <a:ln w="38100">
            <a:solidFill>
              <a:srgbClr val="5DCEA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202745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10" name="Picture 9" descr="A white sign with black text&#10;&#10;Description automatically generated">
            <a:extLst>
              <a:ext uri="{FF2B5EF4-FFF2-40B4-BE49-F238E27FC236}">
                <a16:creationId xmlns:a16="http://schemas.microsoft.com/office/drawing/2014/main" id="{5AC0CE87-F264-84DA-71BC-03CBD5A30B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0593" y="15536"/>
            <a:ext cx="2321407" cy="8988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481711"/>
            <a:ext cx="915733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202745"/>
                </a:solidFill>
                <a:latin typeface="Franklin Gothic Medium"/>
                <a:cs typeface="Franklin Gothic Medium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2348" y="1535478"/>
            <a:ext cx="10618470" cy="4101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pic>
        <p:nvPicPr>
          <p:cNvPr id="9" name="Picture 8" descr="A white sign with black text&#10;&#10;Description automatically generated">
            <a:extLst>
              <a:ext uri="{FF2B5EF4-FFF2-40B4-BE49-F238E27FC236}">
                <a16:creationId xmlns:a16="http://schemas.microsoft.com/office/drawing/2014/main" id="{5AC0CE87-F264-84DA-71BC-03CBD5A30BB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882644" y="8138"/>
            <a:ext cx="2340513" cy="9062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ython.org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46.png"/><Relationship Id="rId3" Type="http://schemas.openxmlformats.org/officeDocument/2006/relationships/image" Target="../media/image23.png"/><Relationship Id="rId21" Type="http://schemas.openxmlformats.org/officeDocument/2006/relationships/image" Target="../media/image40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19" Type="http://schemas.openxmlformats.org/officeDocument/2006/relationships/image" Target="../media/image38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21" Type="http://schemas.openxmlformats.org/officeDocument/2006/relationships/image" Target="../media/image40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19" Type="http://schemas.openxmlformats.org/officeDocument/2006/relationships/image" Target="../media/image46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image" Target="../media/image22.png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60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21" Type="http://schemas.openxmlformats.org/officeDocument/2006/relationships/image" Target="../media/image40.png"/><Relationship Id="rId7" Type="http://schemas.openxmlformats.org/officeDocument/2006/relationships/image" Target="../media/image55.png"/><Relationship Id="rId12" Type="http://schemas.openxmlformats.org/officeDocument/2006/relationships/image" Target="../media/image59.png"/><Relationship Id="rId17" Type="http://schemas.openxmlformats.org/officeDocument/2006/relationships/image" Target="../media/image37.png"/><Relationship Id="rId2" Type="http://schemas.openxmlformats.org/officeDocument/2006/relationships/image" Target="../media/image52.png"/><Relationship Id="rId16" Type="http://schemas.openxmlformats.org/officeDocument/2006/relationships/image" Target="../media/image61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8.png"/><Relationship Id="rId5" Type="http://schemas.openxmlformats.org/officeDocument/2006/relationships/image" Target="../media/image53.png"/><Relationship Id="rId15" Type="http://schemas.openxmlformats.org/officeDocument/2006/relationships/image" Target="../media/image35.png"/><Relationship Id="rId10" Type="http://schemas.openxmlformats.org/officeDocument/2006/relationships/image" Target="../media/image57.png"/><Relationship Id="rId19" Type="http://schemas.openxmlformats.org/officeDocument/2006/relationships/image" Target="../media/image62.png"/><Relationship Id="rId4" Type="http://schemas.openxmlformats.org/officeDocument/2006/relationships/image" Target="../media/image27.png"/><Relationship Id="rId9" Type="http://schemas.openxmlformats.org/officeDocument/2006/relationships/image" Target="../media/image56.png"/><Relationship Id="rId14" Type="http://schemas.openxmlformats.org/officeDocument/2006/relationships/image" Target="../media/image34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 txBox="1">
            <a:spLocks noGrp="1"/>
          </p:cNvSpPr>
          <p:nvPr>
            <p:ph type="title"/>
          </p:nvPr>
        </p:nvSpPr>
        <p:spPr>
          <a:xfrm>
            <a:off x="1371600" y="2774429"/>
            <a:ext cx="94488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5400" spc="-25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5400" spc="-25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YTHON FOR AEROSPACE</a:t>
            </a:r>
            <a:endParaRPr sz="5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29200"/>
            <a:ext cx="541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</a:rPr>
              <a:t>Presented by: </a:t>
            </a:r>
            <a:r>
              <a:rPr lang="en-US" sz="2400" b="1" dirty="0" smtClean="0">
                <a:solidFill>
                  <a:srgbClr val="7030A0"/>
                </a:solidFill>
              </a:rPr>
              <a:t>Dr. </a:t>
            </a:r>
            <a:r>
              <a:rPr lang="en-US" sz="2400" b="1" dirty="0" err="1" smtClean="0">
                <a:solidFill>
                  <a:srgbClr val="7030A0"/>
                </a:solidFill>
              </a:rPr>
              <a:t>Vigneswaran</a:t>
            </a:r>
            <a:r>
              <a:rPr lang="en-US" sz="2400" b="1" dirty="0" smtClean="0">
                <a:solidFill>
                  <a:srgbClr val="7030A0"/>
                </a:solidFill>
              </a:rPr>
              <a:t> C.M.</a:t>
            </a:r>
            <a:br>
              <a:rPr lang="en-US" sz="2400" b="1" dirty="0" smtClean="0">
                <a:solidFill>
                  <a:srgbClr val="7030A0"/>
                </a:solidFill>
              </a:rPr>
            </a:br>
            <a:r>
              <a:rPr lang="en-US" sz="2400" dirty="0" smtClean="0">
                <a:solidFill>
                  <a:srgbClr val="7030A0"/>
                </a:solidFill>
              </a:rPr>
              <a:t>Department of Aerospace Engineering</a:t>
            </a:r>
            <a:br>
              <a:rPr lang="en-US" sz="2400" dirty="0" smtClean="0">
                <a:solidFill>
                  <a:srgbClr val="7030A0"/>
                </a:solidFill>
              </a:rPr>
            </a:br>
            <a:r>
              <a:rPr lang="en-US" sz="2400" dirty="0" err="1" smtClean="0">
                <a:solidFill>
                  <a:srgbClr val="7030A0"/>
                </a:solidFill>
              </a:rPr>
              <a:t>Ramaiah</a:t>
            </a:r>
            <a:r>
              <a:rPr lang="en-US" sz="2400" dirty="0" smtClean="0">
                <a:solidFill>
                  <a:srgbClr val="7030A0"/>
                </a:solidFill>
              </a:rPr>
              <a:t> Institute of Technology</a:t>
            </a:r>
            <a:endParaRPr lang="en-IN" sz="2400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9116" y="3771900"/>
            <a:ext cx="5378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Applications in Fluid Mechanics and Aerodynamics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01962"/>
            <a:ext cx="4614730" cy="257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259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2589352"/>
            <a:ext cx="6852284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0" spc="-25" dirty="0"/>
              <a:t>Python</a:t>
            </a:r>
            <a:r>
              <a:rPr sz="6000" spc="-250" dirty="0"/>
              <a:t> </a:t>
            </a:r>
            <a:r>
              <a:rPr sz="6000" spc="-25" dirty="0"/>
              <a:t>Basics</a:t>
            </a:r>
            <a:r>
              <a:rPr sz="6000" spc="-250" dirty="0"/>
              <a:t> </a:t>
            </a:r>
            <a:r>
              <a:rPr sz="6000" dirty="0"/>
              <a:t>–</a:t>
            </a:r>
            <a:r>
              <a:rPr sz="6000" spc="-280" dirty="0"/>
              <a:t> </a:t>
            </a:r>
            <a:r>
              <a:rPr sz="6000" spc="-20" dirty="0"/>
              <a:t>Data </a:t>
            </a:r>
            <a:r>
              <a:rPr sz="6000" spc="-10" dirty="0"/>
              <a:t>Structures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50765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3504438"/>
            <a:ext cx="28682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65" dirty="0"/>
              <a:t>Contents</a:t>
            </a:r>
            <a:endParaRPr sz="6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479"/>
            <a:ext cx="4855210" cy="222186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Installing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python</a:t>
            </a:r>
            <a:endParaRPr sz="2400" dirty="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Python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Environment</a:t>
            </a:r>
            <a:endParaRPr sz="2400" dirty="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Assignments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&amp;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Naming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Convention</a:t>
            </a:r>
            <a:endParaRPr sz="2400" dirty="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Structures</a:t>
            </a:r>
            <a:endParaRPr sz="2400" dirty="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Important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Packages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2589352"/>
            <a:ext cx="7827009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0" spc="-55" dirty="0"/>
              <a:t>Introduction</a:t>
            </a:r>
            <a:r>
              <a:rPr sz="6000" spc="-290" dirty="0"/>
              <a:t> </a:t>
            </a:r>
            <a:r>
              <a:rPr sz="6000" dirty="0"/>
              <a:t>to</a:t>
            </a:r>
            <a:r>
              <a:rPr sz="6000" spc="-320" dirty="0"/>
              <a:t> </a:t>
            </a:r>
            <a:r>
              <a:rPr sz="6000" spc="-25" dirty="0"/>
              <a:t>Python</a:t>
            </a:r>
            <a:r>
              <a:rPr sz="6000" spc="-310" dirty="0"/>
              <a:t> </a:t>
            </a:r>
            <a:r>
              <a:rPr sz="6000" spc="-50" dirty="0"/>
              <a:t>&amp; </a:t>
            </a:r>
            <a:r>
              <a:rPr sz="6000" spc="-10" dirty="0"/>
              <a:t>History</a:t>
            </a:r>
            <a:endParaRPr sz="6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What</a:t>
            </a:r>
            <a:r>
              <a:rPr spc="-215" dirty="0"/>
              <a:t> </a:t>
            </a:r>
            <a:r>
              <a:rPr dirty="0"/>
              <a:t>is</a:t>
            </a:r>
            <a:r>
              <a:rPr spc="-229" dirty="0"/>
              <a:t> </a:t>
            </a:r>
            <a:r>
              <a:rPr spc="-45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479"/>
            <a:ext cx="6601459" cy="266065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spc="-10" dirty="0">
                <a:latin typeface="Trebuchet MS"/>
                <a:cs typeface="Trebuchet MS"/>
              </a:rPr>
              <a:t>It’s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multi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purpose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programming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language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Open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Source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(Free)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Powerful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scripting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language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with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simple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Syntax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Used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by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many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scientists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developers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spc="-25" dirty="0">
                <a:latin typeface="Trebuchet MS"/>
                <a:cs typeface="Trebuchet MS"/>
              </a:rPr>
              <a:t>Human-</a:t>
            </a:r>
            <a:r>
              <a:rPr sz="2400" dirty="0">
                <a:latin typeface="Trebuchet MS"/>
                <a:cs typeface="Trebuchet MS"/>
              </a:rPr>
              <a:t>readable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syntax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well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Documented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u="sng" spc="-10" dirty="0">
                <a:solidFill>
                  <a:srgbClr val="55C6AA"/>
                </a:solidFill>
                <a:uFill>
                  <a:solidFill>
                    <a:srgbClr val="55C6AA"/>
                  </a:solidFill>
                </a:uFill>
                <a:latin typeface="Trebuchet MS"/>
                <a:cs typeface="Trebuchet MS"/>
                <a:hlinkClick r:id="rId2"/>
              </a:rPr>
              <a:t>www.python.org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164083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History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624025"/>
            <a:ext cx="1088898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Python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language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was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developed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by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Guido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van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Rossum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(Benevolent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Dictator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for</a:t>
            </a:r>
            <a:endParaRPr sz="2400">
              <a:latin typeface="Trebuchet MS"/>
              <a:cs typeface="Trebuchet MS"/>
            </a:endParaRPr>
          </a:p>
          <a:p>
            <a:pPr marL="141605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Trebuchet MS"/>
                <a:cs typeface="Trebuchet MS"/>
              </a:rPr>
              <a:t>Life).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0876" y="2530182"/>
            <a:ext cx="6735445" cy="39128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Python</a:t>
            </a:r>
            <a:r>
              <a:rPr spc="-229" dirty="0"/>
              <a:t> </a:t>
            </a:r>
            <a:r>
              <a:rPr spc="-35" dirty="0"/>
              <a:t>History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479"/>
            <a:ext cx="5198110" cy="4026743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First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Python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version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released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1991</a:t>
            </a:r>
            <a:endParaRPr sz="2400" dirty="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Python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2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was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released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2000</a:t>
            </a:r>
            <a:endParaRPr sz="2400" dirty="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Python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3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was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released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2008</a:t>
            </a:r>
            <a:endParaRPr sz="2400" dirty="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Python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3.4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(2014)</a:t>
            </a:r>
            <a:endParaRPr sz="2400" dirty="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Python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3.6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(2016)</a:t>
            </a:r>
            <a:endParaRPr sz="2400" dirty="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Python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3.9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(2020)</a:t>
            </a:r>
            <a:endParaRPr sz="2400" dirty="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Python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3.11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(2022)</a:t>
            </a:r>
            <a:endParaRPr sz="2400" dirty="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Python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3.12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(2023</a:t>
            </a:r>
            <a:r>
              <a:rPr sz="2400" spc="-10" dirty="0" smtClean="0">
                <a:latin typeface="Trebuchet MS"/>
                <a:cs typeface="Trebuchet MS"/>
              </a:rPr>
              <a:t>)</a:t>
            </a:r>
            <a:endParaRPr lang="en-US" sz="2400" spc="-10" dirty="0" smtClean="0">
              <a:latin typeface="Trebuchet MS"/>
              <a:cs typeface="Trebuchet MS"/>
            </a:endParaRPr>
          </a:p>
          <a:p>
            <a:pPr marL="141605" indent="-128905">
              <a:spcBef>
                <a:spcPts val="5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lang="en-IN" sz="2400" dirty="0" smtClean="0">
                <a:latin typeface="Trebuchet MS"/>
                <a:cs typeface="Trebuchet MS"/>
              </a:rPr>
              <a:t>Python</a:t>
            </a:r>
            <a:r>
              <a:rPr lang="en-IN" sz="2400" spc="-55" dirty="0" smtClean="0">
                <a:latin typeface="Trebuchet MS"/>
                <a:cs typeface="Trebuchet MS"/>
              </a:rPr>
              <a:t> </a:t>
            </a:r>
            <a:r>
              <a:rPr lang="en-IN" sz="2400" dirty="0" smtClean="0">
                <a:latin typeface="Trebuchet MS"/>
                <a:cs typeface="Trebuchet MS"/>
              </a:rPr>
              <a:t>3.13</a:t>
            </a:r>
            <a:r>
              <a:rPr lang="en-IN" sz="2400" spc="-40" dirty="0" smtClean="0">
                <a:latin typeface="Trebuchet MS"/>
                <a:cs typeface="Trebuchet MS"/>
              </a:rPr>
              <a:t> </a:t>
            </a:r>
            <a:r>
              <a:rPr lang="en-IN" sz="2400" spc="-10" dirty="0" smtClean="0">
                <a:latin typeface="Trebuchet MS"/>
                <a:cs typeface="Trebuchet MS"/>
              </a:rPr>
              <a:t>(2024)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Which</a:t>
            </a:r>
            <a:r>
              <a:rPr spc="-250" dirty="0"/>
              <a:t> </a:t>
            </a:r>
            <a:r>
              <a:rPr spc="-60" dirty="0"/>
              <a:t>Version</a:t>
            </a:r>
            <a:r>
              <a:rPr spc="-215" dirty="0"/>
              <a:t> </a:t>
            </a:r>
            <a:r>
              <a:rPr dirty="0"/>
              <a:t>to</a:t>
            </a:r>
            <a:r>
              <a:rPr spc="-260" dirty="0"/>
              <a:t> </a:t>
            </a:r>
            <a:r>
              <a:rPr spc="-25" dirty="0"/>
              <a:t>install?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9600" y="1703323"/>
            <a:ext cx="10991850" cy="4500245"/>
            <a:chOff x="609600" y="1703323"/>
            <a:chExt cx="10991850" cy="45002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" y="1703323"/>
              <a:ext cx="10160000" cy="450011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454400" y="3233419"/>
              <a:ext cx="8140700" cy="1143000"/>
            </a:xfrm>
            <a:custGeom>
              <a:avLst/>
              <a:gdLst/>
              <a:ahLst/>
              <a:cxnLst/>
              <a:rect l="l" t="t" r="r" b="b"/>
              <a:pathLst>
                <a:path w="8140700" h="1143000">
                  <a:moveTo>
                    <a:pt x="8140573" y="952499"/>
                  </a:moveTo>
                  <a:lnTo>
                    <a:pt x="5105146" y="952499"/>
                  </a:lnTo>
                  <a:lnTo>
                    <a:pt x="5110180" y="996162"/>
                  </a:lnTo>
                  <a:lnTo>
                    <a:pt x="5124518" y="1036253"/>
                  </a:lnTo>
                  <a:lnTo>
                    <a:pt x="5147013" y="1071625"/>
                  </a:lnTo>
                  <a:lnTo>
                    <a:pt x="5176520" y="1101132"/>
                  </a:lnTo>
                  <a:lnTo>
                    <a:pt x="5211892" y="1123627"/>
                  </a:lnTo>
                  <a:lnTo>
                    <a:pt x="5251983" y="1137965"/>
                  </a:lnTo>
                  <a:lnTo>
                    <a:pt x="5295646" y="1142999"/>
                  </a:lnTo>
                  <a:lnTo>
                    <a:pt x="7950073" y="1142999"/>
                  </a:lnTo>
                  <a:lnTo>
                    <a:pt x="7993735" y="1137965"/>
                  </a:lnTo>
                  <a:lnTo>
                    <a:pt x="8033826" y="1123627"/>
                  </a:lnTo>
                  <a:lnTo>
                    <a:pt x="8069198" y="1101132"/>
                  </a:lnTo>
                  <a:lnTo>
                    <a:pt x="8098705" y="1071625"/>
                  </a:lnTo>
                  <a:lnTo>
                    <a:pt x="8121200" y="1036253"/>
                  </a:lnTo>
                  <a:lnTo>
                    <a:pt x="8135538" y="996162"/>
                  </a:lnTo>
                  <a:lnTo>
                    <a:pt x="8140573" y="952499"/>
                  </a:lnTo>
                  <a:close/>
                </a:path>
                <a:path w="8140700" h="1143000">
                  <a:moveTo>
                    <a:pt x="7950073" y="0"/>
                  </a:moveTo>
                  <a:lnTo>
                    <a:pt x="5295646" y="0"/>
                  </a:lnTo>
                  <a:lnTo>
                    <a:pt x="5251983" y="5027"/>
                  </a:lnTo>
                  <a:lnTo>
                    <a:pt x="5211892" y="19349"/>
                  </a:lnTo>
                  <a:lnTo>
                    <a:pt x="5176520" y="41827"/>
                  </a:lnTo>
                  <a:lnTo>
                    <a:pt x="5147013" y="71321"/>
                  </a:lnTo>
                  <a:lnTo>
                    <a:pt x="5124518" y="106691"/>
                  </a:lnTo>
                  <a:lnTo>
                    <a:pt x="5110180" y="146797"/>
                  </a:lnTo>
                  <a:lnTo>
                    <a:pt x="5105146" y="190500"/>
                  </a:lnTo>
                  <a:lnTo>
                    <a:pt x="5105146" y="666749"/>
                  </a:lnTo>
                  <a:lnTo>
                    <a:pt x="0" y="955928"/>
                  </a:lnTo>
                  <a:lnTo>
                    <a:pt x="8140573" y="952499"/>
                  </a:lnTo>
                  <a:lnTo>
                    <a:pt x="8140573" y="190500"/>
                  </a:lnTo>
                  <a:lnTo>
                    <a:pt x="8135538" y="146797"/>
                  </a:lnTo>
                  <a:lnTo>
                    <a:pt x="8121200" y="106691"/>
                  </a:lnTo>
                  <a:lnTo>
                    <a:pt x="8098705" y="71321"/>
                  </a:lnTo>
                  <a:lnTo>
                    <a:pt x="8069198" y="41827"/>
                  </a:lnTo>
                  <a:lnTo>
                    <a:pt x="8033826" y="19349"/>
                  </a:lnTo>
                  <a:lnTo>
                    <a:pt x="7993735" y="5027"/>
                  </a:lnTo>
                  <a:lnTo>
                    <a:pt x="7950073" y="0"/>
                  </a:lnTo>
                  <a:close/>
                </a:path>
              </a:pathLst>
            </a:custGeom>
            <a:solidFill>
              <a:srgbClr val="BCE6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54400" y="3233419"/>
              <a:ext cx="8140700" cy="1143000"/>
            </a:xfrm>
            <a:custGeom>
              <a:avLst/>
              <a:gdLst/>
              <a:ahLst/>
              <a:cxnLst/>
              <a:rect l="l" t="t" r="r" b="b"/>
              <a:pathLst>
                <a:path w="8140700" h="1143000">
                  <a:moveTo>
                    <a:pt x="5105146" y="190500"/>
                  </a:moveTo>
                  <a:lnTo>
                    <a:pt x="5110180" y="146797"/>
                  </a:lnTo>
                  <a:lnTo>
                    <a:pt x="5124518" y="106691"/>
                  </a:lnTo>
                  <a:lnTo>
                    <a:pt x="5147013" y="71321"/>
                  </a:lnTo>
                  <a:lnTo>
                    <a:pt x="5176520" y="41827"/>
                  </a:lnTo>
                  <a:lnTo>
                    <a:pt x="5211892" y="19349"/>
                  </a:lnTo>
                  <a:lnTo>
                    <a:pt x="5251983" y="5027"/>
                  </a:lnTo>
                  <a:lnTo>
                    <a:pt x="5295646" y="0"/>
                  </a:lnTo>
                  <a:lnTo>
                    <a:pt x="5610986" y="0"/>
                  </a:lnTo>
                  <a:lnTo>
                    <a:pt x="6369939" y="0"/>
                  </a:lnTo>
                  <a:lnTo>
                    <a:pt x="7950073" y="0"/>
                  </a:lnTo>
                  <a:lnTo>
                    <a:pt x="7993735" y="5027"/>
                  </a:lnTo>
                  <a:lnTo>
                    <a:pt x="8033826" y="19349"/>
                  </a:lnTo>
                  <a:lnTo>
                    <a:pt x="8069198" y="41827"/>
                  </a:lnTo>
                  <a:lnTo>
                    <a:pt x="8098705" y="71321"/>
                  </a:lnTo>
                  <a:lnTo>
                    <a:pt x="8121200" y="106691"/>
                  </a:lnTo>
                  <a:lnTo>
                    <a:pt x="8135538" y="146797"/>
                  </a:lnTo>
                  <a:lnTo>
                    <a:pt x="8140573" y="190500"/>
                  </a:lnTo>
                  <a:lnTo>
                    <a:pt x="8140573" y="666749"/>
                  </a:lnTo>
                  <a:lnTo>
                    <a:pt x="8140573" y="952499"/>
                  </a:lnTo>
                  <a:lnTo>
                    <a:pt x="8135538" y="996162"/>
                  </a:lnTo>
                  <a:lnTo>
                    <a:pt x="8121200" y="1036253"/>
                  </a:lnTo>
                  <a:lnTo>
                    <a:pt x="8098705" y="1071625"/>
                  </a:lnTo>
                  <a:lnTo>
                    <a:pt x="8069198" y="1101132"/>
                  </a:lnTo>
                  <a:lnTo>
                    <a:pt x="8033826" y="1123627"/>
                  </a:lnTo>
                  <a:lnTo>
                    <a:pt x="7993735" y="1137965"/>
                  </a:lnTo>
                  <a:lnTo>
                    <a:pt x="7950073" y="1142999"/>
                  </a:lnTo>
                  <a:lnTo>
                    <a:pt x="6369939" y="1142999"/>
                  </a:lnTo>
                  <a:lnTo>
                    <a:pt x="5610986" y="1142999"/>
                  </a:lnTo>
                  <a:lnTo>
                    <a:pt x="5295646" y="1142999"/>
                  </a:lnTo>
                  <a:lnTo>
                    <a:pt x="5251983" y="1137965"/>
                  </a:lnTo>
                  <a:lnTo>
                    <a:pt x="5211892" y="1123627"/>
                  </a:lnTo>
                  <a:lnTo>
                    <a:pt x="5176520" y="1101132"/>
                  </a:lnTo>
                  <a:lnTo>
                    <a:pt x="5147013" y="1071625"/>
                  </a:lnTo>
                  <a:lnTo>
                    <a:pt x="5124518" y="1036253"/>
                  </a:lnTo>
                  <a:lnTo>
                    <a:pt x="5110180" y="996162"/>
                  </a:lnTo>
                  <a:lnTo>
                    <a:pt x="5105146" y="952499"/>
                  </a:lnTo>
                  <a:lnTo>
                    <a:pt x="0" y="955928"/>
                  </a:lnTo>
                  <a:lnTo>
                    <a:pt x="5105146" y="666749"/>
                  </a:lnTo>
                  <a:lnTo>
                    <a:pt x="5105146" y="190500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706357" y="3375405"/>
            <a:ext cx="27444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2540"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Usually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latest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stable </a:t>
            </a:r>
            <a:r>
              <a:rPr sz="1800" dirty="0">
                <a:latin typeface="Trebuchet MS"/>
                <a:cs typeface="Trebuchet MS"/>
              </a:rPr>
              <a:t>version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is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preferred,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not </a:t>
            </a:r>
            <a:r>
              <a:rPr sz="1800" spc="-20" dirty="0">
                <a:latin typeface="Trebuchet MS"/>
                <a:cs typeface="Trebuchet MS"/>
              </a:rPr>
              <a:t>necessarily,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latest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version.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2589352"/>
            <a:ext cx="8486775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0" spc="-40" dirty="0"/>
              <a:t>Installing</a:t>
            </a:r>
            <a:r>
              <a:rPr sz="6000" spc="-225" dirty="0"/>
              <a:t> </a:t>
            </a:r>
            <a:r>
              <a:rPr sz="6000" spc="-25" dirty="0"/>
              <a:t>Python</a:t>
            </a:r>
            <a:r>
              <a:rPr sz="6000" spc="-245" dirty="0"/>
              <a:t> </a:t>
            </a:r>
            <a:r>
              <a:rPr sz="6000" dirty="0"/>
              <a:t>&amp;</a:t>
            </a:r>
            <a:r>
              <a:rPr sz="6000" spc="-275" dirty="0"/>
              <a:t> </a:t>
            </a:r>
            <a:r>
              <a:rPr sz="6000" spc="-30" dirty="0"/>
              <a:t>Python </a:t>
            </a:r>
            <a:r>
              <a:rPr sz="6000" spc="-20" dirty="0"/>
              <a:t>IDEs</a:t>
            </a:r>
            <a:endParaRPr sz="6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Writing</a:t>
            </a:r>
            <a:r>
              <a:rPr spc="-185" dirty="0"/>
              <a:t> </a:t>
            </a:r>
            <a:r>
              <a:rPr spc="-10" dirty="0"/>
              <a:t>and</a:t>
            </a:r>
            <a:r>
              <a:rPr spc="-190" dirty="0"/>
              <a:t> </a:t>
            </a:r>
            <a:r>
              <a:rPr spc="-70" dirty="0"/>
              <a:t>executing</a:t>
            </a:r>
            <a:r>
              <a:rPr spc="-170" dirty="0"/>
              <a:t> </a:t>
            </a:r>
            <a:r>
              <a:rPr spc="-65" dirty="0"/>
              <a:t>python</a:t>
            </a:r>
            <a:r>
              <a:rPr spc="-165" dirty="0"/>
              <a:t> </a:t>
            </a:r>
            <a:r>
              <a:rPr spc="-10" dirty="0"/>
              <a:t>programs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479"/>
            <a:ext cx="9890125" cy="207518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Python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has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many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options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write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execute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program</a:t>
            </a:r>
            <a:endParaRPr sz="2400">
              <a:latin typeface="Trebuchet MS"/>
              <a:cs typeface="Trebuchet MS"/>
            </a:endParaRPr>
          </a:p>
          <a:p>
            <a:pPr marL="141605" marR="5080" indent="-129539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spc="-70" dirty="0">
                <a:latin typeface="Trebuchet MS"/>
                <a:cs typeface="Trebuchet MS"/>
              </a:rPr>
              <a:t>You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use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55" dirty="0">
                <a:latin typeface="Trebuchet MS"/>
                <a:cs typeface="Trebuchet MS"/>
              </a:rPr>
              <a:t>Text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Editors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Command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line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interfaces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Notebook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an IDE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Anaconda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distribution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has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all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required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software's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inbuilt.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We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just</a:t>
            </a:r>
            <a:endParaRPr sz="2400">
              <a:latin typeface="Trebuchet MS"/>
              <a:cs typeface="Trebuchet MS"/>
            </a:endParaRPr>
          </a:p>
          <a:p>
            <a:pPr marL="141605">
              <a:lnSpc>
                <a:spcPct val="100000"/>
              </a:lnSpc>
            </a:pPr>
            <a:r>
              <a:rPr sz="2400" dirty="0">
                <a:latin typeface="Trebuchet MS"/>
                <a:cs typeface="Trebuchet MS"/>
              </a:rPr>
              <a:t>need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download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install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it.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651192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Installing</a:t>
            </a:r>
            <a:r>
              <a:rPr spc="-180" dirty="0"/>
              <a:t> </a:t>
            </a:r>
            <a:r>
              <a:rPr spc="-55" dirty="0"/>
              <a:t>Python,</a:t>
            </a:r>
            <a:r>
              <a:rPr spc="-170" dirty="0"/>
              <a:t> </a:t>
            </a:r>
            <a:r>
              <a:rPr spc="-20" dirty="0"/>
              <a:t>Anaconda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37233"/>
            <a:ext cx="6791452" cy="2389116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41605" indent="-133350">
              <a:lnSpc>
                <a:spcPct val="100000"/>
              </a:lnSpc>
              <a:spcBef>
                <a:spcPts val="770"/>
              </a:spcBef>
              <a:buClr>
                <a:srgbClr val="4E67C7"/>
              </a:buClr>
              <a:buSzPct val="96428"/>
              <a:buFont typeface="Arial MT"/>
              <a:buChar char="•"/>
              <a:tabLst>
                <a:tab pos="141605" algn="l"/>
              </a:tabLst>
            </a:pPr>
            <a:r>
              <a:rPr sz="2800" dirty="0">
                <a:latin typeface="Trebuchet MS"/>
                <a:cs typeface="Trebuchet MS"/>
              </a:rPr>
              <a:t>Download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install</a:t>
            </a:r>
            <a:r>
              <a:rPr sz="2800" spc="-195" dirty="0">
                <a:latin typeface="Trebuchet MS"/>
                <a:cs typeface="Trebuchet MS"/>
              </a:rPr>
              <a:t> </a:t>
            </a:r>
            <a:r>
              <a:rPr sz="2800" spc="-10" dirty="0" smtClean="0">
                <a:latin typeface="Trebuchet MS"/>
                <a:cs typeface="Trebuchet MS"/>
              </a:rPr>
              <a:t>Anaconda</a:t>
            </a:r>
            <a:endParaRPr sz="2800" dirty="0">
              <a:latin typeface="Trebuchet MS"/>
              <a:cs typeface="Trebuchet MS"/>
            </a:endParaRPr>
          </a:p>
          <a:p>
            <a:pPr marL="141605" indent="-133350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SzPct val="96428"/>
              <a:buFont typeface="Arial MT"/>
              <a:buChar char="•"/>
              <a:tabLst>
                <a:tab pos="141605" algn="l"/>
              </a:tabLst>
            </a:pPr>
            <a:r>
              <a:rPr sz="2800" dirty="0">
                <a:latin typeface="Trebuchet MS"/>
                <a:cs typeface="Trebuchet MS"/>
              </a:rPr>
              <a:t>It</a:t>
            </a:r>
            <a:r>
              <a:rPr sz="2800" spc="-14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automatically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installs</a:t>
            </a:r>
            <a:endParaRPr sz="2800" dirty="0">
              <a:latin typeface="Trebuchet MS"/>
              <a:cs typeface="Trebuchet MS"/>
            </a:endParaRPr>
          </a:p>
          <a:p>
            <a:pPr marL="308610" lvl="1" indent="-128905">
              <a:lnSpc>
                <a:spcPct val="100000"/>
              </a:lnSpc>
              <a:spcBef>
                <a:spcPts val="590"/>
              </a:spcBef>
              <a:buClr>
                <a:srgbClr val="5ECCF3"/>
              </a:buClr>
              <a:buFont typeface="Arial MT"/>
              <a:buChar char="•"/>
              <a:tabLst>
                <a:tab pos="308610" algn="l"/>
              </a:tabLst>
            </a:pPr>
            <a:r>
              <a:rPr sz="2400" spc="-10" dirty="0">
                <a:latin typeface="Trebuchet MS"/>
                <a:cs typeface="Trebuchet MS"/>
              </a:rPr>
              <a:t>Ipython</a:t>
            </a:r>
            <a:endParaRPr sz="2400" dirty="0">
              <a:latin typeface="Trebuchet MS"/>
              <a:cs typeface="Trebuchet MS"/>
            </a:endParaRPr>
          </a:p>
          <a:p>
            <a:pPr marL="308610" lvl="1" indent="-128905">
              <a:lnSpc>
                <a:spcPct val="100000"/>
              </a:lnSpc>
              <a:spcBef>
                <a:spcPts val="580"/>
              </a:spcBef>
              <a:buClr>
                <a:srgbClr val="5ECCF3"/>
              </a:buClr>
              <a:buFont typeface="Arial MT"/>
              <a:buChar char="•"/>
              <a:tabLst>
                <a:tab pos="308610" algn="l"/>
              </a:tabLst>
            </a:pPr>
            <a:r>
              <a:rPr sz="2400" dirty="0">
                <a:latin typeface="Trebuchet MS"/>
                <a:cs typeface="Trebuchet MS"/>
              </a:rPr>
              <a:t>Jupyter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notebook</a:t>
            </a:r>
            <a:endParaRPr sz="2400" dirty="0">
              <a:latin typeface="Trebuchet MS"/>
              <a:cs typeface="Trebuchet MS"/>
            </a:endParaRPr>
          </a:p>
          <a:p>
            <a:pPr marL="308610" lvl="1" indent="-128905">
              <a:lnSpc>
                <a:spcPct val="100000"/>
              </a:lnSpc>
              <a:spcBef>
                <a:spcPts val="575"/>
              </a:spcBef>
              <a:buClr>
                <a:srgbClr val="5ECCF3"/>
              </a:buClr>
              <a:buFont typeface="Arial MT"/>
              <a:buChar char="•"/>
              <a:tabLst>
                <a:tab pos="308610" algn="l"/>
              </a:tabLst>
            </a:pPr>
            <a:r>
              <a:rPr sz="2400" dirty="0" err="1">
                <a:latin typeface="Trebuchet MS"/>
                <a:cs typeface="Trebuchet MS"/>
              </a:rPr>
              <a:t>Spyder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25" dirty="0" smtClean="0">
                <a:latin typeface="Trebuchet MS"/>
                <a:cs typeface="Trebuchet MS"/>
              </a:rPr>
              <a:t>IDE</a:t>
            </a:r>
            <a:r>
              <a:rPr lang="en-US" spc="-25" dirty="0" smtClean="0">
                <a:latin typeface="Trebuchet MS"/>
                <a:cs typeface="Trebuchet MS"/>
              </a:rPr>
              <a:t>(</a:t>
            </a:r>
            <a:r>
              <a:rPr lang="en-IN" b="1" dirty="0" smtClean="0"/>
              <a:t>Integrated Development Environment)</a:t>
            </a:r>
            <a:endParaRPr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Most</a:t>
            </a:r>
            <a:r>
              <a:rPr spc="-254" dirty="0"/>
              <a:t> </a:t>
            </a:r>
            <a:r>
              <a:rPr spc="-40" dirty="0"/>
              <a:t>Widely</a:t>
            </a:r>
            <a:r>
              <a:rPr spc="-235" dirty="0"/>
              <a:t> </a:t>
            </a:r>
            <a:r>
              <a:rPr spc="-25" dirty="0"/>
              <a:t>used</a:t>
            </a:r>
            <a:r>
              <a:rPr spc="-225" dirty="0"/>
              <a:t> </a:t>
            </a:r>
            <a:r>
              <a:rPr spc="-20" dirty="0"/>
              <a:t>IDEs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35478"/>
            <a:ext cx="7757159" cy="280987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41605" indent="-133350">
              <a:lnSpc>
                <a:spcPct val="100000"/>
              </a:lnSpc>
              <a:spcBef>
                <a:spcPts val="785"/>
              </a:spcBef>
              <a:buClr>
                <a:srgbClr val="4E67C7"/>
              </a:buClr>
              <a:buSzPct val="96428"/>
              <a:buFont typeface="Arial MT"/>
              <a:buChar char="•"/>
              <a:tabLst>
                <a:tab pos="141605" algn="l"/>
              </a:tabLst>
            </a:pPr>
            <a:r>
              <a:rPr sz="2800" dirty="0">
                <a:latin typeface="Trebuchet MS"/>
                <a:cs typeface="Trebuchet MS"/>
              </a:rPr>
              <a:t>Data</a:t>
            </a:r>
            <a:r>
              <a:rPr sz="2800" spc="-10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Science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Projects</a:t>
            </a:r>
            <a:endParaRPr sz="2800">
              <a:latin typeface="Trebuchet MS"/>
              <a:cs typeface="Trebuchet MS"/>
            </a:endParaRPr>
          </a:p>
          <a:p>
            <a:pPr marL="308610" lvl="1" indent="-128905">
              <a:lnSpc>
                <a:spcPct val="100000"/>
              </a:lnSpc>
              <a:spcBef>
                <a:spcPts val="590"/>
              </a:spcBef>
              <a:buClr>
                <a:srgbClr val="5ECCF3"/>
              </a:buClr>
              <a:buFont typeface="Arial MT"/>
              <a:buChar char="•"/>
              <a:tabLst>
                <a:tab pos="308610" algn="l"/>
              </a:tabLst>
            </a:pPr>
            <a:r>
              <a:rPr sz="2400" dirty="0">
                <a:latin typeface="Trebuchet MS"/>
                <a:cs typeface="Trebuchet MS"/>
              </a:rPr>
              <a:t>Python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Notebooks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-</a:t>
            </a:r>
            <a:r>
              <a:rPr sz="2400" dirty="0">
                <a:latin typeface="Trebuchet MS"/>
                <a:cs typeface="Trebuchet MS"/>
              </a:rPr>
              <a:t>Jupyter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notebook/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Colab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notebook</a:t>
            </a:r>
            <a:endParaRPr sz="2400">
              <a:latin typeface="Trebuchet MS"/>
              <a:cs typeface="Trebuchet MS"/>
            </a:endParaRPr>
          </a:p>
          <a:p>
            <a:pPr marL="308610" lvl="1" indent="-128905">
              <a:lnSpc>
                <a:spcPct val="100000"/>
              </a:lnSpc>
              <a:spcBef>
                <a:spcPts val="580"/>
              </a:spcBef>
              <a:buClr>
                <a:srgbClr val="5ECCF3"/>
              </a:buClr>
              <a:buFont typeface="Arial MT"/>
              <a:buChar char="•"/>
              <a:tabLst>
                <a:tab pos="308610" algn="l"/>
              </a:tabLst>
            </a:pPr>
            <a:r>
              <a:rPr sz="2400" spc="-10" dirty="0">
                <a:latin typeface="Trebuchet MS"/>
                <a:cs typeface="Trebuchet MS"/>
              </a:rPr>
              <a:t>Spyder</a:t>
            </a:r>
            <a:endParaRPr sz="2400">
              <a:latin typeface="Trebuchet MS"/>
              <a:cs typeface="Trebuchet MS"/>
            </a:endParaRPr>
          </a:p>
          <a:p>
            <a:pPr marL="141605" indent="-133350">
              <a:lnSpc>
                <a:spcPct val="100000"/>
              </a:lnSpc>
              <a:spcBef>
                <a:spcPts val="655"/>
              </a:spcBef>
              <a:buClr>
                <a:srgbClr val="4E67C7"/>
              </a:buClr>
              <a:buSzPct val="96428"/>
              <a:buFont typeface="Arial MT"/>
              <a:buChar char="•"/>
              <a:tabLst>
                <a:tab pos="141605" algn="l"/>
              </a:tabLst>
            </a:pPr>
            <a:r>
              <a:rPr sz="2800" dirty="0">
                <a:latin typeface="Trebuchet MS"/>
                <a:cs typeface="Trebuchet MS"/>
              </a:rPr>
              <a:t>Software</a:t>
            </a:r>
            <a:r>
              <a:rPr sz="2800" spc="-16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Development</a:t>
            </a:r>
            <a:r>
              <a:rPr sz="2800" spc="-17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Projects</a:t>
            </a:r>
            <a:endParaRPr sz="2800">
              <a:latin typeface="Trebuchet MS"/>
              <a:cs typeface="Trebuchet MS"/>
            </a:endParaRPr>
          </a:p>
          <a:p>
            <a:pPr marL="308610" lvl="1" indent="-128905">
              <a:lnSpc>
                <a:spcPct val="100000"/>
              </a:lnSpc>
              <a:spcBef>
                <a:spcPts val="595"/>
              </a:spcBef>
              <a:buClr>
                <a:srgbClr val="5ECCF3"/>
              </a:buClr>
              <a:buFont typeface="Arial MT"/>
              <a:buChar char="•"/>
              <a:tabLst>
                <a:tab pos="308610" algn="l"/>
              </a:tabLst>
            </a:pPr>
            <a:r>
              <a:rPr sz="2400" dirty="0">
                <a:latin typeface="Trebuchet MS"/>
                <a:cs typeface="Trebuchet MS"/>
              </a:rPr>
              <a:t>Visual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Studio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Code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(VS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Code)</a:t>
            </a:r>
            <a:endParaRPr sz="2400">
              <a:latin typeface="Trebuchet MS"/>
              <a:cs typeface="Trebuchet MS"/>
            </a:endParaRPr>
          </a:p>
          <a:p>
            <a:pPr marL="308610" lvl="1" indent="-128905">
              <a:lnSpc>
                <a:spcPct val="100000"/>
              </a:lnSpc>
              <a:spcBef>
                <a:spcPts val="575"/>
              </a:spcBef>
              <a:buClr>
                <a:srgbClr val="5ECCF3"/>
              </a:buClr>
              <a:buFont typeface="Arial MT"/>
              <a:buChar char="•"/>
              <a:tabLst>
                <a:tab pos="308610" algn="l"/>
              </a:tabLst>
            </a:pPr>
            <a:r>
              <a:rPr sz="2400" spc="-10" dirty="0">
                <a:latin typeface="Trebuchet MS"/>
                <a:cs typeface="Trebuchet MS"/>
              </a:rPr>
              <a:t>PyCharm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Jypyter</a:t>
            </a:r>
            <a:r>
              <a:rPr spc="-165" dirty="0"/>
              <a:t> </a:t>
            </a:r>
            <a:r>
              <a:rPr spc="-45" dirty="0"/>
              <a:t>Notebook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624025"/>
            <a:ext cx="916432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605" marR="5080" indent="-129539" algn="just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Anaconda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Navigator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&gt;&gt;&gt;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Select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Documents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Folder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&gt;&gt;&gt;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New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Folder </a:t>
            </a:r>
            <a:r>
              <a:rPr sz="2400" dirty="0">
                <a:latin typeface="Trebuchet MS"/>
                <a:cs typeface="Trebuchet MS"/>
              </a:rPr>
              <a:t>(name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it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python_notebooks)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&gt;&gt;&gt;New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Notebook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&gt;&gt;&gt;Select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Python3 </a:t>
            </a:r>
            <a:r>
              <a:rPr sz="2400" dirty="0">
                <a:latin typeface="Trebuchet MS"/>
                <a:cs typeface="Trebuchet MS"/>
              </a:rPr>
              <a:t>Kernel</a:t>
            </a:r>
            <a:r>
              <a:rPr sz="2400" spc="-1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&gt;&gt;Rename</a:t>
            </a:r>
            <a:r>
              <a:rPr sz="2400" spc="-13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notebook(Introduction)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Colab</a:t>
            </a:r>
            <a:r>
              <a:rPr spc="-235" dirty="0"/>
              <a:t> </a:t>
            </a:r>
            <a:r>
              <a:rPr spc="-55" dirty="0"/>
              <a:t>Notebook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624025"/>
            <a:ext cx="49307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Search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“Colab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notebook”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google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Working</a:t>
            </a:r>
            <a:r>
              <a:rPr spc="-204" dirty="0"/>
              <a:t> </a:t>
            </a:r>
            <a:r>
              <a:rPr spc="-20" dirty="0"/>
              <a:t>with</a:t>
            </a:r>
            <a:r>
              <a:rPr spc="-210" dirty="0"/>
              <a:t> </a:t>
            </a:r>
            <a:r>
              <a:rPr spc="-50" dirty="0"/>
              <a:t>notebooks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479"/>
            <a:ext cx="2258695" cy="90487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Add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text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cell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Add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code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cell</a:t>
            </a:r>
            <a:endParaRPr sz="24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837152" y="2467152"/>
            <a:ext cx="4569460" cy="3129280"/>
            <a:chOff x="4837152" y="2467152"/>
            <a:chExt cx="4569460" cy="31292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37152" y="2467152"/>
              <a:ext cx="4569000" cy="312915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96434" y="2626614"/>
              <a:ext cx="4072127" cy="263118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50717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Check</a:t>
            </a:r>
            <a:r>
              <a:rPr spc="-245" dirty="0"/>
              <a:t> </a:t>
            </a:r>
            <a:r>
              <a:rPr spc="-40" dirty="0"/>
              <a:t>Python</a:t>
            </a:r>
            <a:r>
              <a:rPr spc="-215" dirty="0"/>
              <a:t> </a:t>
            </a:r>
            <a:r>
              <a:rPr spc="-40" dirty="0"/>
              <a:t>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5048" y="1656588"/>
            <a:ext cx="1965325" cy="416559"/>
          </a:xfrm>
          <a:prstGeom prst="rect">
            <a:avLst/>
          </a:prstGeom>
          <a:solidFill>
            <a:srgbClr val="F7F7F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20"/>
              </a:lnSpc>
            </a:pPr>
            <a:r>
              <a:rPr sz="2800" dirty="0">
                <a:solidFill>
                  <a:srgbClr val="AE00DB"/>
                </a:solidFill>
                <a:latin typeface="Consolas"/>
                <a:cs typeface="Consolas"/>
              </a:rPr>
              <a:t>import</a:t>
            </a:r>
            <a:r>
              <a:rPr sz="2800" spc="-114" dirty="0">
                <a:solidFill>
                  <a:srgbClr val="AE00DB"/>
                </a:solidFill>
                <a:latin typeface="Consolas"/>
                <a:cs typeface="Consolas"/>
              </a:rPr>
              <a:t> </a:t>
            </a:r>
            <a:r>
              <a:rPr sz="2800" spc="-25" dirty="0">
                <a:latin typeface="Consolas"/>
                <a:cs typeface="Consolas"/>
              </a:rPr>
              <a:t>sys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5048" y="2168651"/>
            <a:ext cx="4504055" cy="416559"/>
          </a:xfrm>
          <a:prstGeom prst="rect">
            <a:avLst/>
          </a:prstGeom>
          <a:solidFill>
            <a:srgbClr val="F7F7F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20"/>
              </a:lnSpc>
            </a:pPr>
            <a:r>
              <a:rPr sz="2800" dirty="0">
                <a:solidFill>
                  <a:srgbClr val="795E25"/>
                </a:solidFill>
                <a:latin typeface="Consolas"/>
                <a:cs typeface="Consolas"/>
              </a:rPr>
              <a:t>print</a:t>
            </a:r>
            <a:r>
              <a:rPr sz="2800" dirty="0">
                <a:latin typeface="Consolas"/>
                <a:cs typeface="Consolas"/>
              </a:rPr>
              <a:t>(</a:t>
            </a:r>
            <a:r>
              <a:rPr sz="2800" dirty="0">
                <a:solidFill>
                  <a:srgbClr val="A21515"/>
                </a:solidFill>
                <a:latin typeface="Consolas"/>
                <a:cs typeface="Consolas"/>
              </a:rPr>
              <a:t>"Python</a:t>
            </a:r>
            <a:r>
              <a:rPr sz="2800" spc="-229" dirty="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A21515"/>
                </a:solidFill>
                <a:latin typeface="Consolas"/>
                <a:cs typeface="Consolas"/>
              </a:rPr>
              <a:t>version"</a:t>
            </a:r>
            <a:r>
              <a:rPr sz="2800" spc="-10" dirty="0">
                <a:latin typeface="Consolas"/>
                <a:cs typeface="Consolas"/>
              </a:rPr>
              <a:t>)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048" y="2680716"/>
            <a:ext cx="3527425" cy="416559"/>
          </a:xfrm>
          <a:prstGeom prst="rect">
            <a:avLst/>
          </a:prstGeom>
          <a:solidFill>
            <a:srgbClr val="F7F7F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20"/>
              </a:lnSpc>
            </a:pPr>
            <a:r>
              <a:rPr sz="2800" spc="-10" dirty="0">
                <a:solidFill>
                  <a:srgbClr val="795E25"/>
                </a:solidFill>
                <a:latin typeface="Consolas"/>
                <a:cs typeface="Consolas"/>
              </a:rPr>
              <a:t>print</a:t>
            </a:r>
            <a:r>
              <a:rPr sz="2800" spc="-10" dirty="0">
                <a:latin typeface="Consolas"/>
                <a:cs typeface="Consolas"/>
              </a:rPr>
              <a:t>(sys.version)</a:t>
            </a:r>
            <a:endParaRPr sz="2800">
              <a:latin typeface="Consolas"/>
              <a:cs typeface="Consola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09600" y="3227070"/>
            <a:ext cx="10991850" cy="2252345"/>
            <a:chOff x="609600" y="3227070"/>
            <a:chExt cx="10991850" cy="225234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600" y="3428936"/>
              <a:ext cx="6645275" cy="205001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904609" y="3233420"/>
              <a:ext cx="4690745" cy="1889125"/>
            </a:xfrm>
            <a:custGeom>
              <a:avLst/>
              <a:gdLst/>
              <a:ahLst/>
              <a:cxnLst/>
              <a:rect l="l" t="t" r="r" b="b"/>
              <a:pathLst>
                <a:path w="4690745" h="1889125">
                  <a:moveTo>
                    <a:pt x="2919730" y="1142999"/>
                  </a:moveTo>
                  <a:lnTo>
                    <a:pt x="2160778" y="1142999"/>
                  </a:lnTo>
                  <a:lnTo>
                    <a:pt x="0" y="1889124"/>
                  </a:lnTo>
                  <a:lnTo>
                    <a:pt x="2919730" y="1142999"/>
                  </a:lnTo>
                  <a:close/>
                </a:path>
                <a:path w="4690745" h="1889125">
                  <a:moveTo>
                    <a:pt x="4499864" y="0"/>
                  </a:moveTo>
                  <a:lnTo>
                    <a:pt x="1845437" y="0"/>
                  </a:lnTo>
                  <a:lnTo>
                    <a:pt x="1801774" y="5027"/>
                  </a:lnTo>
                  <a:lnTo>
                    <a:pt x="1761683" y="19349"/>
                  </a:lnTo>
                  <a:lnTo>
                    <a:pt x="1726311" y="41827"/>
                  </a:lnTo>
                  <a:lnTo>
                    <a:pt x="1696804" y="71321"/>
                  </a:lnTo>
                  <a:lnTo>
                    <a:pt x="1674309" y="106691"/>
                  </a:lnTo>
                  <a:lnTo>
                    <a:pt x="1659971" y="146797"/>
                  </a:lnTo>
                  <a:lnTo>
                    <a:pt x="1654937" y="190500"/>
                  </a:lnTo>
                  <a:lnTo>
                    <a:pt x="1654937" y="952499"/>
                  </a:lnTo>
                  <a:lnTo>
                    <a:pt x="1659971" y="996162"/>
                  </a:lnTo>
                  <a:lnTo>
                    <a:pt x="1674309" y="1036253"/>
                  </a:lnTo>
                  <a:lnTo>
                    <a:pt x="1696804" y="1071625"/>
                  </a:lnTo>
                  <a:lnTo>
                    <a:pt x="1726311" y="1101132"/>
                  </a:lnTo>
                  <a:lnTo>
                    <a:pt x="1761683" y="1123627"/>
                  </a:lnTo>
                  <a:lnTo>
                    <a:pt x="1801774" y="1137965"/>
                  </a:lnTo>
                  <a:lnTo>
                    <a:pt x="1845437" y="1142999"/>
                  </a:lnTo>
                  <a:lnTo>
                    <a:pt x="4499864" y="1142999"/>
                  </a:lnTo>
                  <a:lnTo>
                    <a:pt x="4543526" y="1137965"/>
                  </a:lnTo>
                  <a:lnTo>
                    <a:pt x="4583617" y="1123627"/>
                  </a:lnTo>
                  <a:lnTo>
                    <a:pt x="4618989" y="1101132"/>
                  </a:lnTo>
                  <a:lnTo>
                    <a:pt x="4648496" y="1071625"/>
                  </a:lnTo>
                  <a:lnTo>
                    <a:pt x="4670991" y="1036253"/>
                  </a:lnTo>
                  <a:lnTo>
                    <a:pt x="4685329" y="996162"/>
                  </a:lnTo>
                  <a:lnTo>
                    <a:pt x="4690364" y="952499"/>
                  </a:lnTo>
                  <a:lnTo>
                    <a:pt x="4690364" y="190500"/>
                  </a:lnTo>
                  <a:lnTo>
                    <a:pt x="4685329" y="146797"/>
                  </a:lnTo>
                  <a:lnTo>
                    <a:pt x="4670991" y="106691"/>
                  </a:lnTo>
                  <a:lnTo>
                    <a:pt x="4648496" y="71321"/>
                  </a:lnTo>
                  <a:lnTo>
                    <a:pt x="4618989" y="41827"/>
                  </a:lnTo>
                  <a:lnTo>
                    <a:pt x="4583617" y="19349"/>
                  </a:lnTo>
                  <a:lnTo>
                    <a:pt x="4543526" y="5027"/>
                  </a:lnTo>
                  <a:lnTo>
                    <a:pt x="4499864" y="0"/>
                  </a:lnTo>
                  <a:close/>
                </a:path>
              </a:pathLst>
            </a:custGeom>
            <a:solidFill>
              <a:srgbClr val="BCE6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04609" y="3233420"/>
              <a:ext cx="4690745" cy="1889125"/>
            </a:xfrm>
            <a:custGeom>
              <a:avLst/>
              <a:gdLst/>
              <a:ahLst/>
              <a:cxnLst/>
              <a:rect l="l" t="t" r="r" b="b"/>
              <a:pathLst>
                <a:path w="4690745" h="1889125">
                  <a:moveTo>
                    <a:pt x="1654937" y="190500"/>
                  </a:moveTo>
                  <a:lnTo>
                    <a:pt x="1659971" y="146797"/>
                  </a:lnTo>
                  <a:lnTo>
                    <a:pt x="1674309" y="106691"/>
                  </a:lnTo>
                  <a:lnTo>
                    <a:pt x="1696804" y="71321"/>
                  </a:lnTo>
                  <a:lnTo>
                    <a:pt x="1726311" y="41827"/>
                  </a:lnTo>
                  <a:lnTo>
                    <a:pt x="1761683" y="19349"/>
                  </a:lnTo>
                  <a:lnTo>
                    <a:pt x="1801774" y="5027"/>
                  </a:lnTo>
                  <a:lnTo>
                    <a:pt x="1845437" y="0"/>
                  </a:lnTo>
                  <a:lnTo>
                    <a:pt x="2160778" y="0"/>
                  </a:lnTo>
                  <a:lnTo>
                    <a:pt x="2919730" y="0"/>
                  </a:lnTo>
                  <a:lnTo>
                    <a:pt x="4499864" y="0"/>
                  </a:lnTo>
                  <a:lnTo>
                    <a:pt x="4543526" y="5027"/>
                  </a:lnTo>
                  <a:lnTo>
                    <a:pt x="4583617" y="19349"/>
                  </a:lnTo>
                  <a:lnTo>
                    <a:pt x="4618989" y="41827"/>
                  </a:lnTo>
                  <a:lnTo>
                    <a:pt x="4648496" y="71321"/>
                  </a:lnTo>
                  <a:lnTo>
                    <a:pt x="4670991" y="106691"/>
                  </a:lnTo>
                  <a:lnTo>
                    <a:pt x="4685329" y="146797"/>
                  </a:lnTo>
                  <a:lnTo>
                    <a:pt x="4690364" y="190500"/>
                  </a:lnTo>
                  <a:lnTo>
                    <a:pt x="4690364" y="666749"/>
                  </a:lnTo>
                  <a:lnTo>
                    <a:pt x="4690364" y="952499"/>
                  </a:lnTo>
                  <a:lnTo>
                    <a:pt x="4685329" y="996162"/>
                  </a:lnTo>
                  <a:lnTo>
                    <a:pt x="4670991" y="1036253"/>
                  </a:lnTo>
                  <a:lnTo>
                    <a:pt x="4648496" y="1071625"/>
                  </a:lnTo>
                  <a:lnTo>
                    <a:pt x="4618989" y="1101132"/>
                  </a:lnTo>
                  <a:lnTo>
                    <a:pt x="4583617" y="1123627"/>
                  </a:lnTo>
                  <a:lnTo>
                    <a:pt x="4543526" y="1137965"/>
                  </a:lnTo>
                  <a:lnTo>
                    <a:pt x="4499864" y="1142999"/>
                  </a:lnTo>
                  <a:lnTo>
                    <a:pt x="2919730" y="1142999"/>
                  </a:lnTo>
                  <a:lnTo>
                    <a:pt x="0" y="1889124"/>
                  </a:lnTo>
                  <a:lnTo>
                    <a:pt x="2160778" y="1142999"/>
                  </a:lnTo>
                  <a:lnTo>
                    <a:pt x="1845437" y="1142999"/>
                  </a:lnTo>
                  <a:lnTo>
                    <a:pt x="1801774" y="1137965"/>
                  </a:lnTo>
                  <a:lnTo>
                    <a:pt x="1761683" y="1123627"/>
                  </a:lnTo>
                  <a:lnTo>
                    <a:pt x="1726311" y="1101132"/>
                  </a:lnTo>
                  <a:lnTo>
                    <a:pt x="1696804" y="1071625"/>
                  </a:lnTo>
                  <a:lnTo>
                    <a:pt x="1674309" y="1036253"/>
                  </a:lnTo>
                  <a:lnTo>
                    <a:pt x="1659971" y="996162"/>
                  </a:lnTo>
                  <a:lnTo>
                    <a:pt x="1654937" y="952499"/>
                  </a:lnTo>
                  <a:lnTo>
                    <a:pt x="1654937" y="666749"/>
                  </a:lnTo>
                  <a:lnTo>
                    <a:pt x="1654937" y="190500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909050" y="3512566"/>
            <a:ext cx="23361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5194" marR="5080" indent="-91313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Anything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above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3.10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is </a:t>
            </a:r>
            <a:r>
              <a:rPr sz="1800" spc="-20" dirty="0">
                <a:latin typeface="Trebuchet MS"/>
                <a:cs typeface="Trebuchet MS"/>
              </a:rPr>
              <a:t>good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Before</a:t>
            </a:r>
            <a:r>
              <a:rPr spc="-195" dirty="0"/>
              <a:t> </a:t>
            </a:r>
            <a:r>
              <a:rPr spc="-35" dirty="0"/>
              <a:t>you</a:t>
            </a:r>
            <a:r>
              <a:rPr spc="-210" dirty="0"/>
              <a:t> </a:t>
            </a:r>
            <a:r>
              <a:rPr spc="-20" dirty="0"/>
              <a:t>code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1219" y="1537233"/>
            <a:ext cx="9197340" cy="235077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4E67C7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Trebuchet MS"/>
                <a:cs typeface="Trebuchet MS"/>
              </a:rPr>
              <a:t>Python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is</a:t>
            </a:r>
            <a:r>
              <a:rPr sz="2800" spc="-3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case</a:t>
            </a:r>
            <a:r>
              <a:rPr sz="2800" spc="-35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sensitive</a:t>
            </a:r>
            <a:endParaRPr sz="2800" dirty="0">
              <a:latin typeface="Trebuchet MS"/>
              <a:cs typeface="Trebuchet MS"/>
            </a:endParaRPr>
          </a:p>
          <a:p>
            <a:pPr marL="355600" marR="5080" indent="-34353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Trebuchet MS"/>
                <a:cs typeface="Trebuchet MS"/>
              </a:rPr>
              <a:t>Be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careful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while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using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the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25" dirty="0">
                <a:latin typeface="Trebuchet MS"/>
                <a:cs typeface="Trebuchet MS"/>
              </a:rPr>
              <a:t>Variable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names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dirty="0">
                <a:latin typeface="Trebuchet MS"/>
                <a:cs typeface="Trebuchet MS"/>
              </a:rPr>
              <a:t>and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0" dirty="0">
                <a:latin typeface="Trebuchet MS"/>
                <a:cs typeface="Trebuchet MS"/>
              </a:rPr>
              <a:t>Function names</a:t>
            </a:r>
            <a:endParaRPr sz="2800" dirty="0">
              <a:latin typeface="Trebuchet MS"/>
              <a:cs typeface="Trebuchet MS"/>
            </a:endParaRPr>
          </a:p>
          <a:p>
            <a:pPr marL="652780" lvl="1" indent="-342900">
              <a:lnSpc>
                <a:spcPct val="100000"/>
              </a:lnSpc>
              <a:spcBef>
                <a:spcPts val="545"/>
              </a:spcBef>
              <a:buClr>
                <a:srgbClr val="5ECCF3"/>
              </a:buClr>
              <a:buFont typeface="Arial MT"/>
              <a:buChar char="•"/>
              <a:tabLst>
                <a:tab pos="652780" algn="l"/>
              </a:tabLst>
            </a:pPr>
            <a:r>
              <a:rPr lang="en-US" sz="2400" spc="-20" dirty="0" err="1" smtClean="0">
                <a:solidFill>
                  <a:srgbClr val="00AFEF"/>
                </a:solidFill>
                <a:latin typeface="Consolas"/>
                <a:cs typeface="Consolas"/>
              </a:rPr>
              <a:t>Mach</a:t>
            </a:r>
            <a:r>
              <a:rPr sz="2400" spc="-20" dirty="0" err="1" smtClean="0">
                <a:solidFill>
                  <a:srgbClr val="00AFEF"/>
                </a:solidFill>
                <a:latin typeface="Consolas"/>
                <a:cs typeface="Consolas"/>
              </a:rPr>
              <a:t>_</a:t>
            </a:r>
            <a:r>
              <a:rPr lang="en-US" sz="2400" spc="-20" dirty="0" err="1" smtClean="0">
                <a:solidFill>
                  <a:srgbClr val="00AFEF"/>
                </a:solidFill>
                <a:latin typeface="Consolas"/>
                <a:cs typeface="Consolas"/>
              </a:rPr>
              <a:t>Number</a:t>
            </a:r>
            <a:r>
              <a:rPr sz="2400" spc="-540" dirty="0" smtClean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not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same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as </a:t>
            </a:r>
            <a:r>
              <a:rPr lang="en-US" sz="2400" spc="-20" dirty="0" err="1" smtClean="0">
                <a:solidFill>
                  <a:srgbClr val="00AFEF"/>
                </a:solidFill>
                <a:latin typeface="Consolas"/>
                <a:cs typeface="Consolas"/>
              </a:rPr>
              <a:t>Mach_number</a:t>
            </a:r>
            <a:r>
              <a:rPr lang="en-US" sz="2400" spc="-540" dirty="0" smtClean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</a:p>
          <a:p>
            <a:pPr marL="652780" lvl="1" indent="-342900">
              <a:lnSpc>
                <a:spcPct val="100000"/>
              </a:lnSpc>
              <a:spcBef>
                <a:spcPts val="545"/>
              </a:spcBef>
              <a:buClr>
                <a:srgbClr val="5ECCF3"/>
              </a:buClr>
              <a:buFont typeface="Arial MT"/>
              <a:buChar char="•"/>
              <a:tabLst>
                <a:tab pos="652780" algn="l"/>
              </a:tabLst>
            </a:pPr>
            <a:r>
              <a:rPr sz="2400" spc="-20" dirty="0" smtClean="0">
                <a:solidFill>
                  <a:srgbClr val="00AFEF"/>
                </a:solidFill>
                <a:latin typeface="Consolas"/>
                <a:cs typeface="Consolas"/>
              </a:rPr>
              <a:t>Print</a:t>
            </a:r>
            <a:r>
              <a:rPr sz="2400" spc="-20" dirty="0">
                <a:solidFill>
                  <a:srgbClr val="00AFEF"/>
                </a:solidFill>
                <a:latin typeface="Consolas"/>
                <a:cs typeface="Consolas"/>
              </a:rPr>
              <a:t>()</a:t>
            </a:r>
            <a:r>
              <a:rPr sz="2400" spc="-565" dirty="0">
                <a:solidFill>
                  <a:srgbClr val="00AFEF"/>
                </a:solidFill>
                <a:latin typeface="Consolas"/>
                <a:cs typeface="Consola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not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same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as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00AFEF"/>
                </a:solidFill>
                <a:latin typeface="Consolas"/>
                <a:cs typeface="Consolas"/>
              </a:rPr>
              <a:t>print()</a:t>
            </a:r>
            <a:endParaRPr sz="2400" dirty="0">
              <a:latin typeface="Consolas"/>
              <a:cs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3504438"/>
            <a:ext cx="88118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0" dirty="0"/>
              <a:t>Basic</a:t>
            </a:r>
            <a:r>
              <a:rPr sz="6000" spc="-270" dirty="0"/>
              <a:t> </a:t>
            </a:r>
            <a:r>
              <a:rPr sz="6000" spc="-65" dirty="0"/>
              <a:t>Commands</a:t>
            </a:r>
            <a:r>
              <a:rPr sz="6000" spc="-245" dirty="0"/>
              <a:t> </a:t>
            </a:r>
            <a:r>
              <a:rPr sz="6000" dirty="0"/>
              <a:t>in</a:t>
            </a:r>
            <a:r>
              <a:rPr sz="6000" spc="-290" dirty="0"/>
              <a:t> </a:t>
            </a:r>
            <a:r>
              <a:rPr sz="6000" spc="-10" dirty="0"/>
              <a:t>Python</a:t>
            </a:r>
            <a:endParaRPr sz="6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Basic</a:t>
            </a:r>
            <a:r>
              <a:rPr spc="-245" dirty="0"/>
              <a:t> </a:t>
            </a:r>
            <a:r>
              <a:rPr spc="-45" dirty="0"/>
              <a:t>Commands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569563"/>
            <a:ext cx="2649444" cy="208803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00200"/>
            <a:ext cx="1676400" cy="210901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40" y="4100477"/>
            <a:ext cx="2598079" cy="257273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4042" y="4114617"/>
            <a:ext cx="2209800" cy="224311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26375" y="4114617"/>
            <a:ext cx="4038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Anything inside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quotes ' '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 quotes " "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0" y="-184666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1616534"/>
            <a:ext cx="403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print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 only last line displays.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print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all outputs display.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58540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What</a:t>
            </a:r>
            <a:r>
              <a:rPr spc="-235" dirty="0"/>
              <a:t> </a:t>
            </a:r>
            <a:r>
              <a:rPr dirty="0"/>
              <a:t>an</a:t>
            </a:r>
            <a:r>
              <a:rPr spc="-225" dirty="0"/>
              <a:t> </a:t>
            </a:r>
            <a:r>
              <a:rPr spc="-40" dirty="0"/>
              <a:t>error</a:t>
            </a:r>
            <a:r>
              <a:rPr spc="-210" dirty="0"/>
              <a:t> </a:t>
            </a:r>
            <a:r>
              <a:rPr spc="-35" dirty="0"/>
              <a:t>looks</a:t>
            </a:r>
            <a:r>
              <a:rPr spc="-240" dirty="0"/>
              <a:t> </a:t>
            </a:r>
            <a:r>
              <a:rPr spc="-10" dirty="0"/>
              <a:t>like?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20026" y="1654048"/>
            <a:ext cx="9956165" cy="3916679"/>
            <a:chOff x="820026" y="1654048"/>
            <a:chExt cx="9956165" cy="391667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0026" y="1654048"/>
              <a:ext cx="9571482" cy="247673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75603" y="4095115"/>
              <a:ext cx="4794250" cy="1469390"/>
            </a:xfrm>
            <a:custGeom>
              <a:avLst/>
              <a:gdLst/>
              <a:ahLst/>
              <a:cxnLst/>
              <a:rect l="l" t="t" r="r" b="b"/>
              <a:pathLst>
                <a:path w="4794250" h="1469389">
                  <a:moveTo>
                    <a:pt x="0" y="0"/>
                  </a:moveTo>
                  <a:lnTo>
                    <a:pt x="1758569" y="802259"/>
                  </a:lnTo>
                  <a:lnTo>
                    <a:pt x="1758569" y="1278509"/>
                  </a:lnTo>
                  <a:lnTo>
                    <a:pt x="1763603" y="1322211"/>
                  </a:lnTo>
                  <a:lnTo>
                    <a:pt x="1777941" y="1362317"/>
                  </a:lnTo>
                  <a:lnTo>
                    <a:pt x="1800436" y="1397687"/>
                  </a:lnTo>
                  <a:lnTo>
                    <a:pt x="1829943" y="1427181"/>
                  </a:lnTo>
                  <a:lnTo>
                    <a:pt x="1865315" y="1449659"/>
                  </a:lnTo>
                  <a:lnTo>
                    <a:pt x="1905406" y="1463981"/>
                  </a:lnTo>
                  <a:lnTo>
                    <a:pt x="1949069" y="1469009"/>
                  </a:lnTo>
                  <a:lnTo>
                    <a:pt x="4603496" y="1469009"/>
                  </a:lnTo>
                  <a:lnTo>
                    <a:pt x="4647158" y="1463981"/>
                  </a:lnTo>
                  <a:lnTo>
                    <a:pt x="4687249" y="1449659"/>
                  </a:lnTo>
                  <a:lnTo>
                    <a:pt x="4722621" y="1427181"/>
                  </a:lnTo>
                  <a:lnTo>
                    <a:pt x="4752128" y="1397687"/>
                  </a:lnTo>
                  <a:lnTo>
                    <a:pt x="4774623" y="1362317"/>
                  </a:lnTo>
                  <a:lnTo>
                    <a:pt x="4788961" y="1322211"/>
                  </a:lnTo>
                  <a:lnTo>
                    <a:pt x="4793996" y="1278509"/>
                  </a:lnTo>
                  <a:lnTo>
                    <a:pt x="4793996" y="516509"/>
                  </a:lnTo>
                  <a:lnTo>
                    <a:pt x="1758569" y="516509"/>
                  </a:lnTo>
                  <a:lnTo>
                    <a:pt x="0" y="0"/>
                  </a:lnTo>
                  <a:close/>
                </a:path>
                <a:path w="4794250" h="1469389">
                  <a:moveTo>
                    <a:pt x="4603496" y="326009"/>
                  </a:moveTo>
                  <a:lnTo>
                    <a:pt x="1949069" y="326009"/>
                  </a:lnTo>
                  <a:lnTo>
                    <a:pt x="1905406" y="331043"/>
                  </a:lnTo>
                  <a:lnTo>
                    <a:pt x="1865315" y="345381"/>
                  </a:lnTo>
                  <a:lnTo>
                    <a:pt x="1829943" y="367876"/>
                  </a:lnTo>
                  <a:lnTo>
                    <a:pt x="1800436" y="397383"/>
                  </a:lnTo>
                  <a:lnTo>
                    <a:pt x="1777941" y="432755"/>
                  </a:lnTo>
                  <a:lnTo>
                    <a:pt x="1763603" y="472846"/>
                  </a:lnTo>
                  <a:lnTo>
                    <a:pt x="1758569" y="516509"/>
                  </a:lnTo>
                  <a:lnTo>
                    <a:pt x="4793996" y="516509"/>
                  </a:lnTo>
                  <a:lnTo>
                    <a:pt x="4788961" y="472846"/>
                  </a:lnTo>
                  <a:lnTo>
                    <a:pt x="4774623" y="432755"/>
                  </a:lnTo>
                  <a:lnTo>
                    <a:pt x="4752128" y="397383"/>
                  </a:lnTo>
                  <a:lnTo>
                    <a:pt x="4722621" y="367876"/>
                  </a:lnTo>
                  <a:lnTo>
                    <a:pt x="4687249" y="345381"/>
                  </a:lnTo>
                  <a:lnTo>
                    <a:pt x="4647158" y="331043"/>
                  </a:lnTo>
                  <a:lnTo>
                    <a:pt x="4603496" y="326009"/>
                  </a:lnTo>
                  <a:close/>
                </a:path>
              </a:pathLst>
            </a:custGeom>
            <a:solidFill>
              <a:srgbClr val="BCE6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75603" y="4095115"/>
              <a:ext cx="4794250" cy="1469390"/>
            </a:xfrm>
            <a:custGeom>
              <a:avLst/>
              <a:gdLst/>
              <a:ahLst/>
              <a:cxnLst/>
              <a:rect l="l" t="t" r="r" b="b"/>
              <a:pathLst>
                <a:path w="4794250" h="1469389">
                  <a:moveTo>
                    <a:pt x="1758569" y="516509"/>
                  </a:moveTo>
                  <a:lnTo>
                    <a:pt x="1763603" y="472846"/>
                  </a:lnTo>
                  <a:lnTo>
                    <a:pt x="1777941" y="432755"/>
                  </a:lnTo>
                  <a:lnTo>
                    <a:pt x="1800436" y="397383"/>
                  </a:lnTo>
                  <a:lnTo>
                    <a:pt x="1829943" y="367876"/>
                  </a:lnTo>
                  <a:lnTo>
                    <a:pt x="1865315" y="345381"/>
                  </a:lnTo>
                  <a:lnTo>
                    <a:pt x="1905406" y="331043"/>
                  </a:lnTo>
                  <a:lnTo>
                    <a:pt x="1949069" y="326009"/>
                  </a:lnTo>
                  <a:lnTo>
                    <a:pt x="2264410" y="326009"/>
                  </a:lnTo>
                  <a:lnTo>
                    <a:pt x="3023362" y="326009"/>
                  </a:lnTo>
                  <a:lnTo>
                    <a:pt x="4603496" y="326009"/>
                  </a:lnTo>
                  <a:lnTo>
                    <a:pt x="4647158" y="331043"/>
                  </a:lnTo>
                  <a:lnTo>
                    <a:pt x="4687249" y="345381"/>
                  </a:lnTo>
                  <a:lnTo>
                    <a:pt x="4722621" y="367876"/>
                  </a:lnTo>
                  <a:lnTo>
                    <a:pt x="4752128" y="397383"/>
                  </a:lnTo>
                  <a:lnTo>
                    <a:pt x="4774623" y="432755"/>
                  </a:lnTo>
                  <a:lnTo>
                    <a:pt x="4788961" y="472846"/>
                  </a:lnTo>
                  <a:lnTo>
                    <a:pt x="4793996" y="516509"/>
                  </a:lnTo>
                  <a:lnTo>
                    <a:pt x="4793996" y="802259"/>
                  </a:lnTo>
                  <a:lnTo>
                    <a:pt x="4793996" y="1278509"/>
                  </a:lnTo>
                  <a:lnTo>
                    <a:pt x="4788961" y="1322211"/>
                  </a:lnTo>
                  <a:lnTo>
                    <a:pt x="4774623" y="1362317"/>
                  </a:lnTo>
                  <a:lnTo>
                    <a:pt x="4752128" y="1397687"/>
                  </a:lnTo>
                  <a:lnTo>
                    <a:pt x="4722621" y="1427181"/>
                  </a:lnTo>
                  <a:lnTo>
                    <a:pt x="4687249" y="1449659"/>
                  </a:lnTo>
                  <a:lnTo>
                    <a:pt x="4647158" y="1463981"/>
                  </a:lnTo>
                  <a:lnTo>
                    <a:pt x="4603496" y="1469009"/>
                  </a:lnTo>
                  <a:lnTo>
                    <a:pt x="3023362" y="1469009"/>
                  </a:lnTo>
                  <a:lnTo>
                    <a:pt x="2264410" y="1469009"/>
                  </a:lnTo>
                  <a:lnTo>
                    <a:pt x="1949069" y="1469009"/>
                  </a:lnTo>
                  <a:lnTo>
                    <a:pt x="1905406" y="1463981"/>
                  </a:lnTo>
                  <a:lnTo>
                    <a:pt x="1865315" y="1449659"/>
                  </a:lnTo>
                  <a:lnTo>
                    <a:pt x="1829943" y="1427181"/>
                  </a:lnTo>
                  <a:lnTo>
                    <a:pt x="1800436" y="1397687"/>
                  </a:lnTo>
                  <a:lnTo>
                    <a:pt x="1777941" y="1362317"/>
                  </a:lnTo>
                  <a:lnTo>
                    <a:pt x="1763603" y="1322211"/>
                  </a:lnTo>
                  <a:lnTo>
                    <a:pt x="1758569" y="1278509"/>
                  </a:lnTo>
                  <a:lnTo>
                    <a:pt x="1758569" y="802259"/>
                  </a:lnTo>
                  <a:lnTo>
                    <a:pt x="0" y="0"/>
                  </a:lnTo>
                  <a:lnTo>
                    <a:pt x="1758569" y="516509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871586" y="4563617"/>
            <a:ext cx="27597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"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rebuchet MS"/>
                <a:cs typeface="Trebuchet MS"/>
              </a:rPr>
              <a:t>Typically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error </a:t>
            </a:r>
            <a:r>
              <a:rPr sz="1800" dirty="0">
                <a:latin typeface="Trebuchet MS"/>
                <a:cs typeface="Trebuchet MS"/>
              </a:rPr>
              <a:t>messages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are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lengthy,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look </a:t>
            </a:r>
            <a:r>
              <a:rPr sz="1800" dirty="0">
                <a:latin typeface="Trebuchet MS"/>
                <a:cs typeface="Trebuchet MS"/>
              </a:rPr>
              <a:t>at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end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message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58547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What</a:t>
            </a:r>
            <a:r>
              <a:rPr spc="-229" dirty="0"/>
              <a:t> </a:t>
            </a:r>
            <a:r>
              <a:rPr dirty="0"/>
              <a:t>an</a:t>
            </a:r>
            <a:r>
              <a:rPr spc="-225" dirty="0"/>
              <a:t> </a:t>
            </a:r>
            <a:r>
              <a:rPr spc="-40" dirty="0"/>
              <a:t>error</a:t>
            </a:r>
            <a:r>
              <a:rPr spc="-210" dirty="0"/>
              <a:t> </a:t>
            </a:r>
            <a:r>
              <a:rPr spc="-35" dirty="0"/>
              <a:t>looks</a:t>
            </a:r>
            <a:r>
              <a:rPr spc="-240" dirty="0"/>
              <a:t> </a:t>
            </a:r>
            <a:r>
              <a:rPr spc="-10" dirty="0"/>
              <a:t>like?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409" y="1892047"/>
            <a:ext cx="9731629" cy="251483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487667" y="4503546"/>
            <a:ext cx="4806950" cy="1482090"/>
            <a:chOff x="6487667" y="4503546"/>
            <a:chExt cx="4806950" cy="1482090"/>
          </a:xfrm>
        </p:grpSpPr>
        <p:sp>
          <p:nvSpPr>
            <p:cNvPr id="5" name="object 5"/>
            <p:cNvSpPr/>
            <p:nvPr/>
          </p:nvSpPr>
          <p:spPr>
            <a:xfrm>
              <a:off x="6494017" y="4509896"/>
              <a:ext cx="4794250" cy="1469390"/>
            </a:xfrm>
            <a:custGeom>
              <a:avLst/>
              <a:gdLst/>
              <a:ahLst/>
              <a:cxnLst/>
              <a:rect l="l" t="t" r="r" b="b"/>
              <a:pathLst>
                <a:path w="4794250" h="1469389">
                  <a:moveTo>
                    <a:pt x="0" y="0"/>
                  </a:moveTo>
                  <a:lnTo>
                    <a:pt x="1758568" y="802258"/>
                  </a:lnTo>
                  <a:lnTo>
                    <a:pt x="1758568" y="1278547"/>
                  </a:lnTo>
                  <a:lnTo>
                    <a:pt x="1763603" y="1322229"/>
                  </a:lnTo>
                  <a:lnTo>
                    <a:pt x="1777941" y="1362328"/>
                  </a:lnTo>
                  <a:lnTo>
                    <a:pt x="1800436" y="1397699"/>
                  </a:lnTo>
                  <a:lnTo>
                    <a:pt x="1829943" y="1427199"/>
                  </a:lnTo>
                  <a:lnTo>
                    <a:pt x="1865315" y="1449686"/>
                  </a:lnTo>
                  <a:lnTo>
                    <a:pt x="1905406" y="1464016"/>
                  </a:lnTo>
                  <a:lnTo>
                    <a:pt x="1949068" y="1469047"/>
                  </a:lnTo>
                  <a:lnTo>
                    <a:pt x="4603496" y="1469047"/>
                  </a:lnTo>
                  <a:lnTo>
                    <a:pt x="4647198" y="1464016"/>
                  </a:lnTo>
                  <a:lnTo>
                    <a:pt x="4687304" y="1449686"/>
                  </a:lnTo>
                  <a:lnTo>
                    <a:pt x="4722674" y="1427199"/>
                  </a:lnTo>
                  <a:lnTo>
                    <a:pt x="4752168" y="1397699"/>
                  </a:lnTo>
                  <a:lnTo>
                    <a:pt x="4774646" y="1362328"/>
                  </a:lnTo>
                  <a:lnTo>
                    <a:pt x="4788968" y="1322229"/>
                  </a:lnTo>
                  <a:lnTo>
                    <a:pt x="4793996" y="1278547"/>
                  </a:lnTo>
                  <a:lnTo>
                    <a:pt x="4793996" y="516508"/>
                  </a:lnTo>
                  <a:lnTo>
                    <a:pt x="1758568" y="516508"/>
                  </a:lnTo>
                  <a:lnTo>
                    <a:pt x="0" y="0"/>
                  </a:lnTo>
                  <a:close/>
                </a:path>
                <a:path w="4794250" h="1469389">
                  <a:moveTo>
                    <a:pt x="4603496" y="326008"/>
                  </a:moveTo>
                  <a:lnTo>
                    <a:pt x="1949068" y="326008"/>
                  </a:lnTo>
                  <a:lnTo>
                    <a:pt x="1905406" y="331043"/>
                  </a:lnTo>
                  <a:lnTo>
                    <a:pt x="1865315" y="345381"/>
                  </a:lnTo>
                  <a:lnTo>
                    <a:pt x="1829943" y="367876"/>
                  </a:lnTo>
                  <a:lnTo>
                    <a:pt x="1800436" y="397383"/>
                  </a:lnTo>
                  <a:lnTo>
                    <a:pt x="1777941" y="432755"/>
                  </a:lnTo>
                  <a:lnTo>
                    <a:pt x="1763603" y="472846"/>
                  </a:lnTo>
                  <a:lnTo>
                    <a:pt x="1758568" y="516508"/>
                  </a:lnTo>
                  <a:lnTo>
                    <a:pt x="4793996" y="516508"/>
                  </a:lnTo>
                  <a:lnTo>
                    <a:pt x="4788968" y="472846"/>
                  </a:lnTo>
                  <a:lnTo>
                    <a:pt x="4774646" y="432755"/>
                  </a:lnTo>
                  <a:lnTo>
                    <a:pt x="4752168" y="397383"/>
                  </a:lnTo>
                  <a:lnTo>
                    <a:pt x="4722674" y="367876"/>
                  </a:lnTo>
                  <a:lnTo>
                    <a:pt x="4687304" y="345381"/>
                  </a:lnTo>
                  <a:lnTo>
                    <a:pt x="4647198" y="331043"/>
                  </a:lnTo>
                  <a:lnTo>
                    <a:pt x="4603496" y="326008"/>
                  </a:lnTo>
                  <a:close/>
                </a:path>
              </a:pathLst>
            </a:custGeom>
            <a:solidFill>
              <a:srgbClr val="BCE6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94017" y="4509896"/>
              <a:ext cx="4794250" cy="1469390"/>
            </a:xfrm>
            <a:custGeom>
              <a:avLst/>
              <a:gdLst/>
              <a:ahLst/>
              <a:cxnLst/>
              <a:rect l="l" t="t" r="r" b="b"/>
              <a:pathLst>
                <a:path w="4794250" h="1469389">
                  <a:moveTo>
                    <a:pt x="1758568" y="516508"/>
                  </a:moveTo>
                  <a:lnTo>
                    <a:pt x="1763603" y="472846"/>
                  </a:lnTo>
                  <a:lnTo>
                    <a:pt x="1777941" y="432755"/>
                  </a:lnTo>
                  <a:lnTo>
                    <a:pt x="1800436" y="397383"/>
                  </a:lnTo>
                  <a:lnTo>
                    <a:pt x="1829943" y="367876"/>
                  </a:lnTo>
                  <a:lnTo>
                    <a:pt x="1865315" y="345381"/>
                  </a:lnTo>
                  <a:lnTo>
                    <a:pt x="1905406" y="331043"/>
                  </a:lnTo>
                  <a:lnTo>
                    <a:pt x="1949068" y="326008"/>
                  </a:lnTo>
                  <a:lnTo>
                    <a:pt x="2264537" y="326008"/>
                  </a:lnTo>
                  <a:lnTo>
                    <a:pt x="3023362" y="326008"/>
                  </a:lnTo>
                  <a:lnTo>
                    <a:pt x="4603496" y="326008"/>
                  </a:lnTo>
                  <a:lnTo>
                    <a:pt x="4647198" y="331043"/>
                  </a:lnTo>
                  <a:lnTo>
                    <a:pt x="4687304" y="345381"/>
                  </a:lnTo>
                  <a:lnTo>
                    <a:pt x="4722674" y="367876"/>
                  </a:lnTo>
                  <a:lnTo>
                    <a:pt x="4752168" y="397383"/>
                  </a:lnTo>
                  <a:lnTo>
                    <a:pt x="4774646" y="432755"/>
                  </a:lnTo>
                  <a:lnTo>
                    <a:pt x="4788968" y="472846"/>
                  </a:lnTo>
                  <a:lnTo>
                    <a:pt x="4793996" y="516508"/>
                  </a:lnTo>
                  <a:lnTo>
                    <a:pt x="4793996" y="802258"/>
                  </a:lnTo>
                  <a:lnTo>
                    <a:pt x="4793996" y="1278547"/>
                  </a:lnTo>
                  <a:lnTo>
                    <a:pt x="4788968" y="1322229"/>
                  </a:lnTo>
                  <a:lnTo>
                    <a:pt x="4774646" y="1362328"/>
                  </a:lnTo>
                  <a:lnTo>
                    <a:pt x="4752168" y="1397699"/>
                  </a:lnTo>
                  <a:lnTo>
                    <a:pt x="4722674" y="1427199"/>
                  </a:lnTo>
                  <a:lnTo>
                    <a:pt x="4687304" y="1449686"/>
                  </a:lnTo>
                  <a:lnTo>
                    <a:pt x="4647198" y="1464016"/>
                  </a:lnTo>
                  <a:lnTo>
                    <a:pt x="4603496" y="1469047"/>
                  </a:lnTo>
                  <a:lnTo>
                    <a:pt x="3023362" y="1469047"/>
                  </a:lnTo>
                  <a:lnTo>
                    <a:pt x="2264537" y="1469047"/>
                  </a:lnTo>
                  <a:lnTo>
                    <a:pt x="1949068" y="1469047"/>
                  </a:lnTo>
                  <a:lnTo>
                    <a:pt x="1905406" y="1464016"/>
                  </a:lnTo>
                  <a:lnTo>
                    <a:pt x="1865315" y="1449686"/>
                  </a:lnTo>
                  <a:lnTo>
                    <a:pt x="1829943" y="1427199"/>
                  </a:lnTo>
                  <a:lnTo>
                    <a:pt x="1800436" y="1397699"/>
                  </a:lnTo>
                  <a:lnTo>
                    <a:pt x="1777941" y="1362328"/>
                  </a:lnTo>
                  <a:lnTo>
                    <a:pt x="1763603" y="1322229"/>
                  </a:lnTo>
                  <a:lnTo>
                    <a:pt x="1758568" y="1278547"/>
                  </a:lnTo>
                  <a:lnTo>
                    <a:pt x="1758568" y="802258"/>
                  </a:lnTo>
                  <a:lnTo>
                    <a:pt x="0" y="0"/>
                  </a:lnTo>
                  <a:lnTo>
                    <a:pt x="1758568" y="516508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390381" y="4978400"/>
            <a:ext cx="27597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3175" algn="ctr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rebuchet MS"/>
                <a:cs typeface="Trebuchet MS"/>
              </a:rPr>
              <a:t>Typically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error </a:t>
            </a:r>
            <a:r>
              <a:rPr sz="1800" dirty="0">
                <a:latin typeface="Trebuchet MS"/>
                <a:cs typeface="Trebuchet MS"/>
              </a:rPr>
              <a:t>messages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are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lengthy,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look </a:t>
            </a:r>
            <a:r>
              <a:rPr sz="1800" dirty="0">
                <a:latin typeface="Trebuchet MS"/>
                <a:cs typeface="Trebuchet MS"/>
              </a:rPr>
              <a:t>at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end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of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message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2589352"/>
            <a:ext cx="7207884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0" spc="-40" dirty="0"/>
              <a:t>Assigning</a:t>
            </a:r>
            <a:r>
              <a:rPr sz="6000" spc="-270" dirty="0"/>
              <a:t> </a:t>
            </a:r>
            <a:r>
              <a:rPr sz="6000" dirty="0"/>
              <a:t>and</a:t>
            </a:r>
            <a:r>
              <a:rPr sz="6000" spc="-290" dirty="0"/>
              <a:t> </a:t>
            </a:r>
            <a:r>
              <a:rPr sz="6000" spc="-40" dirty="0"/>
              <a:t>Naming </a:t>
            </a:r>
            <a:r>
              <a:rPr sz="6000" spc="-10" dirty="0"/>
              <a:t>convention</a:t>
            </a:r>
            <a:endParaRPr sz="6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Assignment</a:t>
            </a:r>
            <a:r>
              <a:rPr spc="-220" dirty="0"/>
              <a:t> </a:t>
            </a:r>
            <a:r>
              <a:rPr spc="-45" dirty="0"/>
              <a:t>operator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58000" y="4251553"/>
            <a:ext cx="35814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 smtClean="0">
                <a:latin typeface="Trebuchet MS"/>
                <a:cs typeface="Trebuchet MS"/>
              </a:rPr>
              <a:t>del(</a:t>
            </a:r>
            <a:r>
              <a:rPr lang="en-US" sz="1800" dirty="0" smtClean="0">
                <a:latin typeface="Trebuchet MS"/>
                <a:cs typeface="Trebuchet MS"/>
              </a:rPr>
              <a:t>Velocity</a:t>
            </a:r>
            <a:r>
              <a:rPr sz="1800" dirty="0" smtClean="0">
                <a:latin typeface="Trebuchet MS"/>
                <a:cs typeface="Trebuchet MS"/>
              </a:rPr>
              <a:t>)</a:t>
            </a:r>
            <a:r>
              <a:rPr sz="1800" spc="-55" dirty="0" smtClean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deletes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lang="en-US" spc="-50" dirty="0" smtClean="0">
                <a:latin typeface="Trebuchet MS"/>
                <a:cs typeface="Trebuchet MS"/>
              </a:rPr>
              <a:t>Velocity</a:t>
            </a:r>
            <a:endParaRPr sz="1800" dirty="0">
              <a:latin typeface="Trebuchet MS"/>
              <a:cs typeface="Trebuchet M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476756"/>
            <a:ext cx="3200400" cy="443501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591137"/>
            <a:ext cx="5984123" cy="25374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Assignment</a:t>
            </a:r>
            <a:r>
              <a:rPr spc="-220" dirty="0"/>
              <a:t> </a:t>
            </a:r>
            <a:r>
              <a:rPr spc="-45" dirty="0"/>
              <a:t>operator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885797"/>
            <a:ext cx="1790445" cy="427705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7465" y="1885823"/>
            <a:ext cx="1790445" cy="32916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48400" y="821525"/>
            <a:ext cx="2362200" cy="485310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Naming</a:t>
            </a:r>
            <a:r>
              <a:rPr spc="-180" dirty="0"/>
              <a:t> </a:t>
            </a:r>
            <a:r>
              <a:rPr spc="-55" dirty="0"/>
              <a:t>convention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0316" y="1739646"/>
            <a:ext cx="5613400" cy="12700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7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Must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start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with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letter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(A-</a:t>
            </a:r>
            <a:r>
              <a:rPr sz="2400" dirty="0">
                <a:latin typeface="Trebuchet MS"/>
                <a:cs typeface="Trebuchet MS"/>
              </a:rPr>
              <a:t>Z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a-z)</a:t>
            </a:r>
            <a:endParaRPr sz="2400" dirty="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Can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contain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letters,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digits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(0-</a:t>
            </a:r>
            <a:r>
              <a:rPr sz="2400" dirty="0">
                <a:latin typeface="Trebuchet MS"/>
                <a:cs typeface="Trebuchet MS"/>
              </a:rPr>
              <a:t>9),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and/or</a:t>
            </a:r>
            <a:endParaRPr sz="2400" dirty="0">
              <a:latin typeface="Trebuchet MS"/>
              <a:cs typeface="Trebuchet MS"/>
            </a:endParaRPr>
          </a:p>
          <a:p>
            <a:pPr marL="142240">
              <a:lnSpc>
                <a:spcPct val="100000"/>
              </a:lnSpc>
            </a:pPr>
            <a:r>
              <a:rPr sz="2400" dirty="0">
                <a:latin typeface="Trebuchet MS"/>
                <a:cs typeface="Trebuchet MS"/>
              </a:rPr>
              <a:t>underscore</a:t>
            </a:r>
            <a:r>
              <a:rPr sz="2400" spc="-14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“_”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3504438"/>
            <a:ext cx="314515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60" dirty="0"/>
              <a:t>Packages</a:t>
            </a:r>
            <a:endParaRPr sz="6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23012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Packages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624025"/>
            <a:ext cx="5575935" cy="34906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605" marR="113030" indent="-129539" algn="just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functions.</a:t>
            </a:r>
            <a:r>
              <a:rPr sz="2400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properly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complied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code.</a:t>
            </a:r>
            <a:r>
              <a:rPr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1605" marR="210185" indent="-129539" algn="just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</a:t>
            </a:r>
            <a:r>
              <a:rPr sz="24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“packages”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imported.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1605" marR="5080" indent="-129539" algn="just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log(10)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sz="2400" spc="-4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60335" y="1291531"/>
            <a:ext cx="4645659" cy="4945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2348" y="5313351"/>
            <a:ext cx="5953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For basic arithmetic operators (+ - * / // % **) you don’t need to import any math package in Python (or </a:t>
            </a:r>
            <a:r>
              <a:rPr lang="en-US" dirty="0" err="1" smtClean="0">
                <a:solidFill>
                  <a:srgbClr val="FF0000"/>
                </a:solidFill>
              </a:rPr>
              <a:t>Colab</a:t>
            </a:r>
            <a:r>
              <a:rPr lang="en-US" dirty="0" smtClean="0">
                <a:solidFill>
                  <a:srgbClr val="FF0000"/>
                </a:solidFill>
              </a:rPr>
              <a:t>). They are built-in operators.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23012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Packages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624025"/>
            <a:ext cx="10144252" cy="29828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spc="-140" dirty="0">
                <a:latin typeface="Trebuchet MS"/>
                <a:cs typeface="Trebuchet MS"/>
              </a:rPr>
              <a:t>To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good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scientist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on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python,</a:t>
            </a:r>
            <a:r>
              <a:rPr sz="2400" spc="-15" dirty="0">
                <a:latin typeface="Trebuchet MS"/>
                <a:cs typeface="Trebuchet MS"/>
              </a:rPr>
              <a:t> </a:t>
            </a:r>
            <a:r>
              <a:rPr sz="2400" dirty="0" smtClean="0">
                <a:latin typeface="Trebuchet MS"/>
                <a:cs typeface="Trebuchet MS"/>
              </a:rPr>
              <a:t>on</a:t>
            </a:r>
            <a:r>
              <a:rPr lang="en-US" sz="2400" dirty="0">
                <a:latin typeface="Trebuchet MS"/>
                <a:cs typeface="Trebuchet MS"/>
              </a:rPr>
              <a:t>e</a:t>
            </a:r>
            <a:r>
              <a:rPr sz="2400" spc="-40" dirty="0" smtClean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need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very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comfortable</a:t>
            </a:r>
            <a:endParaRPr sz="2400" dirty="0">
              <a:latin typeface="Trebuchet MS"/>
              <a:cs typeface="Trebuchet MS"/>
            </a:endParaRPr>
          </a:p>
          <a:p>
            <a:pPr marL="14160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rebuchet MS"/>
                <a:cs typeface="Trebuchet MS"/>
              </a:rPr>
              <a:t>with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below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packages</a:t>
            </a:r>
            <a:endParaRPr sz="2400" dirty="0">
              <a:latin typeface="Trebuchet MS"/>
              <a:cs typeface="Trebuchet MS"/>
            </a:endParaRPr>
          </a:p>
          <a:p>
            <a:pPr marL="307975" lvl="1" indent="-128270">
              <a:lnSpc>
                <a:spcPct val="100000"/>
              </a:lnSpc>
              <a:spcBef>
                <a:spcPts val="495"/>
              </a:spcBef>
              <a:buClr>
                <a:srgbClr val="5ECCF3"/>
              </a:buClr>
              <a:buFont typeface="Arial MT"/>
              <a:buChar char="•"/>
              <a:tabLst>
                <a:tab pos="307975" algn="l"/>
              </a:tabLst>
            </a:pPr>
            <a:r>
              <a:rPr sz="2000" spc="-10" dirty="0">
                <a:latin typeface="Trebuchet MS"/>
                <a:cs typeface="Trebuchet MS"/>
              </a:rPr>
              <a:t>numpy</a:t>
            </a:r>
            <a:endParaRPr sz="2000" dirty="0">
              <a:latin typeface="Trebuchet MS"/>
              <a:cs typeface="Trebuchet MS"/>
            </a:endParaRPr>
          </a:p>
          <a:p>
            <a:pPr marL="307975" lvl="1" indent="-128270">
              <a:lnSpc>
                <a:spcPct val="100000"/>
              </a:lnSpc>
              <a:spcBef>
                <a:spcPts val="480"/>
              </a:spcBef>
              <a:buClr>
                <a:srgbClr val="5ECCF3"/>
              </a:buClr>
              <a:buFont typeface="Arial MT"/>
              <a:buChar char="•"/>
              <a:tabLst>
                <a:tab pos="307975" algn="l"/>
              </a:tabLst>
            </a:pPr>
            <a:r>
              <a:rPr sz="2000" spc="-10" dirty="0">
                <a:latin typeface="Trebuchet MS"/>
                <a:cs typeface="Trebuchet MS"/>
              </a:rPr>
              <a:t>scipy</a:t>
            </a:r>
            <a:endParaRPr sz="2000" dirty="0">
              <a:latin typeface="Trebuchet MS"/>
              <a:cs typeface="Trebuchet MS"/>
            </a:endParaRPr>
          </a:p>
          <a:p>
            <a:pPr marL="307975" lvl="1" indent="-128270">
              <a:lnSpc>
                <a:spcPct val="100000"/>
              </a:lnSpc>
              <a:spcBef>
                <a:spcPts val="480"/>
              </a:spcBef>
              <a:buClr>
                <a:srgbClr val="5ECCF3"/>
              </a:buClr>
              <a:buFont typeface="Arial MT"/>
              <a:buChar char="•"/>
              <a:tabLst>
                <a:tab pos="307975" algn="l"/>
              </a:tabLst>
            </a:pPr>
            <a:r>
              <a:rPr sz="2000" spc="-10" dirty="0">
                <a:latin typeface="Trebuchet MS"/>
                <a:cs typeface="Trebuchet MS"/>
              </a:rPr>
              <a:t>pandas</a:t>
            </a:r>
            <a:endParaRPr sz="2000" dirty="0">
              <a:latin typeface="Trebuchet MS"/>
              <a:cs typeface="Trebuchet MS"/>
            </a:endParaRPr>
          </a:p>
          <a:p>
            <a:pPr marL="307975" lvl="1" indent="-128270">
              <a:lnSpc>
                <a:spcPct val="100000"/>
              </a:lnSpc>
              <a:spcBef>
                <a:spcPts val="480"/>
              </a:spcBef>
              <a:buClr>
                <a:srgbClr val="5ECCF3"/>
              </a:buClr>
              <a:buFont typeface="Arial MT"/>
              <a:buChar char="•"/>
              <a:tabLst>
                <a:tab pos="307975" algn="l"/>
              </a:tabLst>
            </a:pPr>
            <a:r>
              <a:rPr sz="2000" spc="-10" dirty="0">
                <a:latin typeface="Trebuchet MS"/>
                <a:cs typeface="Trebuchet MS"/>
              </a:rPr>
              <a:t>scikit-Learn</a:t>
            </a:r>
            <a:endParaRPr sz="2000" dirty="0">
              <a:latin typeface="Trebuchet MS"/>
              <a:cs typeface="Trebuchet MS"/>
            </a:endParaRPr>
          </a:p>
          <a:p>
            <a:pPr marL="307975" lvl="1" indent="-128270">
              <a:lnSpc>
                <a:spcPct val="100000"/>
              </a:lnSpc>
              <a:spcBef>
                <a:spcPts val="480"/>
              </a:spcBef>
              <a:buClr>
                <a:srgbClr val="5ECCF3"/>
              </a:buClr>
              <a:buFont typeface="Arial MT"/>
              <a:buChar char="•"/>
              <a:tabLst>
                <a:tab pos="307975" algn="l"/>
              </a:tabLst>
            </a:pPr>
            <a:r>
              <a:rPr sz="2000" spc="-10" dirty="0">
                <a:latin typeface="Trebuchet MS"/>
                <a:cs typeface="Trebuchet MS"/>
              </a:rPr>
              <a:t>matplotlib</a:t>
            </a:r>
            <a:endParaRPr sz="2000" dirty="0">
              <a:latin typeface="Trebuchet MS"/>
              <a:cs typeface="Trebuchet MS"/>
            </a:endParaRPr>
          </a:p>
          <a:p>
            <a:pPr marL="307975" lvl="1" indent="-128270">
              <a:lnSpc>
                <a:spcPct val="100000"/>
              </a:lnSpc>
              <a:spcBef>
                <a:spcPts val="480"/>
              </a:spcBef>
              <a:buClr>
                <a:srgbClr val="5ECCF3"/>
              </a:buClr>
              <a:buFont typeface="Arial MT"/>
              <a:buChar char="•"/>
              <a:tabLst>
                <a:tab pos="307975" algn="l"/>
              </a:tabLst>
            </a:pPr>
            <a:r>
              <a:rPr sz="2000" spc="-20" dirty="0">
                <a:latin typeface="Trebuchet MS"/>
                <a:cs typeface="Trebuchet MS"/>
              </a:rPr>
              <a:t>nltk</a:t>
            </a: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Important</a:t>
            </a:r>
            <a:r>
              <a:rPr spc="-215" dirty="0"/>
              <a:t> </a:t>
            </a:r>
            <a:r>
              <a:rPr spc="-55" dirty="0"/>
              <a:t>Packages-</a:t>
            </a:r>
            <a:r>
              <a:rPr spc="-215" dirty="0"/>
              <a:t> </a:t>
            </a:r>
            <a:r>
              <a:rPr spc="-10" dirty="0"/>
              <a:t>NumPy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64589"/>
            <a:ext cx="9760585" cy="2950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1605" indent="-128905">
              <a:lnSpc>
                <a:spcPts val="2160"/>
              </a:lnSpc>
              <a:spcBef>
                <a:spcPts val="105"/>
              </a:spcBef>
              <a:buClr>
                <a:srgbClr val="4E67C7"/>
              </a:buClr>
              <a:buFont typeface="Wingdings"/>
              <a:buChar char=""/>
              <a:tabLst>
                <a:tab pos="141605" algn="l"/>
              </a:tabLst>
            </a:pPr>
            <a:r>
              <a:rPr sz="2000" dirty="0">
                <a:latin typeface="Trebuchet MS"/>
                <a:cs typeface="Trebuchet MS"/>
              </a:rPr>
              <a:t>NumPy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 for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fast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operations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vectors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matrices,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including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mathematical,</a:t>
            </a:r>
            <a:endParaRPr sz="2000" dirty="0">
              <a:latin typeface="Trebuchet MS"/>
              <a:cs typeface="Trebuchet MS"/>
            </a:endParaRPr>
          </a:p>
          <a:p>
            <a:pPr marL="141605">
              <a:lnSpc>
                <a:spcPts val="2160"/>
              </a:lnSpc>
            </a:pPr>
            <a:r>
              <a:rPr sz="2000" dirty="0">
                <a:latin typeface="Trebuchet MS"/>
                <a:cs typeface="Trebuchet MS"/>
              </a:rPr>
              <a:t>logical,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shape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manipulation,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sorting,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selecting.</a:t>
            </a:r>
            <a:endParaRPr sz="2000" dirty="0">
              <a:latin typeface="Trebuchet MS"/>
              <a:cs typeface="Trebuchet MS"/>
            </a:endParaRPr>
          </a:p>
          <a:p>
            <a:pPr marL="141605" marR="5080" indent="-129539">
              <a:lnSpc>
                <a:spcPts val="1920"/>
              </a:lnSpc>
              <a:spcBef>
                <a:spcPts val="465"/>
              </a:spcBef>
              <a:buClr>
                <a:srgbClr val="4E67C7"/>
              </a:buClr>
              <a:buFont typeface="Wingdings"/>
              <a:buChar char=""/>
              <a:tabLst>
                <a:tab pos="141605" algn="l"/>
              </a:tabLst>
            </a:pPr>
            <a:r>
              <a:rPr sz="2000" dirty="0">
                <a:latin typeface="Trebuchet MS"/>
                <a:cs typeface="Trebuchet MS"/>
              </a:rPr>
              <a:t>It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is the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foundation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which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all</a:t>
            </a:r>
            <a:r>
              <a:rPr sz="2000" spc="-2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higher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level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tools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for</a:t>
            </a:r>
            <a:r>
              <a:rPr sz="2000" spc="-2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scientific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Python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packages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are </a:t>
            </a:r>
            <a:r>
              <a:rPr sz="2000" spc="-10" dirty="0">
                <a:latin typeface="Trebuchet MS"/>
                <a:cs typeface="Trebuchet MS"/>
              </a:rPr>
              <a:t>built</a:t>
            </a:r>
            <a:endParaRPr sz="2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000" dirty="0">
              <a:latin typeface="Trebuchet MS"/>
              <a:cs typeface="Trebuchet MS"/>
            </a:endParaRPr>
          </a:p>
          <a:p>
            <a:pPr marL="62865">
              <a:lnSpc>
                <a:spcPct val="100000"/>
              </a:lnSpc>
            </a:pP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import</a:t>
            </a:r>
            <a:r>
              <a:rPr sz="2000" spc="-20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numpy</a:t>
            </a:r>
            <a:r>
              <a:rPr sz="2000" spc="-5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as</a:t>
            </a:r>
            <a:r>
              <a:rPr sz="2000" spc="-20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solidFill>
                  <a:srgbClr val="0000CC"/>
                </a:solidFill>
                <a:latin typeface="Consolas"/>
                <a:cs typeface="Consolas"/>
              </a:rPr>
              <a:t>np</a:t>
            </a:r>
            <a:endParaRPr sz="20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000" dirty="0">
              <a:latin typeface="Consolas"/>
              <a:cs typeface="Consolas"/>
            </a:endParaRPr>
          </a:p>
          <a:p>
            <a:pPr marL="62865">
              <a:lnSpc>
                <a:spcPct val="100000"/>
              </a:lnSpc>
            </a:pP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income</a:t>
            </a:r>
            <a:r>
              <a:rPr sz="2000" spc="-40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=</a:t>
            </a:r>
            <a:r>
              <a:rPr sz="2000" spc="-10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np.array([9000,</a:t>
            </a:r>
            <a:r>
              <a:rPr sz="2000" spc="-15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8500,</a:t>
            </a:r>
            <a:r>
              <a:rPr sz="2000" spc="-20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9800,</a:t>
            </a:r>
            <a:r>
              <a:rPr sz="2000" spc="-15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12000,</a:t>
            </a:r>
            <a:r>
              <a:rPr sz="2000" spc="-30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7900,</a:t>
            </a:r>
            <a:r>
              <a:rPr sz="2000" spc="-15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6700,</a:t>
            </a:r>
            <a:r>
              <a:rPr sz="2000" spc="-25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00CC"/>
                </a:solidFill>
                <a:latin typeface="Consolas"/>
                <a:cs typeface="Consolas"/>
              </a:rPr>
              <a:t>10000])</a:t>
            </a:r>
            <a:endParaRPr sz="2000" dirty="0">
              <a:latin typeface="Consolas"/>
              <a:cs typeface="Consolas"/>
            </a:endParaRPr>
          </a:p>
          <a:p>
            <a:pPr marL="62865">
              <a:lnSpc>
                <a:spcPct val="100000"/>
              </a:lnSpc>
            </a:pPr>
            <a:r>
              <a:rPr sz="2000" spc="-10" dirty="0">
                <a:solidFill>
                  <a:srgbClr val="0000CC"/>
                </a:solidFill>
                <a:latin typeface="Consolas"/>
                <a:cs typeface="Consolas"/>
              </a:rPr>
              <a:t>print(income)</a:t>
            </a:r>
            <a:endParaRPr sz="2000" dirty="0">
              <a:latin typeface="Consolas"/>
              <a:cs typeface="Consolas"/>
            </a:endParaRPr>
          </a:p>
          <a:p>
            <a:pPr marL="62865">
              <a:lnSpc>
                <a:spcPct val="100000"/>
              </a:lnSpc>
            </a:pPr>
            <a:r>
              <a:rPr sz="2000" spc="-10" dirty="0">
                <a:solidFill>
                  <a:srgbClr val="0000CC"/>
                </a:solidFill>
                <a:latin typeface="Consolas"/>
                <a:cs typeface="Consolas"/>
              </a:rPr>
              <a:t>print(income[0])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2640" y="4793741"/>
            <a:ext cx="282003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00CC"/>
                </a:solidFill>
                <a:latin typeface="Consolas"/>
                <a:cs typeface="Consolas"/>
              </a:rPr>
              <a:t>expenses=income*0.65 print(expenses)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2640" y="5707786"/>
            <a:ext cx="323850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0000CC"/>
                </a:solidFill>
                <a:latin typeface="Consolas"/>
                <a:cs typeface="Consolas"/>
              </a:rPr>
              <a:t>savings=income-expenses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0000CC"/>
                </a:solidFill>
                <a:latin typeface="Consolas"/>
                <a:cs typeface="Consolas"/>
              </a:rPr>
              <a:t>print(savings)</a:t>
            </a:r>
            <a:endParaRPr sz="2000">
              <a:latin typeface="Consolas"/>
              <a:cs typeface="Consola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149718" y="3992626"/>
            <a:ext cx="4439285" cy="1623695"/>
            <a:chOff x="7149718" y="3992626"/>
            <a:chExt cx="4439285" cy="1623695"/>
          </a:xfrm>
        </p:grpSpPr>
        <p:sp>
          <p:nvSpPr>
            <p:cNvPr id="7" name="object 7"/>
            <p:cNvSpPr/>
            <p:nvPr/>
          </p:nvSpPr>
          <p:spPr>
            <a:xfrm>
              <a:off x="7156068" y="3998976"/>
              <a:ext cx="4426585" cy="1610995"/>
            </a:xfrm>
            <a:custGeom>
              <a:avLst/>
              <a:gdLst/>
              <a:ahLst/>
              <a:cxnLst/>
              <a:rect l="l" t="t" r="r" b="b"/>
              <a:pathLst>
                <a:path w="4426584" h="1610995">
                  <a:moveTo>
                    <a:pt x="0" y="0"/>
                  </a:moveTo>
                  <a:lnTo>
                    <a:pt x="1390903" y="943737"/>
                  </a:lnTo>
                  <a:lnTo>
                    <a:pt x="1390903" y="1419987"/>
                  </a:lnTo>
                  <a:lnTo>
                    <a:pt x="1395938" y="1463648"/>
                  </a:lnTo>
                  <a:lnTo>
                    <a:pt x="1410276" y="1503735"/>
                  </a:lnTo>
                  <a:lnTo>
                    <a:pt x="1432771" y="1539102"/>
                  </a:lnTo>
                  <a:lnTo>
                    <a:pt x="1462278" y="1568603"/>
                  </a:lnTo>
                  <a:lnTo>
                    <a:pt x="1497650" y="1591094"/>
                  </a:lnTo>
                  <a:lnTo>
                    <a:pt x="1537741" y="1605428"/>
                  </a:lnTo>
                  <a:lnTo>
                    <a:pt x="1581403" y="1610461"/>
                  </a:lnTo>
                  <a:lnTo>
                    <a:pt x="4235831" y="1610461"/>
                  </a:lnTo>
                  <a:lnTo>
                    <a:pt x="4279493" y="1605428"/>
                  </a:lnTo>
                  <a:lnTo>
                    <a:pt x="4319584" y="1591094"/>
                  </a:lnTo>
                  <a:lnTo>
                    <a:pt x="4354956" y="1568603"/>
                  </a:lnTo>
                  <a:lnTo>
                    <a:pt x="4384463" y="1539102"/>
                  </a:lnTo>
                  <a:lnTo>
                    <a:pt x="4406958" y="1503735"/>
                  </a:lnTo>
                  <a:lnTo>
                    <a:pt x="4421296" y="1463648"/>
                  </a:lnTo>
                  <a:lnTo>
                    <a:pt x="4426331" y="1419987"/>
                  </a:lnTo>
                  <a:lnTo>
                    <a:pt x="4426331" y="657987"/>
                  </a:lnTo>
                  <a:lnTo>
                    <a:pt x="1390903" y="657987"/>
                  </a:lnTo>
                  <a:lnTo>
                    <a:pt x="0" y="0"/>
                  </a:lnTo>
                  <a:close/>
                </a:path>
                <a:path w="4426584" h="1610995">
                  <a:moveTo>
                    <a:pt x="4235831" y="467487"/>
                  </a:moveTo>
                  <a:lnTo>
                    <a:pt x="1581403" y="467487"/>
                  </a:lnTo>
                  <a:lnTo>
                    <a:pt x="1537741" y="472514"/>
                  </a:lnTo>
                  <a:lnTo>
                    <a:pt x="1497650" y="486836"/>
                  </a:lnTo>
                  <a:lnTo>
                    <a:pt x="1462278" y="509314"/>
                  </a:lnTo>
                  <a:lnTo>
                    <a:pt x="1432771" y="538808"/>
                  </a:lnTo>
                  <a:lnTo>
                    <a:pt x="1410276" y="574178"/>
                  </a:lnTo>
                  <a:lnTo>
                    <a:pt x="1395938" y="614284"/>
                  </a:lnTo>
                  <a:lnTo>
                    <a:pt x="1390903" y="657987"/>
                  </a:lnTo>
                  <a:lnTo>
                    <a:pt x="4426331" y="657987"/>
                  </a:lnTo>
                  <a:lnTo>
                    <a:pt x="4421296" y="614284"/>
                  </a:lnTo>
                  <a:lnTo>
                    <a:pt x="4406958" y="574178"/>
                  </a:lnTo>
                  <a:lnTo>
                    <a:pt x="4384463" y="538808"/>
                  </a:lnTo>
                  <a:lnTo>
                    <a:pt x="4354956" y="509314"/>
                  </a:lnTo>
                  <a:lnTo>
                    <a:pt x="4319584" y="486836"/>
                  </a:lnTo>
                  <a:lnTo>
                    <a:pt x="4279493" y="472514"/>
                  </a:lnTo>
                  <a:lnTo>
                    <a:pt x="4235831" y="467487"/>
                  </a:lnTo>
                  <a:close/>
                </a:path>
              </a:pathLst>
            </a:custGeom>
            <a:solidFill>
              <a:srgbClr val="BCE6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56068" y="3998976"/>
              <a:ext cx="4426585" cy="1610995"/>
            </a:xfrm>
            <a:custGeom>
              <a:avLst/>
              <a:gdLst/>
              <a:ahLst/>
              <a:cxnLst/>
              <a:rect l="l" t="t" r="r" b="b"/>
              <a:pathLst>
                <a:path w="4426584" h="1610995">
                  <a:moveTo>
                    <a:pt x="1390903" y="657987"/>
                  </a:moveTo>
                  <a:lnTo>
                    <a:pt x="1395938" y="614284"/>
                  </a:lnTo>
                  <a:lnTo>
                    <a:pt x="1410276" y="574178"/>
                  </a:lnTo>
                  <a:lnTo>
                    <a:pt x="1432771" y="538808"/>
                  </a:lnTo>
                  <a:lnTo>
                    <a:pt x="1462278" y="509314"/>
                  </a:lnTo>
                  <a:lnTo>
                    <a:pt x="1497650" y="486836"/>
                  </a:lnTo>
                  <a:lnTo>
                    <a:pt x="1537741" y="472514"/>
                  </a:lnTo>
                  <a:lnTo>
                    <a:pt x="1581403" y="467487"/>
                  </a:lnTo>
                  <a:lnTo>
                    <a:pt x="1896745" y="467487"/>
                  </a:lnTo>
                  <a:lnTo>
                    <a:pt x="2655697" y="467487"/>
                  </a:lnTo>
                  <a:lnTo>
                    <a:pt x="4235831" y="467487"/>
                  </a:lnTo>
                  <a:lnTo>
                    <a:pt x="4279493" y="472514"/>
                  </a:lnTo>
                  <a:lnTo>
                    <a:pt x="4319584" y="486836"/>
                  </a:lnTo>
                  <a:lnTo>
                    <a:pt x="4354956" y="509314"/>
                  </a:lnTo>
                  <a:lnTo>
                    <a:pt x="4384463" y="538808"/>
                  </a:lnTo>
                  <a:lnTo>
                    <a:pt x="4406958" y="574178"/>
                  </a:lnTo>
                  <a:lnTo>
                    <a:pt x="4421296" y="614284"/>
                  </a:lnTo>
                  <a:lnTo>
                    <a:pt x="4426331" y="657987"/>
                  </a:lnTo>
                  <a:lnTo>
                    <a:pt x="4426331" y="943737"/>
                  </a:lnTo>
                  <a:lnTo>
                    <a:pt x="4426331" y="1419987"/>
                  </a:lnTo>
                  <a:lnTo>
                    <a:pt x="4421296" y="1463648"/>
                  </a:lnTo>
                  <a:lnTo>
                    <a:pt x="4406958" y="1503735"/>
                  </a:lnTo>
                  <a:lnTo>
                    <a:pt x="4384463" y="1539102"/>
                  </a:lnTo>
                  <a:lnTo>
                    <a:pt x="4354956" y="1568603"/>
                  </a:lnTo>
                  <a:lnTo>
                    <a:pt x="4319584" y="1591094"/>
                  </a:lnTo>
                  <a:lnTo>
                    <a:pt x="4279493" y="1605428"/>
                  </a:lnTo>
                  <a:lnTo>
                    <a:pt x="4235831" y="1610461"/>
                  </a:lnTo>
                  <a:lnTo>
                    <a:pt x="2655697" y="1610461"/>
                  </a:lnTo>
                  <a:lnTo>
                    <a:pt x="1896745" y="1610461"/>
                  </a:lnTo>
                  <a:lnTo>
                    <a:pt x="1581403" y="1610461"/>
                  </a:lnTo>
                  <a:lnTo>
                    <a:pt x="1537741" y="1605428"/>
                  </a:lnTo>
                  <a:lnTo>
                    <a:pt x="1497650" y="1591094"/>
                  </a:lnTo>
                  <a:lnTo>
                    <a:pt x="1462278" y="1568603"/>
                  </a:lnTo>
                  <a:lnTo>
                    <a:pt x="1432771" y="1539102"/>
                  </a:lnTo>
                  <a:lnTo>
                    <a:pt x="1410276" y="1503735"/>
                  </a:lnTo>
                  <a:lnTo>
                    <a:pt x="1395938" y="1463648"/>
                  </a:lnTo>
                  <a:lnTo>
                    <a:pt x="1390903" y="1419987"/>
                  </a:lnTo>
                  <a:lnTo>
                    <a:pt x="1390903" y="943737"/>
                  </a:lnTo>
                  <a:lnTo>
                    <a:pt x="0" y="0"/>
                  </a:lnTo>
                  <a:lnTo>
                    <a:pt x="1390903" y="657987"/>
                  </a:lnTo>
                  <a:close/>
                </a:path>
              </a:pathLst>
            </a:custGeom>
            <a:ln w="12699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763761" y="4745558"/>
            <a:ext cx="26066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We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will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have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dedicated</a:t>
            </a:r>
            <a:endParaRPr sz="180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rebuchet MS"/>
                <a:cs typeface="Trebuchet MS"/>
              </a:rPr>
              <a:t>session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Numpy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4909" y="242945"/>
            <a:ext cx="7089013" cy="59722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Important</a:t>
            </a:r>
            <a:r>
              <a:rPr spc="-215" dirty="0"/>
              <a:t> </a:t>
            </a:r>
            <a:r>
              <a:rPr spc="-55" dirty="0"/>
              <a:t>Packages-</a:t>
            </a:r>
            <a:r>
              <a:rPr spc="-215" dirty="0"/>
              <a:t> </a:t>
            </a:r>
            <a:r>
              <a:rPr spc="-20" dirty="0"/>
              <a:t>Pandas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752348" y="1535478"/>
            <a:ext cx="10982452" cy="3975447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frames</a:t>
            </a:r>
            <a:r>
              <a:rPr spc="-2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data</a:t>
            </a:r>
            <a:r>
              <a:rPr spc="-20" dirty="0"/>
              <a:t> </a:t>
            </a:r>
            <a:r>
              <a:rPr spc="-10" dirty="0"/>
              <a:t>handling</a:t>
            </a:r>
          </a:p>
          <a:p>
            <a:pPr marL="141605" marR="862965" indent="-129539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pc="-10" dirty="0"/>
              <a:t>Pandas</a:t>
            </a:r>
            <a:r>
              <a:rPr spc="-80" dirty="0"/>
              <a:t> </a:t>
            </a:r>
            <a:r>
              <a:rPr dirty="0"/>
              <a:t>has</a:t>
            </a:r>
            <a:r>
              <a:rPr spc="-80" dirty="0"/>
              <a:t> </a:t>
            </a:r>
            <a:r>
              <a:rPr dirty="0"/>
              <a:t>Data</a:t>
            </a:r>
            <a:r>
              <a:rPr spc="-80" dirty="0"/>
              <a:t> </a:t>
            </a:r>
            <a:r>
              <a:rPr dirty="0"/>
              <a:t>structures</a:t>
            </a:r>
            <a:r>
              <a:rPr spc="-55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operations</a:t>
            </a:r>
            <a:r>
              <a:rPr spc="-65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dirty="0"/>
              <a:t>manipulating</a:t>
            </a:r>
            <a:r>
              <a:rPr spc="-70" dirty="0"/>
              <a:t> </a:t>
            </a:r>
            <a:r>
              <a:rPr spc="-10" dirty="0"/>
              <a:t>numerical </a:t>
            </a:r>
            <a:r>
              <a:rPr dirty="0"/>
              <a:t>tables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time</a:t>
            </a:r>
            <a:r>
              <a:rPr spc="-40" dirty="0"/>
              <a:t> </a:t>
            </a:r>
            <a:r>
              <a:rPr spc="-10" dirty="0"/>
              <a:t>series.</a:t>
            </a: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pc="-10" dirty="0"/>
          </a:p>
          <a:p>
            <a:pPr marL="62865" algn="just">
              <a:lnSpc>
                <a:spcPct val="100000"/>
              </a:lnSpc>
            </a:pPr>
            <a:r>
              <a:rPr sz="2300" dirty="0">
                <a:solidFill>
                  <a:srgbClr val="0000CC"/>
                </a:solidFill>
                <a:latin typeface="Consolas"/>
                <a:cs typeface="Consolas"/>
              </a:rPr>
              <a:t>import</a:t>
            </a:r>
            <a:r>
              <a:rPr sz="2300" spc="-30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300" dirty="0">
                <a:solidFill>
                  <a:srgbClr val="0000CC"/>
                </a:solidFill>
                <a:latin typeface="Consolas"/>
                <a:cs typeface="Consolas"/>
              </a:rPr>
              <a:t>pandas</a:t>
            </a:r>
            <a:r>
              <a:rPr sz="2300" spc="-30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300" dirty="0">
                <a:solidFill>
                  <a:srgbClr val="0000CC"/>
                </a:solidFill>
                <a:latin typeface="Consolas"/>
                <a:cs typeface="Consolas"/>
              </a:rPr>
              <a:t>as</a:t>
            </a:r>
            <a:r>
              <a:rPr sz="2300" spc="-25" dirty="0">
                <a:solidFill>
                  <a:srgbClr val="0000CC"/>
                </a:solidFill>
                <a:latin typeface="Consolas"/>
                <a:cs typeface="Consolas"/>
              </a:rPr>
              <a:t> pd</a:t>
            </a:r>
            <a:endParaRPr sz="2300" dirty="0">
              <a:latin typeface="Consolas"/>
              <a:cs typeface="Consolas"/>
            </a:endParaRPr>
          </a:p>
          <a:p>
            <a:pPr marL="62865" marR="3810635" algn="just">
              <a:lnSpc>
                <a:spcPct val="100000"/>
              </a:lnSpc>
              <a:spcBef>
                <a:spcPts val="555"/>
              </a:spcBef>
            </a:pPr>
            <a:r>
              <a:rPr lang="en-US" sz="2300" dirty="0" err="1" smtClean="0">
                <a:solidFill>
                  <a:srgbClr val="0000CC"/>
                </a:solidFill>
                <a:latin typeface="Consolas"/>
                <a:cs typeface="Consolas"/>
              </a:rPr>
              <a:t>Airfoil_data</a:t>
            </a:r>
            <a:r>
              <a:rPr sz="2300" dirty="0" smtClean="0">
                <a:solidFill>
                  <a:srgbClr val="0000CC"/>
                </a:solidFill>
                <a:latin typeface="Consolas"/>
                <a:cs typeface="Consolas"/>
              </a:rPr>
              <a:t>=</a:t>
            </a:r>
            <a:r>
              <a:rPr lang="en-US" sz="2300" spc="-30" dirty="0" smtClean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300" spc="-10" dirty="0" err="1" smtClean="0">
                <a:solidFill>
                  <a:srgbClr val="0000CC"/>
                </a:solidFill>
                <a:latin typeface="Consolas"/>
                <a:cs typeface="Consolas"/>
              </a:rPr>
              <a:t>pd.read_csv</a:t>
            </a:r>
            <a:r>
              <a:rPr sz="2300" spc="-10" dirty="0">
                <a:solidFill>
                  <a:srgbClr val="0000CC"/>
                </a:solidFill>
                <a:latin typeface="Consolas"/>
                <a:cs typeface="Consolas"/>
              </a:rPr>
              <a:t>('C:\\Users\\</a:t>
            </a:r>
            <a:r>
              <a:rPr sz="2300" spc="-10" dirty="0" err="1" smtClean="0">
                <a:solidFill>
                  <a:srgbClr val="0000CC"/>
                </a:solidFill>
                <a:latin typeface="Consolas"/>
                <a:cs typeface="Consolas"/>
              </a:rPr>
              <a:t>v</a:t>
            </a:r>
            <a:r>
              <a:rPr lang="en-US" sz="2300" spc="-10" dirty="0" err="1" smtClean="0">
                <a:solidFill>
                  <a:srgbClr val="0000CC"/>
                </a:solidFill>
                <a:latin typeface="Consolas"/>
                <a:cs typeface="Consolas"/>
              </a:rPr>
              <a:t>iki</a:t>
            </a:r>
            <a:r>
              <a:rPr sz="2300" spc="-10" dirty="0" smtClean="0">
                <a:solidFill>
                  <a:srgbClr val="0000CC"/>
                </a:solidFill>
                <a:latin typeface="Consolas"/>
                <a:cs typeface="Consolas"/>
              </a:rPr>
              <a:t>\\</a:t>
            </a:r>
            <a:r>
              <a:rPr sz="2300" spc="-10" dirty="0">
                <a:solidFill>
                  <a:srgbClr val="0000CC"/>
                </a:solidFill>
                <a:latin typeface="Consolas"/>
                <a:cs typeface="Consolas"/>
              </a:rPr>
              <a:t>Google </a:t>
            </a:r>
            <a:r>
              <a:rPr sz="2300" dirty="0">
                <a:solidFill>
                  <a:srgbClr val="0000CC"/>
                </a:solidFill>
                <a:latin typeface="Consolas"/>
                <a:cs typeface="Consolas"/>
              </a:rPr>
              <a:t>Drive\\Training\\Datasets</a:t>
            </a:r>
            <a:r>
              <a:rPr sz="2300" dirty="0" smtClean="0">
                <a:solidFill>
                  <a:srgbClr val="0000CC"/>
                </a:solidFill>
                <a:latin typeface="Consolas"/>
                <a:cs typeface="Consolas"/>
              </a:rPr>
              <a:t>\\</a:t>
            </a:r>
            <a:r>
              <a:rPr lang="en-US" sz="2300" dirty="0" smtClean="0">
                <a:solidFill>
                  <a:srgbClr val="0000CC"/>
                </a:solidFill>
                <a:latin typeface="Consolas"/>
                <a:cs typeface="Consolas"/>
              </a:rPr>
              <a:t>Airfoil_data</a:t>
            </a:r>
            <a:r>
              <a:rPr sz="2300" spc="-10" dirty="0" smtClean="0">
                <a:solidFill>
                  <a:srgbClr val="0000CC"/>
                </a:solidFill>
                <a:latin typeface="Consolas"/>
                <a:cs typeface="Consolas"/>
              </a:rPr>
              <a:t>.csv</a:t>
            </a:r>
            <a:r>
              <a:rPr sz="2300" spc="-10" dirty="0">
                <a:solidFill>
                  <a:srgbClr val="0000CC"/>
                </a:solidFill>
                <a:latin typeface="Consolas"/>
                <a:cs typeface="Consolas"/>
              </a:rPr>
              <a:t>')</a:t>
            </a:r>
            <a:endParaRPr sz="2300" dirty="0">
              <a:latin typeface="Consolas"/>
              <a:cs typeface="Consolas"/>
            </a:endParaRPr>
          </a:p>
          <a:p>
            <a:pPr marL="62865" algn="just">
              <a:lnSpc>
                <a:spcPts val="2625"/>
              </a:lnSpc>
            </a:pPr>
            <a:r>
              <a:rPr sz="2300" spc="-10" dirty="0" smtClean="0">
                <a:solidFill>
                  <a:srgbClr val="0000CC"/>
                </a:solidFill>
                <a:latin typeface="Consolas"/>
                <a:cs typeface="Consolas"/>
              </a:rPr>
              <a:t>print(</a:t>
            </a:r>
            <a:r>
              <a:rPr lang="en-US" sz="2300" dirty="0" err="1">
                <a:solidFill>
                  <a:srgbClr val="0000CC"/>
                </a:solidFill>
                <a:latin typeface="Consolas"/>
                <a:cs typeface="Consolas"/>
              </a:rPr>
              <a:t>Airfoil_data</a:t>
            </a:r>
            <a:r>
              <a:rPr sz="2300" spc="-10" dirty="0" smtClean="0">
                <a:solidFill>
                  <a:srgbClr val="0000CC"/>
                </a:solidFill>
                <a:latin typeface="Consolas"/>
                <a:cs typeface="Consolas"/>
              </a:rPr>
              <a:t>)</a:t>
            </a:r>
            <a:endParaRPr sz="2300" dirty="0">
              <a:latin typeface="Consolas"/>
              <a:cs typeface="Consola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149718" y="3992626"/>
            <a:ext cx="4439285" cy="1623695"/>
            <a:chOff x="7149718" y="3992626"/>
            <a:chExt cx="4439285" cy="1623695"/>
          </a:xfrm>
        </p:grpSpPr>
        <p:sp>
          <p:nvSpPr>
            <p:cNvPr id="4" name="object 4"/>
            <p:cNvSpPr/>
            <p:nvPr/>
          </p:nvSpPr>
          <p:spPr>
            <a:xfrm>
              <a:off x="7156068" y="3998976"/>
              <a:ext cx="4426585" cy="1610995"/>
            </a:xfrm>
            <a:custGeom>
              <a:avLst/>
              <a:gdLst/>
              <a:ahLst/>
              <a:cxnLst/>
              <a:rect l="l" t="t" r="r" b="b"/>
              <a:pathLst>
                <a:path w="4426584" h="1610995">
                  <a:moveTo>
                    <a:pt x="0" y="0"/>
                  </a:moveTo>
                  <a:lnTo>
                    <a:pt x="1390903" y="943737"/>
                  </a:lnTo>
                  <a:lnTo>
                    <a:pt x="1390903" y="1419987"/>
                  </a:lnTo>
                  <a:lnTo>
                    <a:pt x="1395938" y="1463648"/>
                  </a:lnTo>
                  <a:lnTo>
                    <a:pt x="1410276" y="1503735"/>
                  </a:lnTo>
                  <a:lnTo>
                    <a:pt x="1432771" y="1539102"/>
                  </a:lnTo>
                  <a:lnTo>
                    <a:pt x="1462278" y="1568603"/>
                  </a:lnTo>
                  <a:lnTo>
                    <a:pt x="1497650" y="1591094"/>
                  </a:lnTo>
                  <a:lnTo>
                    <a:pt x="1537741" y="1605428"/>
                  </a:lnTo>
                  <a:lnTo>
                    <a:pt x="1581403" y="1610461"/>
                  </a:lnTo>
                  <a:lnTo>
                    <a:pt x="4235831" y="1610461"/>
                  </a:lnTo>
                  <a:lnTo>
                    <a:pt x="4279493" y="1605428"/>
                  </a:lnTo>
                  <a:lnTo>
                    <a:pt x="4319584" y="1591094"/>
                  </a:lnTo>
                  <a:lnTo>
                    <a:pt x="4354956" y="1568603"/>
                  </a:lnTo>
                  <a:lnTo>
                    <a:pt x="4384463" y="1539102"/>
                  </a:lnTo>
                  <a:lnTo>
                    <a:pt x="4406958" y="1503735"/>
                  </a:lnTo>
                  <a:lnTo>
                    <a:pt x="4421296" y="1463648"/>
                  </a:lnTo>
                  <a:lnTo>
                    <a:pt x="4426331" y="1419987"/>
                  </a:lnTo>
                  <a:lnTo>
                    <a:pt x="4426331" y="657987"/>
                  </a:lnTo>
                  <a:lnTo>
                    <a:pt x="1390903" y="657987"/>
                  </a:lnTo>
                  <a:lnTo>
                    <a:pt x="0" y="0"/>
                  </a:lnTo>
                  <a:close/>
                </a:path>
                <a:path w="4426584" h="1610995">
                  <a:moveTo>
                    <a:pt x="4235831" y="467487"/>
                  </a:moveTo>
                  <a:lnTo>
                    <a:pt x="1581403" y="467487"/>
                  </a:lnTo>
                  <a:lnTo>
                    <a:pt x="1537741" y="472514"/>
                  </a:lnTo>
                  <a:lnTo>
                    <a:pt x="1497650" y="486836"/>
                  </a:lnTo>
                  <a:lnTo>
                    <a:pt x="1462278" y="509314"/>
                  </a:lnTo>
                  <a:lnTo>
                    <a:pt x="1432771" y="538808"/>
                  </a:lnTo>
                  <a:lnTo>
                    <a:pt x="1410276" y="574178"/>
                  </a:lnTo>
                  <a:lnTo>
                    <a:pt x="1395938" y="614284"/>
                  </a:lnTo>
                  <a:lnTo>
                    <a:pt x="1390903" y="657987"/>
                  </a:lnTo>
                  <a:lnTo>
                    <a:pt x="4426331" y="657987"/>
                  </a:lnTo>
                  <a:lnTo>
                    <a:pt x="4421296" y="614284"/>
                  </a:lnTo>
                  <a:lnTo>
                    <a:pt x="4406958" y="574178"/>
                  </a:lnTo>
                  <a:lnTo>
                    <a:pt x="4384463" y="538808"/>
                  </a:lnTo>
                  <a:lnTo>
                    <a:pt x="4354956" y="509314"/>
                  </a:lnTo>
                  <a:lnTo>
                    <a:pt x="4319584" y="486836"/>
                  </a:lnTo>
                  <a:lnTo>
                    <a:pt x="4279493" y="472514"/>
                  </a:lnTo>
                  <a:lnTo>
                    <a:pt x="4235831" y="467487"/>
                  </a:lnTo>
                  <a:close/>
                </a:path>
              </a:pathLst>
            </a:custGeom>
            <a:solidFill>
              <a:srgbClr val="BCE6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56068" y="3998976"/>
              <a:ext cx="4426585" cy="1610995"/>
            </a:xfrm>
            <a:custGeom>
              <a:avLst/>
              <a:gdLst/>
              <a:ahLst/>
              <a:cxnLst/>
              <a:rect l="l" t="t" r="r" b="b"/>
              <a:pathLst>
                <a:path w="4426584" h="1610995">
                  <a:moveTo>
                    <a:pt x="1390903" y="657987"/>
                  </a:moveTo>
                  <a:lnTo>
                    <a:pt x="1395938" y="614284"/>
                  </a:lnTo>
                  <a:lnTo>
                    <a:pt x="1410276" y="574178"/>
                  </a:lnTo>
                  <a:lnTo>
                    <a:pt x="1432771" y="538808"/>
                  </a:lnTo>
                  <a:lnTo>
                    <a:pt x="1462278" y="509314"/>
                  </a:lnTo>
                  <a:lnTo>
                    <a:pt x="1497650" y="486836"/>
                  </a:lnTo>
                  <a:lnTo>
                    <a:pt x="1537741" y="472514"/>
                  </a:lnTo>
                  <a:lnTo>
                    <a:pt x="1581403" y="467487"/>
                  </a:lnTo>
                  <a:lnTo>
                    <a:pt x="1896745" y="467487"/>
                  </a:lnTo>
                  <a:lnTo>
                    <a:pt x="2655697" y="467487"/>
                  </a:lnTo>
                  <a:lnTo>
                    <a:pt x="4235831" y="467487"/>
                  </a:lnTo>
                  <a:lnTo>
                    <a:pt x="4279493" y="472514"/>
                  </a:lnTo>
                  <a:lnTo>
                    <a:pt x="4319584" y="486836"/>
                  </a:lnTo>
                  <a:lnTo>
                    <a:pt x="4354956" y="509314"/>
                  </a:lnTo>
                  <a:lnTo>
                    <a:pt x="4384463" y="538808"/>
                  </a:lnTo>
                  <a:lnTo>
                    <a:pt x="4406958" y="574178"/>
                  </a:lnTo>
                  <a:lnTo>
                    <a:pt x="4421296" y="614284"/>
                  </a:lnTo>
                  <a:lnTo>
                    <a:pt x="4426331" y="657987"/>
                  </a:lnTo>
                  <a:lnTo>
                    <a:pt x="4426331" y="943737"/>
                  </a:lnTo>
                  <a:lnTo>
                    <a:pt x="4426331" y="1419987"/>
                  </a:lnTo>
                  <a:lnTo>
                    <a:pt x="4421296" y="1463648"/>
                  </a:lnTo>
                  <a:lnTo>
                    <a:pt x="4406958" y="1503735"/>
                  </a:lnTo>
                  <a:lnTo>
                    <a:pt x="4384463" y="1539102"/>
                  </a:lnTo>
                  <a:lnTo>
                    <a:pt x="4354956" y="1568603"/>
                  </a:lnTo>
                  <a:lnTo>
                    <a:pt x="4319584" y="1591094"/>
                  </a:lnTo>
                  <a:lnTo>
                    <a:pt x="4279493" y="1605428"/>
                  </a:lnTo>
                  <a:lnTo>
                    <a:pt x="4235831" y="1610461"/>
                  </a:lnTo>
                  <a:lnTo>
                    <a:pt x="2655697" y="1610461"/>
                  </a:lnTo>
                  <a:lnTo>
                    <a:pt x="1896745" y="1610461"/>
                  </a:lnTo>
                  <a:lnTo>
                    <a:pt x="1581403" y="1610461"/>
                  </a:lnTo>
                  <a:lnTo>
                    <a:pt x="1537741" y="1605428"/>
                  </a:lnTo>
                  <a:lnTo>
                    <a:pt x="1497650" y="1591094"/>
                  </a:lnTo>
                  <a:lnTo>
                    <a:pt x="1462278" y="1568603"/>
                  </a:lnTo>
                  <a:lnTo>
                    <a:pt x="1432771" y="1539102"/>
                  </a:lnTo>
                  <a:lnTo>
                    <a:pt x="1410276" y="1503735"/>
                  </a:lnTo>
                  <a:lnTo>
                    <a:pt x="1395938" y="1463648"/>
                  </a:lnTo>
                  <a:lnTo>
                    <a:pt x="1390903" y="1419987"/>
                  </a:lnTo>
                  <a:lnTo>
                    <a:pt x="1390903" y="943737"/>
                  </a:lnTo>
                  <a:lnTo>
                    <a:pt x="0" y="0"/>
                  </a:lnTo>
                  <a:lnTo>
                    <a:pt x="1390903" y="657987"/>
                  </a:lnTo>
                  <a:close/>
                </a:path>
              </a:pathLst>
            </a:custGeom>
            <a:ln w="12699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pc="-40" dirty="0"/>
              <a:t>Important</a:t>
            </a:r>
            <a:r>
              <a:rPr lang="en-IN" spc="-215" dirty="0"/>
              <a:t> </a:t>
            </a:r>
            <a:r>
              <a:rPr lang="en-IN" spc="-55" dirty="0"/>
              <a:t>Packages-</a:t>
            </a:r>
            <a:r>
              <a:rPr lang="en-IN" spc="-215" dirty="0"/>
              <a:t> </a:t>
            </a:r>
            <a:r>
              <a:rPr lang="en-IN" spc="-20" dirty="0"/>
              <a:t>Pandas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2348" y="1535478"/>
            <a:ext cx="10906252" cy="3672800"/>
          </a:xfrm>
        </p:spPr>
        <p:txBody>
          <a:bodyPr/>
          <a:lstStyle/>
          <a:p>
            <a:pPr marL="141605" indent="-128905">
              <a:lnSpc>
                <a:spcPct val="100000"/>
              </a:lnSpc>
              <a:spcBef>
                <a:spcPts val="6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lang="en-IN" dirty="0"/>
              <a:t>Data</a:t>
            </a:r>
            <a:r>
              <a:rPr lang="en-IN" spc="-35" dirty="0"/>
              <a:t> </a:t>
            </a:r>
            <a:r>
              <a:rPr lang="en-IN" dirty="0"/>
              <a:t>frames</a:t>
            </a:r>
            <a:r>
              <a:rPr lang="en-IN" spc="-20" dirty="0"/>
              <a:t> </a:t>
            </a:r>
            <a:r>
              <a:rPr lang="en-IN" dirty="0"/>
              <a:t>and</a:t>
            </a:r>
            <a:r>
              <a:rPr lang="en-IN" spc="-35" dirty="0"/>
              <a:t> </a:t>
            </a:r>
            <a:r>
              <a:rPr lang="en-IN" dirty="0"/>
              <a:t>data</a:t>
            </a:r>
            <a:r>
              <a:rPr lang="en-IN" spc="-20" dirty="0"/>
              <a:t> </a:t>
            </a:r>
            <a:r>
              <a:rPr lang="en-IN" spc="-10" dirty="0"/>
              <a:t>handling</a:t>
            </a:r>
          </a:p>
          <a:p>
            <a:pPr marL="141605" marR="862965" indent="-129539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lang="en-IN" spc="-10" dirty="0"/>
              <a:t>Pandas</a:t>
            </a:r>
            <a:r>
              <a:rPr lang="en-IN" spc="-80" dirty="0"/>
              <a:t> </a:t>
            </a:r>
            <a:r>
              <a:rPr lang="en-IN" dirty="0"/>
              <a:t>has</a:t>
            </a:r>
            <a:r>
              <a:rPr lang="en-IN" spc="-80" dirty="0"/>
              <a:t> </a:t>
            </a:r>
            <a:r>
              <a:rPr lang="en-IN" dirty="0"/>
              <a:t>Data</a:t>
            </a:r>
            <a:r>
              <a:rPr lang="en-IN" spc="-80" dirty="0"/>
              <a:t> </a:t>
            </a:r>
            <a:r>
              <a:rPr lang="en-IN" dirty="0"/>
              <a:t>structures</a:t>
            </a:r>
            <a:r>
              <a:rPr lang="en-IN" spc="-55" dirty="0"/>
              <a:t> </a:t>
            </a:r>
            <a:r>
              <a:rPr lang="en-IN" dirty="0"/>
              <a:t>and</a:t>
            </a:r>
            <a:r>
              <a:rPr lang="en-IN" spc="-85" dirty="0"/>
              <a:t> </a:t>
            </a:r>
            <a:r>
              <a:rPr lang="en-IN" dirty="0"/>
              <a:t>operations</a:t>
            </a:r>
            <a:r>
              <a:rPr lang="en-IN" spc="-65" dirty="0"/>
              <a:t> </a:t>
            </a:r>
            <a:r>
              <a:rPr lang="en-IN" dirty="0"/>
              <a:t>for</a:t>
            </a:r>
            <a:r>
              <a:rPr lang="en-IN" spc="-80" dirty="0"/>
              <a:t> </a:t>
            </a:r>
            <a:r>
              <a:rPr lang="en-IN" dirty="0"/>
              <a:t>manipulating</a:t>
            </a:r>
            <a:r>
              <a:rPr lang="en-IN" spc="-70" dirty="0"/>
              <a:t> </a:t>
            </a:r>
            <a:r>
              <a:rPr lang="en-IN" spc="-10" dirty="0"/>
              <a:t>numerical </a:t>
            </a:r>
            <a:r>
              <a:rPr lang="en-IN" dirty="0"/>
              <a:t>tables</a:t>
            </a:r>
            <a:r>
              <a:rPr lang="en-IN" spc="-40" dirty="0"/>
              <a:t> </a:t>
            </a:r>
            <a:r>
              <a:rPr lang="en-IN" dirty="0"/>
              <a:t>and</a:t>
            </a:r>
            <a:r>
              <a:rPr lang="en-IN" spc="-40" dirty="0"/>
              <a:t> </a:t>
            </a:r>
            <a:r>
              <a:rPr lang="en-IN" dirty="0"/>
              <a:t>time</a:t>
            </a:r>
            <a:r>
              <a:rPr lang="en-IN" spc="-40" dirty="0"/>
              <a:t> </a:t>
            </a:r>
            <a:r>
              <a:rPr lang="en-IN" spc="-10" dirty="0"/>
              <a:t>series.</a:t>
            </a: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pc="-10" dirty="0"/>
          </a:p>
          <a:p>
            <a:pPr marL="520065" lvl="1" algn="just"/>
            <a:r>
              <a:rPr lang="en-IN" dirty="0">
                <a:solidFill>
                  <a:srgbClr val="0000CC"/>
                </a:solidFill>
                <a:latin typeface="Consolas"/>
                <a:cs typeface="Consolas"/>
              </a:rPr>
              <a:t>import</a:t>
            </a:r>
            <a:r>
              <a:rPr lang="en-IN" spc="-30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lang="en-IN" dirty="0">
                <a:solidFill>
                  <a:srgbClr val="0000CC"/>
                </a:solidFill>
                <a:latin typeface="Consolas"/>
                <a:cs typeface="Consolas"/>
              </a:rPr>
              <a:t>pandas</a:t>
            </a:r>
            <a:r>
              <a:rPr lang="en-IN" spc="-30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lang="en-IN" dirty="0">
                <a:solidFill>
                  <a:srgbClr val="0000CC"/>
                </a:solidFill>
                <a:latin typeface="Consolas"/>
                <a:cs typeface="Consolas"/>
              </a:rPr>
              <a:t>as</a:t>
            </a:r>
            <a:r>
              <a:rPr lang="en-IN" spc="-25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lang="en-IN" spc="-25" dirty="0" err="1">
                <a:solidFill>
                  <a:srgbClr val="0000CC"/>
                </a:solidFill>
                <a:latin typeface="Consolas"/>
                <a:cs typeface="Consolas"/>
              </a:rPr>
              <a:t>pd</a:t>
            </a:r>
            <a:endParaRPr lang="en-IN" dirty="0">
              <a:latin typeface="Consolas"/>
              <a:cs typeface="Consolas"/>
            </a:endParaRPr>
          </a:p>
          <a:p>
            <a:pPr marL="520065" marR="3810635" lvl="1" algn="just">
              <a:spcBef>
                <a:spcPts val="555"/>
              </a:spcBef>
            </a:pPr>
            <a:r>
              <a:rPr lang="en-IN" dirty="0" err="1" smtClean="0">
                <a:solidFill>
                  <a:srgbClr val="0000CC"/>
                </a:solidFill>
                <a:latin typeface="Consolas"/>
                <a:cs typeface="Consolas"/>
              </a:rPr>
              <a:t>Airfoil_data</a:t>
            </a:r>
            <a:r>
              <a:rPr lang="en-IN" dirty="0" smtClean="0">
                <a:solidFill>
                  <a:srgbClr val="0000CC"/>
                </a:solidFill>
                <a:latin typeface="Consolas"/>
                <a:cs typeface="Consolas"/>
              </a:rPr>
              <a:t> =</a:t>
            </a:r>
            <a:r>
              <a:rPr lang="en-IN" spc="-30" dirty="0" smtClean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lang="en-IN" spc="-10" dirty="0" err="1" smtClean="0">
                <a:solidFill>
                  <a:srgbClr val="0000CC"/>
                </a:solidFill>
                <a:latin typeface="Consolas"/>
                <a:cs typeface="Consolas"/>
              </a:rPr>
              <a:t>pd.read_csv</a:t>
            </a:r>
            <a:r>
              <a:rPr lang="en-IN" spc="-10" dirty="0">
                <a:solidFill>
                  <a:srgbClr val="0000CC"/>
                </a:solidFill>
                <a:latin typeface="Consolas"/>
                <a:cs typeface="Consolas"/>
              </a:rPr>
              <a:t>('C:\\Users\\</a:t>
            </a:r>
            <a:r>
              <a:rPr lang="en-IN" spc="-10" dirty="0" err="1">
                <a:solidFill>
                  <a:srgbClr val="0000CC"/>
                </a:solidFill>
                <a:latin typeface="Consolas"/>
                <a:cs typeface="Consolas"/>
              </a:rPr>
              <a:t>viki</a:t>
            </a:r>
            <a:r>
              <a:rPr lang="en-IN" spc="-10" dirty="0">
                <a:solidFill>
                  <a:srgbClr val="0000CC"/>
                </a:solidFill>
                <a:latin typeface="Consolas"/>
                <a:cs typeface="Consolas"/>
              </a:rPr>
              <a:t>\\Google </a:t>
            </a:r>
            <a:r>
              <a:rPr lang="en-IN" dirty="0">
                <a:solidFill>
                  <a:srgbClr val="0000CC"/>
                </a:solidFill>
                <a:latin typeface="Consolas"/>
                <a:cs typeface="Consolas"/>
              </a:rPr>
              <a:t>Drive\\Training\\Datasets\\Airfoil_data</a:t>
            </a:r>
            <a:r>
              <a:rPr lang="en-IN" spc="-10" dirty="0">
                <a:solidFill>
                  <a:srgbClr val="0000CC"/>
                </a:solidFill>
                <a:latin typeface="Consolas"/>
                <a:cs typeface="Consolas"/>
              </a:rPr>
              <a:t>.csv</a:t>
            </a:r>
            <a:r>
              <a:rPr lang="en-IN" spc="-10" dirty="0" smtClean="0">
                <a:solidFill>
                  <a:srgbClr val="0000CC"/>
                </a:solidFill>
                <a:latin typeface="Consolas"/>
                <a:cs typeface="Consolas"/>
              </a:rPr>
              <a:t>')</a:t>
            </a:r>
          </a:p>
          <a:p>
            <a:pPr marL="520065" marR="3810635" lvl="1" algn="just">
              <a:spcBef>
                <a:spcPts val="555"/>
              </a:spcBef>
            </a:pPr>
            <a:endParaRPr lang="en-IN" dirty="0">
              <a:latin typeface="Consolas"/>
              <a:cs typeface="Consolas"/>
            </a:endParaRPr>
          </a:p>
          <a:p>
            <a:pPr marL="520065" lvl="1" algn="just">
              <a:lnSpc>
                <a:spcPts val="2625"/>
              </a:lnSpc>
            </a:pPr>
            <a:r>
              <a:rPr lang="en-IN" spc="-10" dirty="0">
                <a:solidFill>
                  <a:srgbClr val="0000CC"/>
                </a:solidFill>
                <a:latin typeface="Consolas"/>
                <a:cs typeface="Consolas"/>
              </a:rPr>
              <a:t>print(</a:t>
            </a:r>
            <a:r>
              <a:rPr lang="en-IN" dirty="0" err="1">
                <a:solidFill>
                  <a:srgbClr val="0000CC"/>
                </a:solidFill>
                <a:latin typeface="Consolas"/>
                <a:cs typeface="Consolas"/>
              </a:rPr>
              <a:t>Airfoil_data</a:t>
            </a:r>
            <a:r>
              <a:rPr lang="en-IN" spc="-10" dirty="0">
                <a:solidFill>
                  <a:srgbClr val="0000CC"/>
                </a:solidFill>
                <a:latin typeface="Consolas"/>
                <a:cs typeface="Consolas"/>
              </a:rPr>
              <a:t>)</a:t>
            </a:r>
            <a:endParaRPr lang="en-IN" dirty="0">
              <a:latin typeface="Consolas"/>
              <a:cs typeface="Consola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1812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Important</a:t>
            </a:r>
            <a:r>
              <a:rPr spc="-215" dirty="0"/>
              <a:t> </a:t>
            </a:r>
            <a:r>
              <a:rPr spc="-55" dirty="0"/>
              <a:t>Packages-</a:t>
            </a:r>
            <a:r>
              <a:rPr spc="-215" dirty="0"/>
              <a:t> </a:t>
            </a:r>
            <a:r>
              <a:rPr spc="-35" dirty="0"/>
              <a:t>Matplotlib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1040" y="1574291"/>
            <a:ext cx="4504055" cy="426720"/>
          </a:xfrm>
          <a:prstGeom prst="rect">
            <a:avLst/>
          </a:prstGeom>
          <a:solidFill>
            <a:srgbClr val="F7F7F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20"/>
              </a:lnSpc>
            </a:pPr>
            <a:r>
              <a:rPr sz="2800" dirty="0">
                <a:solidFill>
                  <a:srgbClr val="AE00DB"/>
                </a:solidFill>
                <a:latin typeface="Consolas"/>
                <a:cs typeface="Consolas"/>
              </a:rPr>
              <a:t>import</a:t>
            </a:r>
            <a:r>
              <a:rPr sz="2800" spc="-100" dirty="0">
                <a:solidFill>
                  <a:srgbClr val="AE00DB"/>
                </a:solidFill>
                <a:latin typeface="Consolas"/>
                <a:cs typeface="Consolas"/>
              </a:rPr>
              <a:t> </a:t>
            </a:r>
            <a:r>
              <a:rPr sz="2800" dirty="0">
                <a:latin typeface="Consolas"/>
                <a:cs typeface="Consolas"/>
              </a:rPr>
              <a:t>matplotlib</a:t>
            </a:r>
            <a:r>
              <a:rPr sz="2800" spc="-110" dirty="0"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AE00DB"/>
                </a:solidFill>
                <a:latin typeface="Consolas"/>
                <a:cs typeface="Consolas"/>
              </a:rPr>
              <a:t>as</a:t>
            </a:r>
            <a:r>
              <a:rPr sz="2800" spc="-100" dirty="0">
                <a:solidFill>
                  <a:srgbClr val="AE00DB"/>
                </a:solidFill>
                <a:latin typeface="Consolas"/>
                <a:cs typeface="Consolas"/>
              </a:rPr>
              <a:t> </a:t>
            </a:r>
            <a:r>
              <a:rPr sz="2800" spc="-25" dirty="0">
                <a:latin typeface="Consolas"/>
                <a:cs typeface="Consolas"/>
              </a:rPr>
              <a:t>mp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1040" y="2001011"/>
            <a:ext cx="10043160" cy="397545"/>
          </a:xfrm>
          <a:prstGeom prst="rect">
            <a:avLst/>
          </a:prstGeom>
          <a:solidFill>
            <a:srgbClr val="F7F7F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20"/>
              </a:lnSpc>
            </a:pPr>
            <a:r>
              <a:rPr sz="2800" spc="-10" dirty="0" err="1" smtClean="0">
                <a:latin typeface="Consolas"/>
                <a:cs typeface="Consolas"/>
              </a:rPr>
              <a:t>mp.pyplot.scatter</a:t>
            </a:r>
            <a:r>
              <a:rPr sz="2800" spc="-10" dirty="0" smtClean="0">
                <a:latin typeface="Consolas"/>
                <a:cs typeface="Consolas"/>
              </a:rPr>
              <a:t>(</a:t>
            </a:r>
            <a:r>
              <a:rPr lang="en-US" sz="2800" spc="-10" dirty="0" err="1" smtClean="0">
                <a:latin typeface="Consolas"/>
                <a:cs typeface="Consolas"/>
              </a:rPr>
              <a:t>airfoil_data</a:t>
            </a:r>
            <a:r>
              <a:rPr sz="2800" spc="-10" dirty="0" smtClean="0">
                <a:latin typeface="Consolas"/>
                <a:cs typeface="Consolas"/>
              </a:rPr>
              <a:t>[</a:t>
            </a:r>
            <a:r>
              <a:rPr sz="2800" spc="-10" dirty="0" smtClean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lang="en-US" sz="2800" spc="-10" dirty="0" smtClean="0">
                <a:solidFill>
                  <a:srgbClr val="A21515"/>
                </a:solidFill>
                <a:latin typeface="Consolas"/>
                <a:cs typeface="Consolas"/>
              </a:rPr>
              <a:t>AOA</a:t>
            </a:r>
            <a:r>
              <a:rPr sz="2800" spc="-10" dirty="0" smtClean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2800" spc="-10" dirty="0" smtClean="0">
                <a:latin typeface="Consolas"/>
                <a:cs typeface="Consolas"/>
              </a:rPr>
              <a:t>],</a:t>
            </a:r>
            <a:r>
              <a:rPr sz="2800" spc="-10" dirty="0">
                <a:latin typeface="Consolas"/>
                <a:cs typeface="Consolas"/>
              </a:rPr>
              <a:t>bank</a:t>
            </a:r>
            <a:r>
              <a:rPr sz="2800" spc="-10" dirty="0" smtClean="0">
                <a:latin typeface="Consolas"/>
                <a:cs typeface="Consolas"/>
              </a:rPr>
              <a:t>[</a:t>
            </a:r>
            <a:r>
              <a:rPr sz="2800" spc="-10" dirty="0" smtClean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lang="en-US" sz="2800" spc="-10" dirty="0" smtClean="0">
                <a:solidFill>
                  <a:srgbClr val="A21515"/>
                </a:solidFill>
                <a:latin typeface="Consolas"/>
                <a:cs typeface="Consolas"/>
              </a:rPr>
              <a:t>CL</a:t>
            </a:r>
            <a:r>
              <a:rPr sz="2800" spc="-10" dirty="0" smtClean="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sz="2800" spc="-10" dirty="0" smtClean="0">
                <a:latin typeface="Consolas"/>
                <a:cs typeface="Consolas"/>
              </a:rPr>
              <a:t>])</a:t>
            </a:r>
            <a:endParaRPr sz="2800" dirty="0">
              <a:latin typeface="Consolas"/>
              <a:cs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Important</a:t>
            </a:r>
            <a:r>
              <a:rPr spc="-195" dirty="0"/>
              <a:t> </a:t>
            </a:r>
            <a:r>
              <a:rPr spc="-55" dirty="0"/>
              <a:t>Packages-</a:t>
            </a:r>
            <a:r>
              <a:rPr spc="-195" dirty="0"/>
              <a:t> </a:t>
            </a:r>
            <a:r>
              <a:rPr spc="-70" dirty="0"/>
              <a:t>Scikit-</a:t>
            </a:r>
            <a:r>
              <a:rPr spc="-10" dirty="0"/>
              <a:t>Learn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64589"/>
            <a:ext cx="8597265" cy="2096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0970" indent="-128270">
              <a:lnSpc>
                <a:spcPts val="2390"/>
              </a:lnSpc>
              <a:spcBef>
                <a:spcPts val="105"/>
              </a:spcBef>
              <a:buClr>
                <a:srgbClr val="4E67C7"/>
              </a:buClr>
              <a:buFont typeface="Arial MT"/>
              <a:buChar char="•"/>
              <a:tabLst>
                <a:tab pos="140970" algn="l"/>
              </a:tabLst>
            </a:pPr>
            <a:r>
              <a:rPr sz="2000" dirty="0">
                <a:latin typeface="Trebuchet MS"/>
                <a:cs typeface="Trebuchet MS"/>
              </a:rPr>
              <a:t>Machine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learning</a:t>
            </a:r>
            <a:r>
              <a:rPr sz="2000" spc="-6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algorithms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made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easy</a:t>
            </a:r>
            <a:endParaRPr sz="2000" dirty="0">
              <a:latin typeface="Trebuchet MS"/>
              <a:cs typeface="Trebuchet MS"/>
            </a:endParaRPr>
          </a:p>
          <a:p>
            <a:pPr marL="62865" marR="5730875">
              <a:lnSpc>
                <a:spcPts val="2400"/>
              </a:lnSpc>
              <a:spcBef>
                <a:spcPts val="70"/>
              </a:spcBef>
            </a:pP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import</a:t>
            </a:r>
            <a:r>
              <a:rPr sz="2000" spc="-30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sklearn</a:t>
            </a:r>
            <a:r>
              <a:rPr sz="2000" spc="-10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as</a:t>
            </a:r>
            <a:r>
              <a:rPr sz="2000" spc="-15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solidFill>
                  <a:srgbClr val="0000CC"/>
                </a:solidFill>
                <a:latin typeface="Consolas"/>
                <a:cs typeface="Consolas"/>
              </a:rPr>
              <a:t>sk </a:t>
            </a: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import</a:t>
            </a:r>
            <a:r>
              <a:rPr sz="2000" spc="-20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pandas</a:t>
            </a:r>
            <a:r>
              <a:rPr sz="2000" spc="-5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as</a:t>
            </a:r>
            <a:r>
              <a:rPr sz="2000" spc="-5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spc="-25" dirty="0">
                <a:solidFill>
                  <a:srgbClr val="0000CC"/>
                </a:solidFill>
                <a:latin typeface="Consolas"/>
                <a:cs typeface="Consolas"/>
              </a:rPr>
              <a:t>pd</a:t>
            </a:r>
            <a:endParaRPr sz="2000" dirty="0">
              <a:latin typeface="Consolas"/>
              <a:cs typeface="Consolas"/>
            </a:endParaRPr>
          </a:p>
          <a:p>
            <a:pPr marL="62865">
              <a:lnSpc>
                <a:spcPts val="2160"/>
              </a:lnSpc>
              <a:spcBef>
                <a:spcPts val="2320"/>
              </a:spcBef>
            </a:pP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air</a:t>
            </a:r>
            <a:r>
              <a:rPr sz="2000" spc="-10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= </a:t>
            </a:r>
            <a:r>
              <a:rPr sz="2000" spc="-10" dirty="0">
                <a:solidFill>
                  <a:srgbClr val="0000CC"/>
                </a:solidFill>
                <a:latin typeface="Consolas"/>
                <a:cs typeface="Consolas"/>
              </a:rPr>
              <a:t>pd.read_csv("D:\\Google</a:t>
            </a:r>
            <a:endParaRPr sz="2000" dirty="0">
              <a:latin typeface="Consolas"/>
              <a:cs typeface="Consolas"/>
            </a:endParaRPr>
          </a:p>
          <a:p>
            <a:pPr marL="62865">
              <a:lnSpc>
                <a:spcPts val="2160"/>
              </a:lnSpc>
            </a:pPr>
            <a:r>
              <a:rPr sz="2000" spc="-10" dirty="0">
                <a:solidFill>
                  <a:srgbClr val="0000CC"/>
                </a:solidFill>
                <a:latin typeface="Consolas"/>
                <a:cs typeface="Consolas"/>
              </a:rPr>
              <a:t>Drive\\Training\\Datasets\\AirPassengers\\AirPassengers.csv")</a:t>
            </a:r>
            <a:endParaRPr sz="2000" dirty="0">
              <a:latin typeface="Consolas"/>
              <a:cs typeface="Consolas"/>
            </a:endParaRPr>
          </a:p>
          <a:p>
            <a:pPr marL="62865">
              <a:lnSpc>
                <a:spcPct val="100000"/>
              </a:lnSpc>
            </a:pPr>
            <a:r>
              <a:rPr sz="2000" spc="-25" dirty="0">
                <a:solidFill>
                  <a:srgbClr val="0000CC"/>
                </a:solidFill>
                <a:latin typeface="Consolas"/>
                <a:cs typeface="Consolas"/>
              </a:rPr>
              <a:t>air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2640" y="3939921"/>
            <a:ext cx="756920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from</a:t>
            </a:r>
            <a:r>
              <a:rPr sz="2000" spc="-30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sklearn.linear_model</a:t>
            </a:r>
            <a:r>
              <a:rPr sz="2000" spc="-30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import</a:t>
            </a:r>
            <a:r>
              <a:rPr sz="2000" spc="-35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00CC"/>
                </a:solidFill>
                <a:latin typeface="Consolas"/>
                <a:cs typeface="Consolas"/>
              </a:rPr>
              <a:t>LinearRegression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lr</a:t>
            </a:r>
            <a:r>
              <a:rPr sz="2000" spc="5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=</a:t>
            </a:r>
            <a:r>
              <a:rPr sz="2000" spc="-10" dirty="0">
                <a:solidFill>
                  <a:srgbClr val="0000CC"/>
                </a:solidFill>
                <a:latin typeface="Consolas"/>
                <a:cs typeface="Consolas"/>
              </a:rPr>
              <a:t> LinearRegression()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0000CC"/>
                </a:solidFill>
                <a:latin typeface="Consolas"/>
                <a:cs typeface="Consolas"/>
              </a:rPr>
              <a:t>lr.fit(air[["Promotion_Budget"]],</a:t>
            </a:r>
            <a:r>
              <a:rPr sz="2000" spc="-100" dirty="0">
                <a:solidFill>
                  <a:srgbClr val="0000CC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00CC"/>
                </a:solidFill>
                <a:latin typeface="Consolas"/>
                <a:cs typeface="Consolas"/>
              </a:rPr>
              <a:t>air[["Passengers"]])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2640" y="5159502"/>
            <a:ext cx="282067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0000CC"/>
                </a:solidFill>
                <a:latin typeface="Consolas"/>
                <a:cs typeface="Consolas"/>
              </a:rPr>
              <a:t>#Coefficients print(lr.coef_) print(lr.intercept_)</a:t>
            </a:r>
            <a:endParaRPr sz="2000">
              <a:latin typeface="Consolas"/>
              <a:cs typeface="Consola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441945" y="3640963"/>
            <a:ext cx="4439285" cy="1623695"/>
            <a:chOff x="7441945" y="3640963"/>
            <a:chExt cx="4439285" cy="1623695"/>
          </a:xfrm>
        </p:grpSpPr>
        <p:sp>
          <p:nvSpPr>
            <p:cNvPr id="7" name="object 7"/>
            <p:cNvSpPr/>
            <p:nvPr/>
          </p:nvSpPr>
          <p:spPr>
            <a:xfrm>
              <a:off x="7448295" y="3647313"/>
              <a:ext cx="4426585" cy="1610995"/>
            </a:xfrm>
            <a:custGeom>
              <a:avLst/>
              <a:gdLst/>
              <a:ahLst/>
              <a:cxnLst/>
              <a:rect l="l" t="t" r="r" b="b"/>
              <a:pathLst>
                <a:path w="4426584" h="1610995">
                  <a:moveTo>
                    <a:pt x="0" y="0"/>
                  </a:moveTo>
                  <a:lnTo>
                    <a:pt x="1390903" y="943737"/>
                  </a:lnTo>
                  <a:lnTo>
                    <a:pt x="1390903" y="1419987"/>
                  </a:lnTo>
                  <a:lnTo>
                    <a:pt x="1395938" y="1463649"/>
                  </a:lnTo>
                  <a:lnTo>
                    <a:pt x="1410276" y="1503740"/>
                  </a:lnTo>
                  <a:lnTo>
                    <a:pt x="1432771" y="1539112"/>
                  </a:lnTo>
                  <a:lnTo>
                    <a:pt x="1462278" y="1568619"/>
                  </a:lnTo>
                  <a:lnTo>
                    <a:pt x="1497650" y="1591114"/>
                  </a:lnTo>
                  <a:lnTo>
                    <a:pt x="1537741" y="1605452"/>
                  </a:lnTo>
                  <a:lnTo>
                    <a:pt x="1581403" y="1610487"/>
                  </a:lnTo>
                  <a:lnTo>
                    <a:pt x="4235831" y="1610487"/>
                  </a:lnTo>
                  <a:lnTo>
                    <a:pt x="4279493" y="1605452"/>
                  </a:lnTo>
                  <a:lnTo>
                    <a:pt x="4319584" y="1591114"/>
                  </a:lnTo>
                  <a:lnTo>
                    <a:pt x="4354956" y="1568619"/>
                  </a:lnTo>
                  <a:lnTo>
                    <a:pt x="4384463" y="1539112"/>
                  </a:lnTo>
                  <a:lnTo>
                    <a:pt x="4406958" y="1503740"/>
                  </a:lnTo>
                  <a:lnTo>
                    <a:pt x="4421296" y="1463649"/>
                  </a:lnTo>
                  <a:lnTo>
                    <a:pt x="4426331" y="1419987"/>
                  </a:lnTo>
                  <a:lnTo>
                    <a:pt x="4426331" y="657987"/>
                  </a:lnTo>
                  <a:lnTo>
                    <a:pt x="1390903" y="657987"/>
                  </a:lnTo>
                  <a:lnTo>
                    <a:pt x="0" y="0"/>
                  </a:lnTo>
                  <a:close/>
                </a:path>
                <a:path w="4426584" h="1610995">
                  <a:moveTo>
                    <a:pt x="4235831" y="467487"/>
                  </a:moveTo>
                  <a:lnTo>
                    <a:pt x="1581403" y="467487"/>
                  </a:lnTo>
                  <a:lnTo>
                    <a:pt x="1537741" y="472521"/>
                  </a:lnTo>
                  <a:lnTo>
                    <a:pt x="1497650" y="486859"/>
                  </a:lnTo>
                  <a:lnTo>
                    <a:pt x="1462278" y="509354"/>
                  </a:lnTo>
                  <a:lnTo>
                    <a:pt x="1432771" y="538861"/>
                  </a:lnTo>
                  <a:lnTo>
                    <a:pt x="1410276" y="574233"/>
                  </a:lnTo>
                  <a:lnTo>
                    <a:pt x="1395938" y="614324"/>
                  </a:lnTo>
                  <a:lnTo>
                    <a:pt x="1390903" y="657987"/>
                  </a:lnTo>
                  <a:lnTo>
                    <a:pt x="4426331" y="657987"/>
                  </a:lnTo>
                  <a:lnTo>
                    <a:pt x="4421296" y="614324"/>
                  </a:lnTo>
                  <a:lnTo>
                    <a:pt x="4406958" y="574233"/>
                  </a:lnTo>
                  <a:lnTo>
                    <a:pt x="4384463" y="538861"/>
                  </a:lnTo>
                  <a:lnTo>
                    <a:pt x="4354956" y="509354"/>
                  </a:lnTo>
                  <a:lnTo>
                    <a:pt x="4319584" y="486859"/>
                  </a:lnTo>
                  <a:lnTo>
                    <a:pt x="4279493" y="472521"/>
                  </a:lnTo>
                  <a:lnTo>
                    <a:pt x="4235831" y="467487"/>
                  </a:lnTo>
                  <a:close/>
                </a:path>
              </a:pathLst>
            </a:custGeom>
            <a:solidFill>
              <a:srgbClr val="BCE6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48295" y="3647313"/>
              <a:ext cx="4426585" cy="1610995"/>
            </a:xfrm>
            <a:custGeom>
              <a:avLst/>
              <a:gdLst/>
              <a:ahLst/>
              <a:cxnLst/>
              <a:rect l="l" t="t" r="r" b="b"/>
              <a:pathLst>
                <a:path w="4426584" h="1610995">
                  <a:moveTo>
                    <a:pt x="1390903" y="657987"/>
                  </a:moveTo>
                  <a:lnTo>
                    <a:pt x="1395938" y="614324"/>
                  </a:lnTo>
                  <a:lnTo>
                    <a:pt x="1410276" y="574233"/>
                  </a:lnTo>
                  <a:lnTo>
                    <a:pt x="1432771" y="538861"/>
                  </a:lnTo>
                  <a:lnTo>
                    <a:pt x="1462278" y="509354"/>
                  </a:lnTo>
                  <a:lnTo>
                    <a:pt x="1497650" y="486859"/>
                  </a:lnTo>
                  <a:lnTo>
                    <a:pt x="1537741" y="472521"/>
                  </a:lnTo>
                  <a:lnTo>
                    <a:pt x="1581403" y="467487"/>
                  </a:lnTo>
                  <a:lnTo>
                    <a:pt x="1896745" y="467487"/>
                  </a:lnTo>
                  <a:lnTo>
                    <a:pt x="2655697" y="467487"/>
                  </a:lnTo>
                  <a:lnTo>
                    <a:pt x="4235831" y="467487"/>
                  </a:lnTo>
                  <a:lnTo>
                    <a:pt x="4279493" y="472521"/>
                  </a:lnTo>
                  <a:lnTo>
                    <a:pt x="4319584" y="486859"/>
                  </a:lnTo>
                  <a:lnTo>
                    <a:pt x="4354956" y="509354"/>
                  </a:lnTo>
                  <a:lnTo>
                    <a:pt x="4384463" y="538861"/>
                  </a:lnTo>
                  <a:lnTo>
                    <a:pt x="4406958" y="574233"/>
                  </a:lnTo>
                  <a:lnTo>
                    <a:pt x="4421296" y="614324"/>
                  </a:lnTo>
                  <a:lnTo>
                    <a:pt x="4426331" y="657987"/>
                  </a:lnTo>
                  <a:lnTo>
                    <a:pt x="4426331" y="943737"/>
                  </a:lnTo>
                  <a:lnTo>
                    <a:pt x="4426331" y="1419987"/>
                  </a:lnTo>
                  <a:lnTo>
                    <a:pt x="4421296" y="1463649"/>
                  </a:lnTo>
                  <a:lnTo>
                    <a:pt x="4406958" y="1503740"/>
                  </a:lnTo>
                  <a:lnTo>
                    <a:pt x="4384463" y="1539112"/>
                  </a:lnTo>
                  <a:lnTo>
                    <a:pt x="4354956" y="1568619"/>
                  </a:lnTo>
                  <a:lnTo>
                    <a:pt x="4319584" y="1591114"/>
                  </a:lnTo>
                  <a:lnTo>
                    <a:pt x="4279493" y="1605452"/>
                  </a:lnTo>
                  <a:lnTo>
                    <a:pt x="4235831" y="1610487"/>
                  </a:lnTo>
                  <a:lnTo>
                    <a:pt x="2655697" y="1610487"/>
                  </a:lnTo>
                  <a:lnTo>
                    <a:pt x="1896745" y="1610487"/>
                  </a:lnTo>
                  <a:lnTo>
                    <a:pt x="1581403" y="1610487"/>
                  </a:lnTo>
                  <a:lnTo>
                    <a:pt x="1537741" y="1605452"/>
                  </a:lnTo>
                  <a:lnTo>
                    <a:pt x="1497650" y="1591114"/>
                  </a:lnTo>
                  <a:lnTo>
                    <a:pt x="1462278" y="1568619"/>
                  </a:lnTo>
                  <a:lnTo>
                    <a:pt x="1432771" y="1539112"/>
                  </a:lnTo>
                  <a:lnTo>
                    <a:pt x="1410276" y="1503740"/>
                  </a:lnTo>
                  <a:lnTo>
                    <a:pt x="1395938" y="1463649"/>
                  </a:lnTo>
                  <a:lnTo>
                    <a:pt x="1390903" y="1419987"/>
                  </a:lnTo>
                  <a:lnTo>
                    <a:pt x="1390903" y="943737"/>
                  </a:lnTo>
                  <a:lnTo>
                    <a:pt x="0" y="0"/>
                  </a:lnTo>
                  <a:lnTo>
                    <a:pt x="1390903" y="657987"/>
                  </a:lnTo>
                  <a:close/>
                </a:path>
              </a:pathLst>
            </a:custGeom>
            <a:ln w="1270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998077" y="4393768"/>
            <a:ext cx="272986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rebuchet MS"/>
                <a:cs typeface="Trebuchet MS"/>
              </a:rPr>
              <a:t>We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will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be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using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this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lang="en-US" sz="1800" dirty="0" smtClean="0">
                <a:latin typeface="Trebuchet MS"/>
                <a:cs typeface="Trebuchet MS"/>
              </a:rPr>
              <a:t>for</a:t>
            </a:r>
            <a:r>
              <a:rPr sz="1800" spc="-35" dirty="0" smtClean="0">
                <a:latin typeface="Trebuchet MS"/>
                <a:cs typeface="Trebuchet MS"/>
              </a:rPr>
              <a:t> </a:t>
            </a:r>
            <a:r>
              <a:rPr sz="1800" spc="-25" dirty="0" smtClean="0">
                <a:latin typeface="Trebuchet MS"/>
                <a:cs typeface="Trebuchet MS"/>
              </a:rPr>
              <a:t>ML</a:t>
            </a:r>
            <a:endParaRPr sz="18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Get</a:t>
            </a:r>
            <a:r>
              <a:rPr spc="-235" dirty="0"/>
              <a:t> </a:t>
            </a:r>
            <a:r>
              <a:rPr spc="-30" dirty="0"/>
              <a:t>help</a:t>
            </a:r>
            <a:r>
              <a:rPr spc="-220" dirty="0"/>
              <a:t> </a:t>
            </a:r>
            <a:r>
              <a:rPr dirty="0"/>
              <a:t>on</a:t>
            </a:r>
            <a:r>
              <a:rPr spc="-225" dirty="0"/>
              <a:t> </a:t>
            </a:r>
            <a:r>
              <a:rPr spc="-25" dirty="0"/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479"/>
            <a:ext cx="3324860" cy="178244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spc="-10" dirty="0">
                <a:latin typeface="Trebuchet MS"/>
                <a:cs typeface="Trebuchet MS"/>
              </a:rPr>
              <a:t>Chat-</a:t>
            </a:r>
            <a:r>
              <a:rPr sz="2400" spc="-25" dirty="0">
                <a:latin typeface="Trebuchet MS"/>
                <a:cs typeface="Trebuchet MS"/>
              </a:rPr>
              <a:t>GPT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Colab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code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generation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Stack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Overflow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7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Official </a:t>
            </a:r>
            <a:r>
              <a:rPr sz="2400" spc="-10" dirty="0">
                <a:latin typeface="Trebuchet MS"/>
                <a:cs typeface="Trebuchet MS"/>
              </a:rPr>
              <a:t>Documentation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3504438"/>
            <a:ext cx="3513454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55" dirty="0"/>
              <a:t>Conclusion</a:t>
            </a:r>
            <a:endParaRPr sz="6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479"/>
            <a:ext cx="7136130" cy="90487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this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session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got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basic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introduction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to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Python.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We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tried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some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basic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commands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Python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775" y="2592069"/>
            <a:ext cx="6850380" cy="1856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6000" spc="-25" dirty="0"/>
              <a:t>Python</a:t>
            </a:r>
            <a:r>
              <a:rPr sz="6000" spc="-235" dirty="0"/>
              <a:t> </a:t>
            </a:r>
            <a:r>
              <a:rPr sz="6000" spc="-25" dirty="0"/>
              <a:t>Basics</a:t>
            </a:r>
            <a:r>
              <a:rPr sz="6000" spc="-250" dirty="0"/>
              <a:t> </a:t>
            </a:r>
            <a:r>
              <a:rPr sz="6000" dirty="0"/>
              <a:t>–</a:t>
            </a:r>
            <a:r>
              <a:rPr sz="6000" spc="-254" dirty="0"/>
              <a:t> </a:t>
            </a:r>
            <a:r>
              <a:rPr sz="6000" spc="-25" dirty="0"/>
              <a:t>Data </a:t>
            </a:r>
            <a:r>
              <a:rPr sz="6000" spc="-10" dirty="0"/>
              <a:t>Structures</a:t>
            </a:r>
            <a:endParaRPr sz="6000"/>
          </a:p>
        </p:txBody>
      </p:sp>
    </p:spTree>
    <p:extLst>
      <p:ext uri="{BB962C8B-B14F-4D97-AF65-F5344CB8AC3E}">
        <p14:creationId xmlns:p14="http://schemas.microsoft.com/office/powerpoint/2010/main" val="262605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934" y="1558861"/>
            <a:ext cx="3279140" cy="44119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4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Structures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4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spc="-10" dirty="0">
                <a:latin typeface="Trebuchet MS"/>
                <a:cs typeface="Trebuchet MS"/>
              </a:rPr>
              <a:t>Numbers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60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spc="-10" dirty="0">
                <a:latin typeface="Trebuchet MS"/>
                <a:cs typeface="Trebuchet MS"/>
              </a:rPr>
              <a:t>Strings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60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spc="-10" dirty="0">
                <a:latin typeface="Trebuchet MS"/>
                <a:cs typeface="Trebuchet MS"/>
              </a:rPr>
              <a:t>Boolean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4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spc="-10" dirty="0">
                <a:latin typeface="Trebuchet MS"/>
                <a:cs typeface="Trebuchet MS"/>
              </a:rPr>
              <a:t>Lists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60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spc="-10" dirty="0">
                <a:latin typeface="Trebuchet MS"/>
                <a:cs typeface="Trebuchet MS"/>
              </a:rPr>
              <a:t>Tuples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4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spc="-10" dirty="0">
                <a:latin typeface="Trebuchet MS"/>
                <a:cs typeface="Trebuchet MS"/>
              </a:rPr>
              <a:t>Dictionaries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60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spc="-20" dirty="0">
                <a:latin typeface="Trebuchet MS"/>
                <a:cs typeface="Trebuchet MS"/>
              </a:rPr>
              <a:t>Sets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60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Loops</a:t>
            </a:r>
            <a:r>
              <a:rPr sz="2400" spc="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Conditionals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4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spc="-10" dirty="0">
                <a:latin typeface="Trebuchet MS"/>
                <a:cs typeface="Trebuchet MS"/>
              </a:rPr>
              <a:t>Functions</a:t>
            </a:r>
            <a:endParaRPr sz="24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054438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Python</a:t>
            </a:r>
            <a:r>
              <a:rPr spc="-245" dirty="0"/>
              <a:t> </a:t>
            </a:r>
            <a:r>
              <a:rPr dirty="0"/>
              <a:t>Data</a:t>
            </a:r>
            <a:r>
              <a:rPr spc="-240" dirty="0"/>
              <a:t> </a:t>
            </a:r>
            <a:r>
              <a:rPr spc="-25" dirty="0"/>
              <a:t>Structures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10000" y="1752600"/>
            <a:ext cx="3307079" cy="4709160"/>
            <a:chOff x="3810000" y="1752600"/>
            <a:chExt cx="3307079" cy="47091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3239" y="5791200"/>
              <a:ext cx="228599" cy="6705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0" y="5775959"/>
              <a:ext cx="259079" cy="2743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000" y="5562600"/>
              <a:ext cx="259079" cy="2819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8000" y="5143500"/>
              <a:ext cx="259079" cy="7010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39739" y="4945379"/>
              <a:ext cx="228600" cy="8839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3239" y="4099560"/>
              <a:ext cx="228599" cy="6705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0" y="4084320"/>
              <a:ext cx="259079" cy="2743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58000" y="3870960"/>
              <a:ext cx="259079" cy="2743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8000" y="3444239"/>
              <a:ext cx="259079" cy="70104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24500" y="4084320"/>
              <a:ext cx="259079" cy="9067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06240" y="3672839"/>
              <a:ext cx="228600" cy="130302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9739" y="2400300"/>
              <a:ext cx="228600" cy="6705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24500" y="2385059"/>
              <a:ext cx="259079" cy="28193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0" y="2179319"/>
              <a:ext cx="259079" cy="27432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4500" y="1752600"/>
              <a:ext cx="259079" cy="7010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91000" y="2385059"/>
              <a:ext cx="259079" cy="134112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10000" y="2636519"/>
              <a:ext cx="548639" cy="211836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899011" y="2822558"/>
            <a:ext cx="264795" cy="1760855"/>
          </a:xfrm>
          <a:prstGeom prst="rect">
            <a:avLst/>
          </a:prstGeom>
        </p:spPr>
        <p:txBody>
          <a:bodyPr vert="vert270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solidFill>
                  <a:srgbClr val="202745"/>
                </a:solidFill>
                <a:latin typeface="Trebuchet MS"/>
                <a:cs typeface="Trebuchet MS"/>
              </a:rPr>
              <a:t>All</a:t>
            </a:r>
            <a:r>
              <a:rPr sz="1600" spc="-40" dirty="0">
                <a:solidFill>
                  <a:srgbClr val="202745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2745"/>
                </a:solidFill>
                <a:latin typeface="Trebuchet MS"/>
                <a:cs typeface="Trebuchet MS"/>
              </a:rPr>
              <a:t>Data</a:t>
            </a:r>
            <a:r>
              <a:rPr sz="1600" spc="-50" dirty="0">
                <a:solidFill>
                  <a:srgbClr val="202745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2745"/>
                </a:solidFill>
                <a:latin typeface="Trebuchet MS"/>
                <a:cs typeface="Trebuchet MS"/>
              </a:rPr>
              <a:t>Structures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335779" y="1584960"/>
            <a:ext cx="3909060" cy="5059680"/>
            <a:chOff x="4335779" y="1584960"/>
            <a:chExt cx="3909060" cy="5059680"/>
          </a:xfrm>
        </p:grpSpPr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04359" y="2217420"/>
              <a:ext cx="1173480" cy="4038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7859" y="1584960"/>
              <a:ext cx="1173480" cy="4038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7859" y="2004060"/>
              <a:ext cx="1173480" cy="4038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7859" y="2430780"/>
              <a:ext cx="1173480" cy="4038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37859" y="2857500"/>
              <a:ext cx="1173480" cy="39623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35779" y="4724400"/>
              <a:ext cx="1363979" cy="50291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37859" y="3916680"/>
              <a:ext cx="1173480" cy="39623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3276600"/>
              <a:ext cx="1173479" cy="40386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3703320"/>
              <a:ext cx="1173479" cy="4038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4122420"/>
              <a:ext cx="1173479" cy="4038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4549139"/>
              <a:ext cx="1173479" cy="4038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737859" y="5608319"/>
              <a:ext cx="1173480" cy="40385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071359" y="4975860"/>
              <a:ext cx="1173479" cy="39623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71359" y="5394960"/>
              <a:ext cx="1173479" cy="40385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71359" y="5821680"/>
              <a:ext cx="1173479" cy="40385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71359" y="6240780"/>
              <a:ext cx="1173479" cy="403860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4469765" y="1650618"/>
            <a:ext cx="3609975" cy="49015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8425" algn="ctr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Integer</a:t>
            </a:r>
            <a:endParaRPr sz="13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 dirty="0">
              <a:latin typeface="Trebuchet MS"/>
              <a:cs typeface="Trebuchet MS"/>
            </a:endParaRPr>
          </a:p>
          <a:p>
            <a:pPr marL="107950" algn="ctr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Float</a:t>
            </a:r>
            <a:endParaRPr sz="1350" dirty="0">
              <a:latin typeface="Trebuchet MS"/>
              <a:cs typeface="Trebuchet MS"/>
            </a:endParaRPr>
          </a:p>
          <a:p>
            <a:pPr marR="2558415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Primitive</a:t>
            </a:r>
            <a:endParaRPr sz="1350" dirty="0">
              <a:latin typeface="Trebuchet MS"/>
              <a:cs typeface="Trebuchet MS"/>
            </a:endParaRPr>
          </a:p>
          <a:p>
            <a:pPr marL="95250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String</a:t>
            </a:r>
            <a:endParaRPr sz="13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 dirty="0">
              <a:latin typeface="Trebuchet MS"/>
              <a:cs typeface="Trebuchet MS"/>
            </a:endParaRPr>
          </a:p>
          <a:p>
            <a:pPr marL="103505" algn="ctr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Boolean</a:t>
            </a:r>
            <a:endParaRPr sz="13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50" dirty="0">
              <a:latin typeface="Trebuchet MS"/>
              <a:cs typeface="Trebuchet MS"/>
            </a:endParaRPr>
          </a:p>
          <a:p>
            <a:pPr marL="2769870" algn="ctr">
              <a:lnSpc>
                <a:spcPct val="100000"/>
              </a:lnSpc>
            </a:pPr>
            <a:r>
              <a:rPr sz="1350" spc="-20" dirty="0">
                <a:solidFill>
                  <a:srgbClr val="202745"/>
                </a:solidFill>
                <a:latin typeface="Trebuchet MS"/>
                <a:cs typeface="Trebuchet MS"/>
              </a:rPr>
              <a:t>List</a:t>
            </a:r>
            <a:endParaRPr sz="13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 dirty="0">
              <a:latin typeface="Trebuchet MS"/>
              <a:cs typeface="Trebuchet MS"/>
            </a:endParaRPr>
          </a:p>
          <a:p>
            <a:pPr marL="2765425" algn="ctr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Tuple</a:t>
            </a:r>
            <a:endParaRPr sz="1350" dirty="0">
              <a:latin typeface="Trebuchet MS"/>
              <a:cs typeface="Trebuchet MS"/>
            </a:endParaRPr>
          </a:p>
          <a:p>
            <a:pPr marL="100965" algn="ctr">
              <a:lnSpc>
                <a:spcPct val="100000"/>
              </a:lnSpc>
              <a:spcBef>
                <a:spcPts val="50"/>
              </a:spcBef>
            </a:pPr>
            <a:r>
              <a:rPr sz="1350" dirty="0">
                <a:solidFill>
                  <a:srgbClr val="202745"/>
                </a:solidFill>
                <a:latin typeface="Trebuchet MS"/>
                <a:cs typeface="Trebuchet MS"/>
              </a:rPr>
              <a:t>Built-</a:t>
            </a:r>
            <a:r>
              <a:rPr sz="1350" spc="-25" dirty="0">
                <a:solidFill>
                  <a:srgbClr val="202745"/>
                </a:solidFill>
                <a:latin typeface="Trebuchet MS"/>
                <a:cs typeface="Trebuchet MS"/>
              </a:rPr>
              <a:t>In</a:t>
            </a:r>
            <a:endParaRPr sz="1350" dirty="0">
              <a:latin typeface="Trebuchet MS"/>
              <a:cs typeface="Trebuchet MS"/>
            </a:endParaRPr>
          </a:p>
          <a:p>
            <a:pPr marL="2770505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Dictionary</a:t>
            </a:r>
            <a:endParaRPr sz="13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50" dirty="0">
              <a:latin typeface="Trebuchet MS"/>
              <a:cs typeface="Trebuchet MS"/>
            </a:endParaRPr>
          </a:p>
          <a:p>
            <a:pPr marL="2769870" algn="ctr">
              <a:lnSpc>
                <a:spcPct val="100000"/>
              </a:lnSpc>
            </a:pPr>
            <a:r>
              <a:rPr sz="1350" spc="-25" dirty="0">
                <a:solidFill>
                  <a:srgbClr val="202745"/>
                </a:solidFill>
                <a:latin typeface="Trebuchet MS"/>
                <a:cs typeface="Trebuchet MS"/>
              </a:rPr>
              <a:t>Set</a:t>
            </a:r>
            <a:endParaRPr sz="1350" dirty="0">
              <a:latin typeface="Trebuchet MS"/>
              <a:cs typeface="Trebuchet MS"/>
            </a:endParaRPr>
          </a:p>
          <a:p>
            <a:pPr marR="2559050" algn="ctr">
              <a:lnSpc>
                <a:spcPct val="100000"/>
              </a:lnSpc>
              <a:spcBef>
                <a:spcPts val="45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Nonprimitive</a:t>
            </a:r>
            <a:endParaRPr sz="1350" dirty="0">
              <a:latin typeface="Trebuchet MS"/>
              <a:cs typeface="Trebuchet MS"/>
            </a:endParaRPr>
          </a:p>
          <a:p>
            <a:pPr marL="2766060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Stack</a:t>
            </a:r>
            <a:endParaRPr sz="13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50" dirty="0">
              <a:latin typeface="Trebuchet MS"/>
              <a:cs typeface="Trebuchet MS"/>
            </a:endParaRPr>
          </a:p>
          <a:p>
            <a:pPr marL="2772410" algn="ctr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Queue</a:t>
            </a:r>
            <a:endParaRPr sz="1350" dirty="0">
              <a:latin typeface="Trebuchet MS"/>
              <a:cs typeface="Trebuchet MS"/>
            </a:endParaRPr>
          </a:p>
          <a:p>
            <a:pPr marL="104775" algn="ctr">
              <a:lnSpc>
                <a:spcPct val="100000"/>
              </a:lnSpc>
              <a:spcBef>
                <a:spcPts val="50"/>
              </a:spcBef>
            </a:pPr>
            <a:r>
              <a:rPr sz="1350" dirty="0">
                <a:solidFill>
                  <a:srgbClr val="202745"/>
                </a:solidFill>
                <a:latin typeface="Trebuchet MS"/>
                <a:cs typeface="Trebuchet MS"/>
              </a:rPr>
              <a:t>User-</a:t>
            </a: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Defined</a:t>
            </a:r>
            <a:endParaRPr sz="1350" dirty="0">
              <a:latin typeface="Trebuchet MS"/>
              <a:cs typeface="Trebuchet MS"/>
            </a:endParaRPr>
          </a:p>
          <a:p>
            <a:pPr marL="2768600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LinkedList</a:t>
            </a:r>
            <a:endParaRPr sz="13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 dirty="0">
              <a:latin typeface="Trebuchet MS"/>
              <a:cs typeface="Trebuchet MS"/>
            </a:endParaRPr>
          </a:p>
          <a:p>
            <a:pPr marL="2765425" algn="ctr">
              <a:lnSpc>
                <a:spcPct val="100000"/>
              </a:lnSpc>
            </a:pPr>
            <a:r>
              <a:rPr sz="1350" spc="-20" dirty="0">
                <a:solidFill>
                  <a:srgbClr val="202745"/>
                </a:solidFill>
                <a:latin typeface="Trebuchet MS"/>
                <a:cs typeface="Trebuchet MS"/>
              </a:rPr>
              <a:t>Tree</a:t>
            </a:r>
            <a:endParaRPr sz="135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94411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Python</a:t>
            </a:r>
            <a:r>
              <a:rPr spc="-245" dirty="0"/>
              <a:t> </a:t>
            </a:r>
            <a:r>
              <a:rPr dirty="0"/>
              <a:t>Data</a:t>
            </a:r>
            <a:r>
              <a:rPr spc="-240" dirty="0"/>
              <a:t> </a:t>
            </a:r>
            <a:r>
              <a:rPr spc="-25" dirty="0"/>
              <a:t>Structures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10000" y="1752600"/>
            <a:ext cx="3307079" cy="4709160"/>
            <a:chOff x="3810000" y="1752600"/>
            <a:chExt cx="3307079" cy="47091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3239" y="5791200"/>
              <a:ext cx="228599" cy="6705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0" y="5775959"/>
              <a:ext cx="259079" cy="2743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000" y="5562600"/>
              <a:ext cx="259079" cy="2819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8000" y="5143500"/>
              <a:ext cx="259079" cy="7010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39739" y="4945379"/>
              <a:ext cx="228600" cy="8839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3239" y="4099560"/>
              <a:ext cx="228599" cy="6705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0" y="4084320"/>
              <a:ext cx="259079" cy="2743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58000" y="3870960"/>
              <a:ext cx="259079" cy="2743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8000" y="3444239"/>
              <a:ext cx="259079" cy="70104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24500" y="4084320"/>
              <a:ext cx="259079" cy="9067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06240" y="3672839"/>
              <a:ext cx="228600" cy="130302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9739" y="2400300"/>
              <a:ext cx="228600" cy="6705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24500" y="2385059"/>
              <a:ext cx="259079" cy="28193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0" y="2179319"/>
              <a:ext cx="259079" cy="27432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4500" y="1752600"/>
              <a:ext cx="259079" cy="7010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91000" y="2385059"/>
              <a:ext cx="259079" cy="134112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10000" y="2636519"/>
              <a:ext cx="548639" cy="211836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899011" y="2822558"/>
            <a:ext cx="264795" cy="1760855"/>
          </a:xfrm>
          <a:prstGeom prst="rect">
            <a:avLst/>
          </a:prstGeom>
        </p:spPr>
        <p:txBody>
          <a:bodyPr vert="vert270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solidFill>
                  <a:srgbClr val="202745"/>
                </a:solidFill>
                <a:latin typeface="Trebuchet MS"/>
                <a:cs typeface="Trebuchet MS"/>
              </a:rPr>
              <a:t>All</a:t>
            </a:r>
            <a:r>
              <a:rPr sz="1600" spc="-40" dirty="0">
                <a:solidFill>
                  <a:srgbClr val="202745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2745"/>
                </a:solidFill>
                <a:latin typeface="Trebuchet MS"/>
                <a:cs typeface="Trebuchet MS"/>
              </a:rPr>
              <a:t>Data</a:t>
            </a:r>
            <a:r>
              <a:rPr sz="1600" spc="-50" dirty="0">
                <a:solidFill>
                  <a:srgbClr val="202745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2745"/>
                </a:solidFill>
                <a:latin typeface="Trebuchet MS"/>
                <a:cs typeface="Trebuchet MS"/>
              </a:rPr>
              <a:t>Structures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404359" y="1584960"/>
            <a:ext cx="2506980" cy="1036319"/>
            <a:chOff x="4404359" y="1584960"/>
            <a:chExt cx="2506980" cy="1036319"/>
          </a:xfrm>
        </p:grpSpPr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04359" y="2217420"/>
              <a:ext cx="1173480" cy="4038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7859" y="1584960"/>
              <a:ext cx="1173480" cy="40386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025896" y="1650618"/>
            <a:ext cx="59626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Integer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737859" y="2004060"/>
            <a:ext cx="1173480" cy="403860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6117209" y="2074227"/>
            <a:ext cx="4229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Float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737859" y="2430779"/>
            <a:ext cx="1173480" cy="822960"/>
            <a:chOff x="5737859" y="2430779"/>
            <a:chExt cx="1173480" cy="822960"/>
          </a:xfrm>
        </p:grpSpPr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7859" y="2430779"/>
              <a:ext cx="1173480" cy="40386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37859" y="2857499"/>
              <a:ext cx="1173480" cy="39623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622165" y="2286317"/>
            <a:ext cx="2028189" cy="8724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Primitive</a:t>
            </a:r>
            <a:endParaRPr sz="1350">
              <a:latin typeface="Trebuchet MS"/>
              <a:cs typeface="Trebuchet MS"/>
            </a:endParaRPr>
          </a:p>
          <a:p>
            <a:pPr marL="1469390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String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50">
              <a:latin typeface="Trebuchet MS"/>
              <a:cs typeface="Trebuchet MS"/>
            </a:endParaRPr>
          </a:p>
          <a:p>
            <a:pPr marL="1393190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Boolean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335779" y="3276600"/>
            <a:ext cx="3909060" cy="1950720"/>
            <a:chOff x="4335779" y="3276600"/>
            <a:chExt cx="3909060" cy="1950720"/>
          </a:xfrm>
        </p:grpSpPr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35779" y="4724400"/>
              <a:ext cx="1363979" cy="50291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37859" y="3916680"/>
              <a:ext cx="1173480" cy="39623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3276600"/>
              <a:ext cx="1173479" cy="40386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7505445" y="3346767"/>
            <a:ext cx="30861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02745"/>
                </a:solidFill>
                <a:latin typeface="Trebuchet MS"/>
                <a:cs typeface="Trebuchet MS"/>
              </a:rPr>
              <a:t>List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37" name="object 3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071359" y="3703320"/>
            <a:ext cx="1173479" cy="403860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7436866" y="3771265"/>
            <a:ext cx="44069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5" dirty="0">
                <a:solidFill>
                  <a:srgbClr val="202745"/>
                </a:solidFill>
                <a:latin typeface="Trebuchet MS"/>
                <a:cs typeface="Trebuchet MS"/>
              </a:rPr>
              <a:t>Tuple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071359" y="4122420"/>
            <a:ext cx="1173480" cy="830580"/>
            <a:chOff x="7071359" y="4122420"/>
            <a:chExt cx="1173480" cy="830580"/>
          </a:xfrm>
        </p:grpSpPr>
        <p:pic>
          <p:nvPicPr>
            <p:cNvPr id="40" name="object 4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4122420"/>
              <a:ext cx="1173479" cy="40386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4549140"/>
              <a:ext cx="1173479" cy="403860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4469765" y="3983354"/>
            <a:ext cx="3603625" cy="10839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6680" algn="ctr">
              <a:lnSpc>
                <a:spcPct val="100000"/>
              </a:lnSpc>
              <a:spcBef>
                <a:spcPts val="130"/>
              </a:spcBef>
            </a:pPr>
            <a:r>
              <a:rPr sz="1350" dirty="0">
                <a:solidFill>
                  <a:srgbClr val="202745"/>
                </a:solidFill>
                <a:latin typeface="Trebuchet MS"/>
                <a:cs typeface="Trebuchet MS"/>
              </a:rPr>
              <a:t>Built-</a:t>
            </a:r>
            <a:r>
              <a:rPr sz="1350" spc="-25" dirty="0">
                <a:solidFill>
                  <a:srgbClr val="202745"/>
                </a:solidFill>
                <a:latin typeface="Trebuchet MS"/>
                <a:cs typeface="Trebuchet MS"/>
              </a:rPr>
              <a:t>In</a:t>
            </a:r>
            <a:endParaRPr sz="1350">
              <a:latin typeface="Trebuchet MS"/>
              <a:cs typeface="Trebuchet MS"/>
            </a:endParaRPr>
          </a:p>
          <a:p>
            <a:pPr marL="2776220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Dictionary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rebuchet MS"/>
              <a:cs typeface="Trebuchet MS"/>
            </a:endParaRPr>
          </a:p>
          <a:p>
            <a:pPr marL="2775585" algn="ctr">
              <a:lnSpc>
                <a:spcPct val="100000"/>
              </a:lnSpc>
            </a:pPr>
            <a:r>
              <a:rPr sz="1350" spc="-25" dirty="0">
                <a:solidFill>
                  <a:srgbClr val="202745"/>
                </a:solidFill>
                <a:latin typeface="Trebuchet MS"/>
                <a:cs typeface="Trebuchet MS"/>
              </a:rPr>
              <a:t>Set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Nonprimitive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737859" y="5608320"/>
            <a:ext cx="1173480" cy="403859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5796915" y="5679440"/>
            <a:ext cx="106045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dirty="0">
                <a:solidFill>
                  <a:srgbClr val="202745"/>
                </a:solidFill>
                <a:latin typeface="Trebuchet MS"/>
                <a:cs typeface="Trebuchet MS"/>
              </a:rPr>
              <a:t>User-</a:t>
            </a: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Defined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45" name="object 4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071359" y="4975859"/>
            <a:ext cx="1173479" cy="396239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7436866" y="5043106"/>
            <a:ext cx="44195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Stack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47" name="object 4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071359" y="5394959"/>
            <a:ext cx="1173479" cy="403859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7391145" y="5467350"/>
            <a:ext cx="53975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Queue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7071359" y="5821679"/>
            <a:ext cx="1173480" cy="822960"/>
            <a:chOff x="7071359" y="5821679"/>
            <a:chExt cx="1173480" cy="822960"/>
          </a:xfrm>
        </p:grpSpPr>
        <p:pic>
          <p:nvPicPr>
            <p:cNvPr id="50" name="object 5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71359" y="5821679"/>
              <a:ext cx="1173479" cy="40385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71359" y="6240779"/>
              <a:ext cx="1173479" cy="403860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7238618" y="5891529"/>
            <a:ext cx="840740" cy="660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LinkedList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350" spc="-20" dirty="0">
                <a:solidFill>
                  <a:srgbClr val="202745"/>
                </a:solidFill>
                <a:latin typeface="Trebuchet MS"/>
                <a:cs typeface="Trebuchet MS"/>
              </a:rPr>
              <a:t>Tree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7030211" y="1424939"/>
            <a:ext cx="1697989" cy="4542790"/>
            <a:chOff x="7030211" y="1424939"/>
            <a:chExt cx="1697989" cy="4542790"/>
          </a:xfrm>
        </p:grpSpPr>
        <p:sp>
          <p:nvSpPr>
            <p:cNvPr id="54" name="object 54"/>
            <p:cNvSpPr/>
            <p:nvPr/>
          </p:nvSpPr>
          <p:spPr>
            <a:xfrm>
              <a:off x="7037831" y="1424939"/>
              <a:ext cx="490220" cy="979805"/>
            </a:xfrm>
            <a:custGeom>
              <a:avLst/>
              <a:gdLst/>
              <a:ahLst/>
              <a:cxnLst/>
              <a:rect l="l" t="t" r="r" b="b"/>
              <a:pathLst>
                <a:path w="490220" h="979805">
                  <a:moveTo>
                    <a:pt x="490093" y="0"/>
                  </a:moveTo>
                  <a:lnTo>
                    <a:pt x="490093" y="739139"/>
                  </a:lnTo>
                </a:path>
                <a:path w="490220" h="979805">
                  <a:moveTo>
                    <a:pt x="490093" y="138557"/>
                  </a:moveTo>
                  <a:lnTo>
                    <a:pt x="0" y="979297"/>
                  </a:lnTo>
                </a:path>
              </a:pathLst>
            </a:custGeom>
            <a:ln w="15240">
              <a:solidFill>
                <a:srgbClr val="FF7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220328" y="5105399"/>
              <a:ext cx="500380" cy="854710"/>
            </a:xfrm>
            <a:custGeom>
              <a:avLst/>
              <a:gdLst/>
              <a:ahLst/>
              <a:cxnLst/>
              <a:rect l="l" t="t" r="r" b="b"/>
              <a:pathLst>
                <a:path w="500379" h="854710">
                  <a:moveTo>
                    <a:pt x="500125" y="0"/>
                  </a:moveTo>
                  <a:lnTo>
                    <a:pt x="500125" y="815340"/>
                  </a:lnTo>
                </a:path>
                <a:path w="500379" h="854710">
                  <a:moveTo>
                    <a:pt x="500125" y="152908"/>
                  </a:moveTo>
                  <a:lnTo>
                    <a:pt x="0" y="854392"/>
                  </a:lnTo>
                </a:path>
              </a:pathLst>
            </a:custGeom>
            <a:ln w="15240">
              <a:solidFill>
                <a:srgbClr val="57CCA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7795259" y="1424939"/>
            <a:ext cx="3208020" cy="739140"/>
          </a:xfrm>
          <a:prstGeom prst="rect">
            <a:avLst/>
          </a:prstGeom>
          <a:solidFill>
            <a:srgbClr val="FFC6B4"/>
          </a:solidFill>
          <a:ln w="15240">
            <a:solidFill>
              <a:srgbClr val="FF7B1B"/>
            </a:solidFill>
          </a:ln>
        </p:spPr>
        <p:txBody>
          <a:bodyPr vert="horz" wrap="square" lIns="0" tIns="89535" rIns="0" bIns="0" rtlCol="0">
            <a:spAutoFit/>
          </a:bodyPr>
          <a:lstStyle/>
          <a:p>
            <a:pPr marL="838200" marR="111125" indent="-724535">
              <a:lnSpc>
                <a:spcPct val="100000"/>
              </a:lnSpc>
              <a:spcBef>
                <a:spcPts val="705"/>
              </a:spcBef>
            </a:pPr>
            <a:r>
              <a:rPr sz="1800" spc="-60" dirty="0">
                <a:latin typeface="Trebuchet MS"/>
                <a:cs typeface="Trebuchet MS"/>
              </a:rPr>
              <a:t>You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have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10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use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these</a:t>
            </a:r>
            <a:r>
              <a:rPr sz="1800" spc="4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almost 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1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all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programs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8300339" y="3200400"/>
            <a:ext cx="442595" cy="979805"/>
          </a:xfrm>
          <a:custGeom>
            <a:avLst/>
            <a:gdLst/>
            <a:ahLst/>
            <a:cxnLst/>
            <a:rect l="l" t="t" r="r" b="b"/>
            <a:pathLst>
              <a:path w="442595" h="979804">
                <a:moveTo>
                  <a:pt x="442340" y="0"/>
                </a:moveTo>
                <a:lnTo>
                  <a:pt x="442340" y="739139"/>
                </a:lnTo>
              </a:path>
              <a:path w="442595" h="979804">
                <a:moveTo>
                  <a:pt x="442340" y="138557"/>
                </a:moveTo>
                <a:lnTo>
                  <a:pt x="0" y="979424"/>
                </a:lnTo>
              </a:path>
            </a:pathLst>
          </a:custGeom>
          <a:ln w="15240">
            <a:solidFill>
              <a:srgbClr val="4862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8983980" y="3200400"/>
            <a:ext cx="2895600" cy="739140"/>
          </a:xfrm>
          <a:prstGeom prst="rect">
            <a:avLst/>
          </a:prstGeom>
          <a:solidFill>
            <a:srgbClr val="B9C0E2"/>
          </a:solidFill>
          <a:ln w="15240">
            <a:solidFill>
              <a:srgbClr val="4862C5"/>
            </a:solidFill>
          </a:ln>
        </p:spPr>
        <p:txBody>
          <a:bodyPr vert="horz" wrap="square" lIns="0" tIns="90170" rIns="0" bIns="0" rtlCol="0">
            <a:spAutoFit/>
          </a:bodyPr>
          <a:lstStyle/>
          <a:p>
            <a:pPr marL="130810" marR="121285" indent="281940">
              <a:lnSpc>
                <a:spcPct val="100000"/>
              </a:lnSpc>
              <a:spcBef>
                <a:spcPts val="710"/>
              </a:spcBef>
            </a:pPr>
            <a:r>
              <a:rPr sz="1800" spc="-60" dirty="0">
                <a:latin typeface="Trebuchet MS"/>
                <a:cs typeface="Trebuchet MS"/>
              </a:rPr>
              <a:t>You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may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have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to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25" dirty="0">
                <a:latin typeface="Trebuchet MS"/>
                <a:cs typeface="Trebuchet MS"/>
              </a:rPr>
              <a:t>use </a:t>
            </a:r>
            <a:r>
              <a:rPr sz="1800" dirty="0">
                <a:latin typeface="Trebuchet MS"/>
                <a:cs typeface="Trebuchet MS"/>
              </a:rPr>
              <a:t>these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in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several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programs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961119" y="5105400"/>
            <a:ext cx="2887980" cy="815340"/>
          </a:xfrm>
          <a:prstGeom prst="rect">
            <a:avLst/>
          </a:prstGeom>
          <a:solidFill>
            <a:srgbClr val="BCE6D7"/>
          </a:solidFill>
          <a:ln w="15240">
            <a:solidFill>
              <a:srgbClr val="57CCA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12725" marR="193675" algn="ctr">
              <a:lnSpc>
                <a:spcPts val="2160"/>
              </a:lnSpc>
            </a:pPr>
            <a:r>
              <a:rPr sz="1800" spc="-60" dirty="0">
                <a:latin typeface="Trebuchet MS"/>
                <a:cs typeface="Trebuchet MS"/>
              </a:rPr>
              <a:t>You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can</a:t>
            </a:r>
            <a:r>
              <a:rPr sz="1800" spc="-7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use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these</a:t>
            </a:r>
            <a:r>
              <a:rPr sz="1800" spc="-20" dirty="0">
                <a:latin typeface="Trebuchet MS"/>
                <a:cs typeface="Trebuchet MS"/>
              </a:rPr>
              <a:t> based </a:t>
            </a:r>
            <a:r>
              <a:rPr sz="1800" dirty="0">
                <a:latin typeface="Trebuchet MS"/>
                <a:cs typeface="Trebuchet MS"/>
              </a:rPr>
              <a:t>on</a:t>
            </a:r>
            <a:r>
              <a:rPr sz="1800" spc="-7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the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need</a:t>
            </a:r>
            <a:r>
              <a:rPr sz="1800" spc="1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for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some </a:t>
            </a:r>
            <a:r>
              <a:rPr sz="1800" dirty="0">
                <a:latin typeface="Trebuchet MS"/>
                <a:cs typeface="Trebuchet MS"/>
              </a:rPr>
              <a:t>specific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tasks.</a:t>
            </a:r>
            <a:endParaRPr sz="18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95092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Integers</a:t>
            </a:r>
            <a:r>
              <a:rPr spc="-160" dirty="0"/>
              <a:t> </a:t>
            </a:r>
            <a:r>
              <a:rPr dirty="0"/>
              <a:t>and</a:t>
            </a:r>
            <a:r>
              <a:rPr spc="-160" dirty="0"/>
              <a:t> </a:t>
            </a:r>
            <a:r>
              <a:rPr spc="-10" dirty="0"/>
              <a:t>Float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371600"/>
            <a:ext cx="6172200" cy="48141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400" dirty="0">
                <a:solidFill>
                  <a:schemeClr val="accent3"/>
                </a:solidFill>
              </a:rPr>
              <a:t># Define variables</a:t>
            </a:r>
          </a:p>
          <a:p>
            <a:r>
              <a:rPr lang="en-IN" sz="2400" dirty="0"/>
              <a:t>velocity = 30</a:t>
            </a:r>
          </a:p>
          <a:p>
            <a:r>
              <a:rPr lang="en-IN" sz="2400" dirty="0"/>
              <a:t>pressure = 1250.567</a:t>
            </a:r>
          </a:p>
          <a:p>
            <a:r>
              <a:rPr lang="en-IN" sz="2400" dirty="0"/>
              <a:t/>
            </a:r>
            <a:br>
              <a:rPr lang="en-IN" sz="2400" dirty="0"/>
            </a:br>
            <a:r>
              <a:rPr lang="en-IN" sz="2400" dirty="0">
                <a:solidFill>
                  <a:schemeClr val="accent3"/>
                </a:solidFill>
              </a:rPr>
              <a:t># Check datatypes</a:t>
            </a:r>
          </a:p>
          <a:p>
            <a:r>
              <a:rPr lang="en-IN" sz="2400" dirty="0"/>
              <a:t>print(type(velocity))</a:t>
            </a:r>
          </a:p>
          <a:p>
            <a:r>
              <a:rPr lang="en-IN" sz="2400" dirty="0"/>
              <a:t>print(type(pressure))</a:t>
            </a:r>
          </a:p>
          <a:p>
            <a:r>
              <a:rPr lang="en-IN" sz="2400" dirty="0"/>
              <a:t/>
            </a:r>
            <a:br>
              <a:rPr lang="en-IN" sz="2400" dirty="0"/>
            </a:br>
            <a:r>
              <a:rPr lang="en-IN" sz="2400" dirty="0">
                <a:solidFill>
                  <a:schemeClr val="accent3"/>
                </a:solidFill>
              </a:rPr>
              <a:t># Print with labels</a:t>
            </a:r>
          </a:p>
          <a:p>
            <a:r>
              <a:rPr lang="en-IN" sz="2400" dirty="0"/>
              <a:t>print("Velocity - datatype:", type(velocity))</a:t>
            </a:r>
          </a:p>
          <a:p>
            <a:r>
              <a:rPr lang="en-IN" sz="2400" dirty="0"/>
              <a:t>print("Pressure - datatype:", </a:t>
            </a:r>
            <a:r>
              <a:rPr lang="en-IN" sz="2400" dirty="0" smtClean="0"/>
              <a:t>type(pressure</a:t>
            </a:r>
            <a:r>
              <a:rPr lang="en-IN" sz="2400" dirty="0"/>
              <a:t>))</a:t>
            </a:r>
          </a:p>
          <a:p>
            <a:r>
              <a:rPr lang="en-IN" sz="2400" dirty="0"/>
              <a:t/>
            </a:r>
            <a:br>
              <a:rPr lang="en-IN" sz="2400" dirty="0"/>
            </a:br>
            <a:endParaRPr lang="en-IN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00200"/>
            <a:ext cx="4385187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775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Strings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295400"/>
            <a:ext cx="6248400" cy="4128694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42240" indent="-129539" algn="just">
              <a:lnSpc>
                <a:spcPct val="100000"/>
              </a:lnSpc>
              <a:spcBef>
                <a:spcPts val="395"/>
              </a:spcBef>
              <a:buClr>
                <a:srgbClr val="4E67C7"/>
              </a:buClr>
              <a:buFont typeface="Arial MT"/>
              <a:buChar char="•"/>
              <a:tabLst>
                <a:tab pos="142240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r>
              <a:rPr sz="20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amongst</a:t>
            </a:r>
            <a:r>
              <a:rPr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29539" algn="just">
              <a:lnSpc>
                <a:spcPct val="100000"/>
              </a:lnSpc>
              <a:spcBef>
                <a:spcPts val="305"/>
              </a:spcBef>
              <a:buClr>
                <a:srgbClr val="4E67C7"/>
              </a:buClr>
              <a:buFont typeface="Arial MT"/>
              <a:buChar char="•"/>
              <a:tabLst>
                <a:tab pos="142240" algn="l"/>
              </a:tabLs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sequence of characters enclosed in either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quotes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double quotes</a:t>
            </a:r>
          </a:p>
          <a:p>
            <a:pPr marL="12701" algn="just">
              <a:lnSpc>
                <a:spcPct val="100000"/>
              </a:lnSpc>
              <a:spcBef>
                <a:spcPts val="305"/>
              </a:spcBef>
              <a:buClr>
                <a:srgbClr val="4E67C7"/>
              </a:buClr>
              <a:tabLst>
                <a:tab pos="142240" algn="l"/>
              </a:tabLst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 smtClean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Defining a string </a:t>
            </a:r>
          </a:p>
          <a:p>
            <a:pPr algn="just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AIRCRAFT = "</a:t>
            </a:r>
            <a:r>
              <a:rPr lang="en-I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BOEING_747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</a:p>
          <a:p>
            <a:pPr algn="just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print(AIRCRAFT) </a:t>
            </a:r>
          </a:p>
          <a:p>
            <a:pPr algn="just"/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 smtClean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Accessing characters and substrings </a:t>
            </a:r>
          </a:p>
          <a:p>
            <a:pPr algn="just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print(AIRCRAFT[0]) # First character </a:t>
            </a:r>
          </a:p>
          <a:p>
            <a:pPr algn="just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print(AIRCRAFT[0:3]) # Characters from index 0 to 2 </a:t>
            </a:r>
          </a:p>
          <a:p>
            <a:pPr algn="just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print(AIRCRAFT[3:8]) # Characters from index 3 to 7 </a:t>
            </a:r>
          </a:p>
          <a:p>
            <a:pPr algn="just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print(AIRCRAFT[3:4]) # Character at index 3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1905000"/>
            <a:ext cx="5105400" cy="297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7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Strings</a:t>
            </a:r>
            <a:r>
              <a:rPr spc="-185" dirty="0"/>
              <a:t> </a:t>
            </a:r>
            <a:r>
              <a:rPr dirty="0"/>
              <a:t>–</a:t>
            </a:r>
            <a:r>
              <a:rPr spc="-105" dirty="0"/>
              <a:t> </a:t>
            </a:r>
            <a:r>
              <a:rPr spc="-10" dirty="0"/>
              <a:t>Slicing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1447800"/>
            <a:ext cx="6248400" cy="3706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lang="en-US" sz="2200" dirty="0" smtClean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Defining a string</a:t>
            </a:r>
          </a:p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message = "Python for Aerospace Engineering"</a:t>
            </a:r>
          </a:p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print(message)</a:t>
            </a:r>
          </a:p>
          <a:p>
            <a:pPr marL="12700" marR="5080">
              <a:lnSpc>
                <a:spcPct val="118800"/>
              </a:lnSpc>
              <a:spcBef>
                <a:spcPts val="100"/>
              </a:spcBef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lang="en-US" sz="2200" dirty="0" smtClean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Accessing part of the string</a:t>
            </a:r>
          </a:p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print(message[0:6])     </a:t>
            </a:r>
            <a:r>
              <a:rPr lang="en-US" sz="2200" dirty="0" smtClean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Characters from index 0 to 5</a:t>
            </a:r>
          </a:p>
          <a:p>
            <a:pPr marL="12700" marR="5080">
              <a:lnSpc>
                <a:spcPct val="118800"/>
              </a:lnSpc>
              <a:spcBef>
                <a:spcPts val="100"/>
              </a:spcBef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lang="en-US" sz="2200" dirty="0" smtClean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Length of the string</a:t>
            </a:r>
          </a:p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(message))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326" y="1194802"/>
            <a:ext cx="5301344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86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String</a:t>
            </a:r>
            <a:r>
              <a:rPr spc="-215" dirty="0"/>
              <a:t> </a:t>
            </a:r>
            <a:r>
              <a:rPr spc="-35" dirty="0"/>
              <a:t>Concatenation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295400"/>
            <a:ext cx="4419600" cy="4721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Defining strings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Aerospace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"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Concatenation without space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print(Name)</a:t>
            </a:r>
          </a:p>
          <a:p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Concatenation with space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Name_new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" "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Name_new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Repetition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Name_new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3)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Repetition with space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Name_new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" ") * 3)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177543"/>
            <a:ext cx="5282656" cy="413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20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656" y="483489"/>
            <a:ext cx="2359343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Boolean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1447800"/>
            <a:ext cx="6641466" cy="4426853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4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sz="24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1605" indent="-128905">
              <a:lnSpc>
                <a:spcPct val="100000"/>
              </a:lnSpc>
              <a:spcBef>
                <a:spcPts val="54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</a:t>
            </a:r>
            <a:r>
              <a:rPr sz="24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US" sz="2400" spc="-1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45"/>
              </a:spcBef>
              <a:buClr>
                <a:srgbClr val="4E67C7"/>
              </a:buClr>
              <a:tabLst>
                <a:tab pos="141605" algn="l"/>
              </a:tabLst>
            </a:pPr>
            <a:endParaRPr sz="2400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Check if velocity exceeds speed of sound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velocity =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250 #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m/s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speed_of_sound = 343  # m/s at sea level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velocity &gt; speed_of_sound   # Boolean condition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print(a)                        # Prints True/False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print(type(a))                  # Prints datatype</a:t>
            </a:r>
          </a:p>
          <a:p>
            <a:pPr>
              <a:lnSpc>
                <a:spcPct val="100000"/>
              </a:lnSpc>
              <a:spcBef>
                <a:spcPts val="1240"/>
              </a:spcBef>
            </a:pPr>
            <a:endParaRPr sz="2400" dirty="0">
              <a:latin typeface="Trebuchet MS"/>
              <a:cs typeface="Trebuchet M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066" y="1828800"/>
            <a:ext cx="5024679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50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838200"/>
            <a:ext cx="10618470" cy="369332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ifferent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kinds of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brackets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(or delimiters)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605894"/>
              </p:ext>
            </p:extLst>
          </p:nvPr>
        </p:nvGraphicFramePr>
        <p:xfrm>
          <a:off x="609600" y="1524000"/>
          <a:ext cx="10896600" cy="3474720"/>
        </p:xfrm>
        <a:graphic>
          <a:graphicData uri="http://schemas.openxmlformats.org/drawingml/2006/table">
            <a:tbl>
              <a:tblPr/>
              <a:tblGrid>
                <a:gridCol w="3632200">
                  <a:extLst>
                    <a:ext uri="{9D8B030D-6E8A-4147-A177-3AD203B41FA5}">
                      <a16:colId xmlns:a16="http://schemas.microsoft.com/office/drawing/2014/main" val="2707435636"/>
                    </a:ext>
                  </a:extLst>
                </a:gridCol>
                <a:gridCol w="3632200">
                  <a:extLst>
                    <a:ext uri="{9D8B030D-6E8A-4147-A177-3AD203B41FA5}">
                      <a16:colId xmlns:a16="http://schemas.microsoft.com/office/drawing/2014/main" val="66994658"/>
                    </a:ext>
                  </a:extLst>
                </a:gridCol>
                <a:gridCol w="3632200">
                  <a:extLst>
                    <a:ext uri="{9D8B030D-6E8A-4147-A177-3AD203B41FA5}">
                      <a16:colId xmlns:a16="http://schemas.microsoft.com/office/drawing/2014/main" val="41859426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Bracket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6689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Parentheses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 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Functions, tuples, grouping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755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Square brackets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 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Lists, indexing, slicing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752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Curly braces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 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Dicts, sets, comprehensions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344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Angle brackets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Comparisons, type hints (rare)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140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Triple quotes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''' """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Multi-line strings, </a:t>
                      </a: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docstrings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392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5659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Python</a:t>
            </a:r>
            <a:r>
              <a:rPr spc="-245" dirty="0"/>
              <a:t> </a:t>
            </a:r>
            <a:r>
              <a:rPr dirty="0"/>
              <a:t>Data</a:t>
            </a:r>
            <a:r>
              <a:rPr spc="-240" dirty="0"/>
              <a:t> </a:t>
            </a:r>
            <a:r>
              <a:rPr spc="-25" dirty="0"/>
              <a:t>Structures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10000" y="1752600"/>
            <a:ext cx="3307079" cy="4709160"/>
            <a:chOff x="3810000" y="1752600"/>
            <a:chExt cx="3307079" cy="47091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3239" y="5791200"/>
              <a:ext cx="228599" cy="6705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0" y="5775959"/>
              <a:ext cx="259079" cy="2743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000" y="5562600"/>
              <a:ext cx="259079" cy="2819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8000" y="5143500"/>
              <a:ext cx="259079" cy="7010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39739" y="4945379"/>
              <a:ext cx="228600" cy="8839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3239" y="4099560"/>
              <a:ext cx="228599" cy="6705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0" y="4084320"/>
              <a:ext cx="259079" cy="2743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58000" y="3870960"/>
              <a:ext cx="259079" cy="2743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8000" y="3444239"/>
              <a:ext cx="259079" cy="70104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24500" y="4084320"/>
              <a:ext cx="259079" cy="9067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06240" y="3672839"/>
              <a:ext cx="228600" cy="130302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9739" y="2400300"/>
              <a:ext cx="228600" cy="6705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24500" y="2385059"/>
              <a:ext cx="259079" cy="28193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0" y="2179319"/>
              <a:ext cx="259079" cy="27432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4500" y="1752600"/>
              <a:ext cx="259079" cy="7010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91000" y="2385059"/>
              <a:ext cx="259079" cy="134112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10000" y="2636519"/>
              <a:ext cx="548639" cy="211836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899011" y="2822558"/>
            <a:ext cx="264795" cy="1760855"/>
          </a:xfrm>
          <a:prstGeom prst="rect">
            <a:avLst/>
          </a:prstGeom>
        </p:spPr>
        <p:txBody>
          <a:bodyPr vert="vert270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solidFill>
                  <a:srgbClr val="202745"/>
                </a:solidFill>
                <a:latin typeface="Trebuchet MS"/>
                <a:cs typeface="Trebuchet MS"/>
              </a:rPr>
              <a:t>All</a:t>
            </a:r>
            <a:r>
              <a:rPr sz="1600" spc="-40" dirty="0">
                <a:solidFill>
                  <a:srgbClr val="202745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2745"/>
                </a:solidFill>
                <a:latin typeface="Trebuchet MS"/>
                <a:cs typeface="Trebuchet MS"/>
              </a:rPr>
              <a:t>Data</a:t>
            </a:r>
            <a:r>
              <a:rPr sz="1600" spc="-50" dirty="0">
                <a:solidFill>
                  <a:srgbClr val="202745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2745"/>
                </a:solidFill>
                <a:latin typeface="Trebuchet MS"/>
                <a:cs typeface="Trebuchet MS"/>
              </a:rPr>
              <a:t>Structures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335779" y="1584960"/>
            <a:ext cx="3909060" cy="5059680"/>
            <a:chOff x="4335779" y="1584960"/>
            <a:chExt cx="3909060" cy="5059680"/>
          </a:xfrm>
        </p:grpSpPr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04359" y="2217420"/>
              <a:ext cx="1173480" cy="4038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7859" y="1584960"/>
              <a:ext cx="1173480" cy="4038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7859" y="2004060"/>
              <a:ext cx="1173480" cy="4038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7859" y="2430780"/>
              <a:ext cx="1173480" cy="4038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37859" y="2857500"/>
              <a:ext cx="1173480" cy="39623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35779" y="4724400"/>
              <a:ext cx="1363979" cy="50291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37859" y="3916680"/>
              <a:ext cx="1173480" cy="39623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3276600"/>
              <a:ext cx="1173479" cy="40386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3703320"/>
              <a:ext cx="1173479" cy="4038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4122420"/>
              <a:ext cx="1173479" cy="4038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4549139"/>
              <a:ext cx="1173479" cy="4038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737859" y="5608319"/>
              <a:ext cx="1173480" cy="40385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071359" y="4975860"/>
              <a:ext cx="1173479" cy="39623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71359" y="5394960"/>
              <a:ext cx="1173479" cy="40385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71359" y="5821680"/>
              <a:ext cx="1173479" cy="40385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71359" y="6240780"/>
              <a:ext cx="1173479" cy="403860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4469765" y="1650618"/>
            <a:ext cx="3609975" cy="49015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8425" algn="ctr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Integer</a:t>
            </a:r>
            <a:endParaRPr sz="13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 dirty="0">
              <a:latin typeface="Trebuchet MS"/>
              <a:cs typeface="Trebuchet MS"/>
            </a:endParaRPr>
          </a:p>
          <a:p>
            <a:pPr marL="107950" algn="ctr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Float</a:t>
            </a:r>
            <a:endParaRPr sz="1350" dirty="0">
              <a:latin typeface="Trebuchet MS"/>
              <a:cs typeface="Trebuchet MS"/>
            </a:endParaRPr>
          </a:p>
          <a:p>
            <a:pPr marR="2558415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Primitive</a:t>
            </a:r>
            <a:endParaRPr sz="1350" dirty="0">
              <a:latin typeface="Trebuchet MS"/>
              <a:cs typeface="Trebuchet MS"/>
            </a:endParaRPr>
          </a:p>
          <a:p>
            <a:pPr marL="95250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String</a:t>
            </a:r>
            <a:endParaRPr sz="13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 dirty="0">
              <a:latin typeface="Trebuchet MS"/>
              <a:cs typeface="Trebuchet MS"/>
            </a:endParaRPr>
          </a:p>
          <a:p>
            <a:pPr marL="103505" algn="ctr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Boolean</a:t>
            </a:r>
            <a:endParaRPr sz="13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50" dirty="0">
              <a:latin typeface="Trebuchet MS"/>
              <a:cs typeface="Trebuchet MS"/>
            </a:endParaRPr>
          </a:p>
          <a:p>
            <a:pPr marL="2769870" algn="ctr">
              <a:lnSpc>
                <a:spcPct val="100000"/>
              </a:lnSpc>
            </a:pPr>
            <a:r>
              <a:rPr sz="1350" spc="-20" dirty="0">
                <a:solidFill>
                  <a:srgbClr val="202745"/>
                </a:solidFill>
                <a:latin typeface="Trebuchet MS"/>
                <a:cs typeface="Trebuchet MS"/>
              </a:rPr>
              <a:t>List</a:t>
            </a:r>
            <a:endParaRPr sz="13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 dirty="0">
              <a:latin typeface="Trebuchet MS"/>
              <a:cs typeface="Trebuchet MS"/>
            </a:endParaRPr>
          </a:p>
          <a:p>
            <a:pPr marL="2765425" algn="ctr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Tuple</a:t>
            </a:r>
            <a:endParaRPr sz="1350" dirty="0">
              <a:latin typeface="Trebuchet MS"/>
              <a:cs typeface="Trebuchet MS"/>
            </a:endParaRPr>
          </a:p>
          <a:p>
            <a:pPr marL="100965" algn="ctr">
              <a:lnSpc>
                <a:spcPct val="100000"/>
              </a:lnSpc>
              <a:spcBef>
                <a:spcPts val="50"/>
              </a:spcBef>
            </a:pPr>
            <a:r>
              <a:rPr sz="1350" dirty="0">
                <a:solidFill>
                  <a:srgbClr val="202745"/>
                </a:solidFill>
                <a:latin typeface="Trebuchet MS"/>
                <a:cs typeface="Trebuchet MS"/>
              </a:rPr>
              <a:t>Built-</a:t>
            </a:r>
            <a:r>
              <a:rPr sz="1350" spc="-25" dirty="0">
                <a:solidFill>
                  <a:srgbClr val="202745"/>
                </a:solidFill>
                <a:latin typeface="Trebuchet MS"/>
                <a:cs typeface="Trebuchet MS"/>
              </a:rPr>
              <a:t>In</a:t>
            </a:r>
            <a:endParaRPr sz="1350" dirty="0">
              <a:latin typeface="Trebuchet MS"/>
              <a:cs typeface="Trebuchet MS"/>
            </a:endParaRPr>
          </a:p>
          <a:p>
            <a:pPr marL="2770505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Dictionary</a:t>
            </a:r>
            <a:endParaRPr sz="13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50" dirty="0">
              <a:latin typeface="Trebuchet MS"/>
              <a:cs typeface="Trebuchet MS"/>
            </a:endParaRPr>
          </a:p>
          <a:p>
            <a:pPr marL="2769870" algn="ctr">
              <a:lnSpc>
                <a:spcPct val="100000"/>
              </a:lnSpc>
            </a:pPr>
            <a:r>
              <a:rPr sz="1350" spc="-25" dirty="0">
                <a:solidFill>
                  <a:srgbClr val="202745"/>
                </a:solidFill>
                <a:latin typeface="Trebuchet MS"/>
                <a:cs typeface="Trebuchet MS"/>
              </a:rPr>
              <a:t>Set</a:t>
            </a:r>
            <a:endParaRPr sz="1350" dirty="0">
              <a:latin typeface="Trebuchet MS"/>
              <a:cs typeface="Trebuchet MS"/>
            </a:endParaRPr>
          </a:p>
          <a:p>
            <a:pPr marR="2559050" algn="ctr">
              <a:lnSpc>
                <a:spcPct val="100000"/>
              </a:lnSpc>
              <a:spcBef>
                <a:spcPts val="45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Nonprimitive</a:t>
            </a:r>
            <a:endParaRPr sz="1350" dirty="0">
              <a:latin typeface="Trebuchet MS"/>
              <a:cs typeface="Trebuchet MS"/>
            </a:endParaRPr>
          </a:p>
          <a:p>
            <a:pPr marL="2766060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Stack</a:t>
            </a:r>
            <a:endParaRPr sz="13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50" dirty="0">
              <a:latin typeface="Trebuchet MS"/>
              <a:cs typeface="Trebuchet MS"/>
            </a:endParaRPr>
          </a:p>
          <a:p>
            <a:pPr marL="2772410" algn="ctr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Queue</a:t>
            </a:r>
            <a:endParaRPr sz="1350" dirty="0">
              <a:latin typeface="Trebuchet MS"/>
              <a:cs typeface="Trebuchet MS"/>
            </a:endParaRPr>
          </a:p>
          <a:p>
            <a:pPr marL="104775" algn="ctr">
              <a:lnSpc>
                <a:spcPct val="100000"/>
              </a:lnSpc>
              <a:spcBef>
                <a:spcPts val="50"/>
              </a:spcBef>
            </a:pPr>
            <a:r>
              <a:rPr sz="1350" dirty="0">
                <a:solidFill>
                  <a:srgbClr val="202745"/>
                </a:solidFill>
                <a:latin typeface="Trebuchet MS"/>
                <a:cs typeface="Trebuchet MS"/>
              </a:rPr>
              <a:t>User-</a:t>
            </a: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Defined</a:t>
            </a:r>
            <a:endParaRPr sz="1350" dirty="0">
              <a:latin typeface="Trebuchet MS"/>
              <a:cs typeface="Trebuchet MS"/>
            </a:endParaRPr>
          </a:p>
          <a:p>
            <a:pPr marL="2768600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LinkedList</a:t>
            </a:r>
            <a:endParaRPr sz="135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 dirty="0">
              <a:latin typeface="Trebuchet MS"/>
              <a:cs typeface="Trebuchet MS"/>
            </a:endParaRPr>
          </a:p>
          <a:p>
            <a:pPr marL="2765425" algn="ctr">
              <a:lnSpc>
                <a:spcPct val="100000"/>
              </a:lnSpc>
            </a:pPr>
            <a:r>
              <a:rPr sz="1350" spc="-20" dirty="0">
                <a:solidFill>
                  <a:srgbClr val="202745"/>
                </a:solidFill>
                <a:latin typeface="Trebuchet MS"/>
                <a:cs typeface="Trebuchet MS"/>
              </a:rPr>
              <a:t>Tree</a:t>
            </a:r>
            <a:endParaRPr sz="135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21035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Python</a:t>
            </a:r>
            <a:r>
              <a:rPr spc="-245" dirty="0"/>
              <a:t> </a:t>
            </a:r>
            <a:r>
              <a:rPr dirty="0"/>
              <a:t>Data</a:t>
            </a:r>
            <a:r>
              <a:rPr spc="-240" dirty="0"/>
              <a:t> </a:t>
            </a:r>
            <a:r>
              <a:rPr spc="-25" dirty="0"/>
              <a:t>Structures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10000" y="1752600"/>
            <a:ext cx="3307079" cy="4709160"/>
            <a:chOff x="3810000" y="1752600"/>
            <a:chExt cx="3307079" cy="47091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3239" y="5791200"/>
              <a:ext cx="228599" cy="6705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0" y="5775959"/>
              <a:ext cx="259079" cy="2743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000" y="5562600"/>
              <a:ext cx="259079" cy="2819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8000" y="5143500"/>
              <a:ext cx="259079" cy="7010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39739" y="4945379"/>
              <a:ext cx="228600" cy="8839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3239" y="4099560"/>
              <a:ext cx="228599" cy="6705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0" y="4084320"/>
              <a:ext cx="259079" cy="2743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58000" y="3870960"/>
              <a:ext cx="259079" cy="2743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8000" y="3444239"/>
              <a:ext cx="259079" cy="70104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24500" y="4084320"/>
              <a:ext cx="259079" cy="9067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06240" y="3672839"/>
              <a:ext cx="228600" cy="130302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9739" y="2400300"/>
              <a:ext cx="228600" cy="6705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24500" y="2385059"/>
              <a:ext cx="259079" cy="28193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0" y="2179319"/>
              <a:ext cx="259079" cy="27432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4500" y="1752600"/>
              <a:ext cx="259079" cy="7010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91000" y="2385059"/>
              <a:ext cx="259079" cy="134112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10000" y="2636519"/>
              <a:ext cx="548639" cy="211836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899011" y="2822558"/>
            <a:ext cx="264795" cy="1760855"/>
          </a:xfrm>
          <a:prstGeom prst="rect">
            <a:avLst/>
          </a:prstGeom>
        </p:spPr>
        <p:txBody>
          <a:bodyPr vert="vert270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solidFill>
                  <a:srgbClr val="202745"/>
                </a:solidFill>
                <a:latin typeface="Trebuchet MS"/>
                <a:cs typeface="Trebuchet MS"/>
              </a:rPr>
              <a:t>All</a:t>
            </a:r>
            <a:r>
              <a:rPr sz="1600" spc="-40" dirty="0">
                <a:solidFill>
                  <a:srgbClr val="202745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2745"/>
                </a:solidFill>
                <a:latin typeface="Trebuchet MS"/>
                <a:cs typeface="Trebuchet MS"/>
              </a:rPr>
              <a:t>Data</a:t>
            </a:r>
            <a:r>
              <a:rPr sz="1600" spc="-50" dirty="0">
                <a:solidFill>
                  <a:srgbClr val="202745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2745"/>
                </a:solidFill>
                <a:latin typeface="Trebuchet MS"/>
                <a:cs typeface="Trebuchet MS"/>
              </a:rPr>
              <a:t>Structures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335779" y="1584960"/>
            <a:ext cx="3909060" cy="5059680"/>
            <a:chOff x="4335779" y="1584960"/>
            <a:chExt cx="3909060" cy="5059680"/>
          </a:xfrm>
        </p:grpSpPr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04359" y="2217420"/>
              <a:ext cx="1173480" cy="4038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7859" y="1584960"/>
              <a:ext cx="1173480" cy="4038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7859" y="2004060"/>
              <a:ext cx="1173480" cy="4038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7859" y="2430780"/>
              <a:ext cx="1173480" cy="4038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37859" y="2857500"/>
              <a:ext cx="1173480" cy="39623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35779" y="4724400"/>
              <a:ext cx="1363979" cy="50291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37859" y="3916680"/>
              <a:ext cx="1173480" cy="39623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3276600"/>
              <a:ext cx="1173479" cy="40386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71359" y="3703320"/>
              <a:ext cx="1173479" cy="4038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71359" y="4122420"/>
              <a:ext cx="1173479" cy="4038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71359" y="4549139"/>
              <a:ext cx="1173479" cy="4038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737859" y="5608319"/>
              <a:ext cx="1173480" cy="40385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071359" y="4975860"/>
              <a:ext cx="1173479" cy="39623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071359" y="5394960"/>
              <a:ext cx="1173479" cy="40385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071359" y="5821680"/>
              <a:ext cx="1173479" cy="40385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071359" y="6240780"/>
              <a:ext cx="1173479" cy="403860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4469765" y="1650618"/>
            <a:ext cx="3609975" cy="49015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8425" algn="ctr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Integer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rebuchet MS"/>
              <a:cs typeface="Trebuchet MS"/>
            </a:endParaRPr>
          </a:p>
          <a:p>
            <a:pPr marL="107950" algn="ctr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Float</a:t>
            </a:r>
            <a:endParaRPr sz="1350">
              <a:latin typeface="Trebuchet MS"/>
              <a:cs typeface="Trebuchet MS"/>
            </a:endParaRPr>
          </a:p>
          <a:p>
            <a:pPr marR="2558415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Primitive</a:t>
            </a:r>
            <a:endParaRPr sz="1350">
              <a:latin typeface="Trebuchet MS"/>
              <a:cs typeface="Trebuchet MS"/>
            </a:endParaRPr>
          </a:p>
          <a:p>
            <a:pPr marL="95250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String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rebuchet MS"/>
              <a:cs typeface="Trebuchet MS"/>
            </a:endParaRPr>
          </a:p>
          <a:p>
            <a:pPr marL="103505" algn="ctr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Boolean</a:t>
            </a:r>
            <a:endParaRPr sz="1350">
              <a:latin typeface="Trebuchet MS"/>
              <a:cs typeface="Trebuchet MS"/>
            </a:endParaRPr>
          </a:p>
          <a:p>
            <a:pPr marL="2776855" algn="ctr">
              <a:lnSpc>
                <a:spcPct val="100000"/>
              </a:lnSpc>
              <a:spcBef>
                <a:spcPts val="1290"/>
              </a:spcBef>
            </a:pPr>
            <a:r>
              <a:rPr sz="1950" b="1" spc="-20" dirty="0">
                <a:solidFill>
                  <a:srgbClr val="FFFFFF"/>
                </a:solidFill>
                <a:latin typeface="Trebuchet MS"/>
                <a:cs typeface="Trebuchet MS"/>
              </a:rPr>
              <a:t>List</a:t>
            </a:r>
            <a:endParaRPr sz="1950">
              <a:latin typeface="Trebuchet MS"/>
              <a:cs typeface="Trebuchet MS"/>
            </a:endParaRPr>
          </a:p>
          <a:p>
            <a:pPr marL="2765425" algn="ctr">
              <a:lnSpc>
                <a:spcPct val="100000"/>
              </a:lnSpc>
              <a:spcBef>
                <a:spcPts val="143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Tuple</a:t>
            </a:r>
            <a:endParaRPr sz="1350">
              <a:latin typeface="Trebuchet MS"/>
              <a:cs typeface="Trebuchet MS"/>
            </a:endParaRPr>
          </a:p>
          <a:p>
            <a:pPr marL="100965" algn="ctr">
              <a:lnSpc>
                <a:spcPct val="100000"/>
              </a:lnSpc>
              <a:spcBef>
                <a:spcPts val="50"/>
              </a:spcBef>
            </a:pPr>
            <a:r>
              <a:rPr sz="1350" dirty="0">
                <a:solidFill>
                  <a:srgbClr val="202745"/>
                </a:solidFill>
                <a:latin typeface="Trebuchet MS"/>
                <a:cs typeface="Trebuchet MS"/>
              </a:rPr>
              <a:t>Built-</a:t>
            </a:r>
            <a:r>
              <a:rPr sz="1350" spc="-25" dirty="0">
                <a:solidFill>
                  <a:srgbClr val="202745"/>
                </a:solidFill>
                <a:latin typeface="Trebuchet MS"/>
                <a:cs typeface="Trebuchet MS"/>
              </a:rPr>
              <a:t>In</a:t>
            </a:r>
            <a:endParaRPr sz="1350">
              <a:latin typeface="Trebuchet MS"/>
              <a:cs typeface="Trebuchet MS"/>
            </a:endParaRPr>
          </a:p>
          <a:p>
            <a:pPr marL="2770505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Dictionary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50">
              <a:latin typeface="Trebuchet MS"/>
              <a:cs typeface="Trebuchet MS"/>
            </a:endParaRPr>
          </a:p>
          <a:p>
            <a:pPr marL="2769870" algn="ctr">
              <a:lnSpc>
                <a:spcPct val="100000"/>
              </a:lnSpc>
            </a:pPr>
            <a:r>
              <a:rPr sz="1350" spc="-25" dirty="0">
                <a:solidFill>
                  <a:srgbClr val="202745"/>
                </a:solidFill>
                <a:latin typeface="Trebuchet MS"/>
                <a:cs typeface="Trebuchet MS"/>
              </a:rPr>
              <a:t>Set</a:t>
            </a:r>
            <a:endParaRPr sz="1350">
              <a:latin typeface="Trebuchet MS"/>
              <a:cs typeface="Trebuchet MS"/>
            </a:endParaRPr>
          </a:p>
          <a:p>
            <a:pPr marR="2559050" algn="ctr">
              <a:lnSpc>
                <a:spcPct val="100000"/>
              </a:lnSpc>
              <a:spcBef>
                <a:spcPts val="45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Nonprimitive</a:t>
            </a:r>
            <a:endParaRPr sz="1350">
              <a:latin typeface="Trebuchet MS"/>
              <a:cs typeface="Trebuchet MS"/>
            </a:endParaRPr>
          </a:p>
          <a:p>
            <a:pPr marL="2766060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Stack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50">
              <a:latin typeface="Trebuchet MS"/>
              <a:cs typeface="Trebuchet MS"/>
            </a:endParaRPr>
          </a:p>
          <a:p>
            <a:pPr marL="2772410" algn="ctr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Queue</a:t>
            </a:r>
            <a:endParaRPr sz="1350">
              <a:latin typeface="Trebuchet MS"/>
              <a:cs typeface="Trebuchet MS"/>
            </a:endParaRPr>
          </a:p>
          <a:p>
            <a:pPr marL="104775" algn="ctr">
              <a:lnSpc>
                <a:spcPct val="100000"/>
              </a:lnSpc>
              <a:spcBef>
                <a:spcPts val="50"/>
              </a:spcBef>
            </a:pPr>
            <a:r>
              <a:rPr sz="1350" dirty="0">
                <a:solidFill>
                  <a:srgbClr val="202745"/>
                </a:solidFill>
                <a:latin typeface="Trebuchet MS"/>
                <a:cs typeface="Trebuchet MS"/>
              </a:rPr>
              <a:t>User-</a:t>
            </a: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Defined</a:t>
            </a:r>
            <a:endParaRPr sz="1350">
              <a:latin typeface="Trebuchet MS"/>
              <a:cs typeface="Trebuchet MS"/>
            </a:endParaRPr>
          </a:p>
          <a:p>
            <a:pPr marL="2768600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LinkedList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rebuchet MS"/>
              <a:cs typeface="Trebuchet MS"/>
            </a:endParaRPr>
          </a:p>
          <a:p>
            <a:pPr marL="2765425" algn="ctr">
              <a:lnSpc>
                <a:spcPct val="100000"/>
              </a:lnSpc>
            </a:pPr>
            <a:r>
              <a:rPr sz="1350" spc="-20" dirty="0">
                <a:solidFill>
                  <a:srgbClr val="202745"/>
                </a:solidFill>
                <a:latin typeface="Trebuchet MS"/>
                <a:cs typeface="Trebuchet MS"/>
              </a:rPr>
              <a:t>Tree</a:t>
            </a:r>
            <a:endParaRPr sz="135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553742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657" y="483489"/>
            <a:ext cx="1444943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List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934" y="1548841"/>
            <a:ext cx="9883775" cy="184785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75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550" dirty="0">
                <a:latin typeface="Trebuchet MS"/>
                <a:cs typeface="Trebuchet MS"/>
              </a:rPr>
              <a:t>A</a:t>
            </a:r>
            <a:r>
              <a:rPr sz="2550" spc="-135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sequence</a:t>
            </a:r>
            <a:r>
              <a:rPr sz="2550" spc="190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or</a:t>
            </a:r>
            <a:r>
              <a:rPr sz="2550" spc="40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a</a:t>
            </a:r>
            <a:r>
              <a:rPr sz="2550" spc="55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collection</a:t>
            </a:r>
            <a:r>
              <a:rPr sz="2550" spc="170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of</a:t>
            </a:r>
            <a:r>
              <a:rPr sz="2550" spc="35" dirty="0">
                <a:latin typeface="Trebuchet MS"/>
                <a:cs typeface="Trebuchet MS"/>
              </a:rPr>
              <a:t> </a:t>
            </a:r>
            <a:r>
              <a:rPr sz="2550" spc="-10" dirty="0">
                <a:latin typeface="Trebuchet MS"/>
                <a:cs typeface="Trebuchet MS"/>
              </a:rPr>
              <a:t>elements.</a:t>
            </a:r>
            <a:endParaRPr sz="2550" dirty="0">
              <a:latin typeface="Trebuchet MS"/>
              <a:cs typeface="Trebuchet MS"/>
            </a:endParaRPr>
          </a:p>
          <a:p>
            <a:pPr marL="142240" indent="-129539">
              <a:lnSpc>
                <a:spcPct val="100000"/>
              </a:lnSpc>
              <a:spcBef>
                <a:spcPts val="665"/>
              </a:spcBef>
              <a:buClr>
                <a:srgbClr val="4E67C7"/>
              </a:buClr>
              <a:buFont typeface="Arial MT"/>
              <a:buChar char="•"/>
              <a:tabLst>
                <a:tab pos="142240" algn="l"/>
              </a:tabLst>
            </a:pPr>
            <a:r>
              <a:rPr sz="2550" dirty="0">
                <a:latin typeface="Trebuchet MS"/>
                <a:cs typeface="Trebuchet MS"/>
              </a:rPr>
              <a:t>A</a:t>
            </a:r>
            <a:r>
              <a:rPr sz="2550" spc="-120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list</a:t>
            </a:r>
            <a:r>
              <a:rPr sz="2550" spc="85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looks</a:t>
            </a:r>
            <a:r>
              <a:rPr sz="2550" spc="60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similar</a:t>
            </a:r>
            <a:r>
              <a:rPr sz="2550" spc="40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to</a:t>
            </a:r>
            <a:r>
              <a:rPr sz="2550" spc="75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an</a:t>
            </a:r>
            <a:r>
              <a:rPr sz="2550" spc="50" dirty="0">
                <a:latin typeface="Trebuchet MS"/>
                <a:cs typeface="Trebuchet MS"/>
              </a:rPr>
              <a:t> </a:t>
            </a:r>
            <a:r>
              <a:rPr sz="2550" spc="-20" dirty="0">
                <a:latin typeface="Trebuchet MS"/>
                <a:cs typeface="Trebuchet MS"/>
              </a:rPr>
              <a:t>array,</a:t>
            </a:r>
            <a:r>
              <a:rPr sz="2550" spc="-25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but</a:t>
            </a:r>
            <a:r>
              <a:rPr sz="2550" spc="30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not</a:t>
            </a:r>
            <a:r>
              <a:rPr sz="2550" spc="20" dirty="0">
                <a:latin typeface="Trebuchet MS"/>
                <a:cs typeface="Trebuchet MS"/>
              </a:rPr>
              <a:t> </a:t>
            </a:r>
            <a:r>
              <a:rPr sz="2550" spc="-10" dirty="0">
                <a:latin typeface="Trebuchet MS"/>
                <a:cs typeface="Trebuchet MS"/>
              </a:rPr>
              <a:t>array</a:t>
            </a:r>
            <a:endParaRPr sz="2550" dirty="0">
              <a:latin typeface="Trebuchet MS"/>
              <a:cs typeface="Trebuchet MS"/>
            </a:endParaRPr>
          </a:p>
          <a:p>
            <a:pPr marL="142240" marR="5080" indent="-129539">
              <a:lnSpc>
                <a:spcPct val="102000"/>
              </a:lnSpc>
              <a:spcBef>
                <a:spcPts val="660"/>
              </a:spcBef>
              <a:buClr>
                <a:srgbClr val="4E67C7"/>
              </a:buClr>
              <a:buFont typeface="Arial MT"/>
              <a:buChar char="•"/>
              <a:tabLst>
                <a:tab pos="142240" algn="l"/>
              </a:tabLst>
            </a:pPr>
            <a:r>
              <a:rPr sz="2550" dirty="0">
                <a:latin typeface="Trebuchet MS"/>
                <a:cs typeface="Trebuchet MS"/>
              </a:rPr>
              <a:t>Lists,</a:t>
            </a:r>
            <a:r>
              <a:rPr sz="2550" spc="105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can</a:t>
            </a:r>
            <a:r>
              <a:rPr sz="2550" spc="75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contain</a:t>
            </a:r>
            <a:r>
              <a:rPr sz="2550" spc="135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any</a:t>
            </a:r>
            <a:r>
              <a:rPr sz="2550" spc="30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number</a:t>
            </a:r>
            <a:r>
              <a:rPr sz="2550" spc="60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of</a:t>
            </a:r>
            <a:r>
              <a:rPr sz="2550" spc="105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elements.</a:t>
            </a:r>
            <a:r>
              <a:rPr sz="2550" spc="50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The</a:t>
            </a:r>
            <a:r>
              <a:rPr sz="2550" spc="75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elements</a:t>
            </a:r>
            <a:r>
              <a:rPr sz="2550" spc="140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of</a:t>
            </a:r>
            <a:r>
              <a:rPr sz="2550" spc="50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a</a:t>
            </a:r>
            <a:r>
              <a:rPr sz="2550" spc="65" dirty="0">
                <a:latin typeface="Trebuchet MS"/>
                <a:cs typeface="Trebuchet MS"/>
              </a:rPr>
              <a:t> </a:t>
            </a:r>
            <a:r>
              <a:rPr sz="2550" spc="-20" dirty="0">
                <a:latin typeface="Trebuchet MS"/>
                <a:cs typeface="Trebuchet MS"/>
              </a:rPr>
              <a:t>list </a:t>
            </a:r>
            <a:r>
              <a:rPr sz="2550" dirty="0">
                <a:latin typeface="Trebuchet MS"/>
                <a:cs typeface="Trebuchet MS"/>
              </a:rPr>
              <a:t>need</a:t>
            </a:r>
            <a:r>
              <a:rPr sz="2550" spc="100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not</a:t>
            </a:r>
            <a:r>
              <a:rPr sz="2550" spc="35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be</a:t>
            </a:r>
            <a:r>
              <a:rPr sz="2550" spc="70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of</a:t>
            </a:r>
            <a:r>
              <a:rPr sz="2550" spc="105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the</a:t>
            </a:r>
            <a:r>
              <a:rPr sz="2550" spc="10" dirty="0">
                <a:latin typeface="Trebuchet MS"/>
                <a:cs typeface="Trebuchet MS"/>
              </a:rPr>
              <a:t> </a:t>
            </a:r>
            <a:r>
              <a:rPr sz="2550" dirty="0">
                <a:latin typeface="Trebuchet MS"/>
                <a:cs typeface="Trebuchet MS"/>
              </a:rPr>
              <a:t>same</a:t>
            </a:r>
            <a:r>
              <a:rPr sz="2550" spc="65" dirty="0">
                <a:latin typeface="Trebuchet MS"/>
                <a:cs typeface="Trebuchet MS"/>
              </a:rPr>
              <a:t> </a:t>
            </a:r>
            <a:r>
              <a:rPr sz="2550" spc="-20" dirty="0">
                <a:latin typeface="Trebuchet MS"/>
                <a:cs typeface="Trebuchet MS"/>
              </a:rPr>
              <a:t>type</a:t>
            </a:r>
            <a:endParaRPr sz="255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68420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List</a:t>
            </a:r>
            <a:r>
              <a:rPr spc="-240" dirty="0"/>
              <a:t> </a:t>
            </a:r>
            <a:r>
              <a:rPr spc="-30" dirty="0"/>
              <a:t>Creation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1219200"/>
            <a:ext cx="7708266" cy="4506618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r>
              <a:rPr lang="en-IN" sz="2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Creating lists for aircraft and max speeds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aircraft = ["Boeing_747", "Airbus_A320", "Cessna_172"]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max_speed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[920, 840, 302]   # speeds in km/h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Printing the lists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print(aircraft)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max_speed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Accessing list elements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print(aircraft[0])    # First aircraft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max_speed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[1])   # Max speed of second aircraft</a:t>
            </a:r>
          </a:p>
          <a:p>
            <a:pPr marL="12700" marR="5080" indent="53340">
              <a:lnSpc>
                <a:spcPct val="118900"/>
              </a:lnSpc>
              <a:spcBef>
                <a:spcPts val="35"/>
              </a:spcBef>
            </a:pPr>
            <a:endParaRPr sz="2400" dirty="0">
              <a:latin typeface="Consolas"/>
              <a:cs typeface="Consola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060914"/>
            <a:ext cx="4711090" cy="282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64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Combining</a:t>
            </a:r>
            <a:r>
              <a:rPr spc="-170" dirty="0"/>
              <a:t> </a:t>
            </a:r>
            <a:r>
              <a:rPr dirty="0"/>
              <a:t>two</a:t>
            </a:r>
            <a:r>
              <a:rPr spc="-265" dirty="0"/>
              <a:t> </a:t>
            </a:r>
            <a:r>
              <a:rPr spc="-10" dirty="0"/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0" y="1164974"/>
            <a:ext cx="5334000" cy="480836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r>
              <a:rPr lang="en-IN" sz="2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Adding more aircraft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new_aircraft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["F-16", "Concorde"]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all_aircraft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aircraft +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new_aircraft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all_aircraft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all_aircraft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  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Appending a new aircraft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all_aircraft.append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("SR-71")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all_aircraft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Deleting an aircraft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all_aircraft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  # Deletes "Cessna_172"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all_aircraft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971" y="1600200"/>
            <a:ext cx="5758961" cy="324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59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657" y="483489"/>
            <a:ext cx="5712143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Negative</a:t>
            </a:r>
            <a:r>
              <a:rPr spc="-215" dirty="0"/>
              <a:t> </a:t>
            </a:r>
            <a:r>
              <a:rPr spc="-20" dirty="0"/>
              <a:t>Index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200" y="1295400"/>
            <a:ext cx="5448192" cy="45720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400" dirty="0" smtClean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Creating lists for aircraft and max speeds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aircraft = ["Boeing_747", "Airbus_A320", "Cessna_172"]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max_speed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[920, 840, 302]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400" dirty="0" smtClean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Accessing elements using negative index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print("Last aircraft:", aircraft[-1]) 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print("Second last aircraft:", aircraft[-2]) 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print("Last speed:",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max_speed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[-1]) </a:t>
            </a: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print("Second last speed:",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max_speed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[-2])</a:t>
            </a:r>
            <a:endParaRPr sz="1950" dirty="0">
              <a:latin typeface="Consolas"/>
              <a:cs typeface="Consola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47800"/>
            <a:ext cx="5776281" cy="39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575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162800" cy="63286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r>
              <a:rPr lang="en-IN" sz="4000" dirty="0"/>
              <a:t>LIST WITH MIXED DATA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200" y="1143926"/>
            <a:ext cx="5029200" cy="444865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IN" sz="2400" dirty="0"/>
              <a:t/>
            </a:r>
            <a:br>
              <a:rPr lang="en-IN" sz="2400" dirty="0"/>
            </a:br>
            <a:r>
              <a:rPr lang="en-IN" sz="2400" dirty="0">
                <a:solidFill>
                  <a:schemeClr val="accent3"/>
                </a:solidFill>
              </a:rPr>
              <a:t># List with mixed data </a:t>
            </a:r>
            <a:r>
              <a:rPr lang="en-IN" sz="2400" dirty="0" smtClean="0">
                <a:solidFill>
                  <a:schemeClr val="accent3"/>
                </a:solidFill>
              </a:rPr>
              <a:t>types</a:t>
            </a:r>
          </a:p>
          <a:p>
            <a:r>
              <a:rPr lang="en-IN" sz="2400" dirty="0" smtClean="0"/>
              <a:t> </a:t>
            </a:r>
          </a:p>
          <a:p>
            <a:r>
              <a:rPr lang="en-IN" sz="2400" dirty="0" smtClean="0">
                <a:solidFill>
                  <a:schemeClr val="accent3"/>
                </a:solidFill>
              </a:rPr>
              <a:t>(</a:t>
            </a:r>
            <a:r>
              <a:rPr lang="en-IN" sz="2400" dirty="0">
                <a:solidFill>
                  <a:schemeClr val="accent3"/>
                </a:solidFill>
              </a:rPr>
              <a:t>example: sensor reading, fluid type, pressure</a:t>
            </a:r>
            <a:r>
              <a:rPr lang="en-IN" sz="2400" dirty="0" smtClean="0">
                <a:solidFill>
                  <a:schemeClr val="accent3"/>
                </a:solidFill>
              </a:rPr>
              <a:t>)</a:t>
            </a:r>
          </a:p>
          <a:p>
            <a:endParaRPr lang="en-IN" sz="2400" dirty="0"/>
          </a:p>
          <a:p>
            <a:r>
              <a:rPr lang="en-IN" sz="2400" dirty="0" err="1"/>
              <a:t>mixed_data</a:t>
            </a:r>
            <a:r>
              <a:rPr lang="en-IN" sz="2400" dirty="0"/>
              <a:t> = [3.5, "air", 101325]  </a:t>
            </a:r>
            <a:endParaRPr lang="en-IN" sz="2400" dirty="0" smtClean="0"/>
          </a:p>
          <a:p>
            <a:r>
              <a:rPr lang="en-IN" sz="2400" dirty="0" smtClean="0"/>
              <a:t># </a:t>
            </a:r>
            <a:r>
              <a:rPr lang="en-IN" sz="2400" dirty="0"/>
              <a:t>float, </a:t>
            </a:r>
            <a:r>
              <a:rPr lang="en-IN" sz="2400" dirty="0" err="1"/>
              <a:t>str</a:t>
            </a:r>
            <a:r>
              <a:rPr lang="en-IN" sz="2400" dirty="0"/>
              <a:t>, </a:t>
            </a:r>
            <a:r>
              <a:rPr lang="en-IN" sz="2400" dirty="0" err="1" smtClean="0"/>
              <a:t>int</a:t>
            </a:r>
            <a:endParaRPr lang="en-IN" sz="2400" dirty="0" smtClean="0"/>
          </a:p>
          <a:p>
            <a:endParaRPr lang="en-IN" sz="2400" dirty="0"/>
          </a:p>
          <a:p>
            <a:r>
              <a:rPr lang="en-IN" sz="2400" dirty="0"/>
              <a:t>print("Mixed data:", </a:t>
            </a:r>
            <a:r>
              <a:rPr lang="en-IN" sz="2400" dirty="0" err="1"/>
              <a:t>mixed_data</a:t>
            </a:r>
            <a:r>
              <a:rPr lang="en-IN" sz="2400" dirty="0"/>
              <a:t>)</a:t>
            </a:r>
          </a:p>
          <a:p>
            <a:r>
              <a:rPr lang="en-IN" sz="2400" dirty="0"/>
              <a:t/>
            </a:r>
            <a:br>
              <a:rPr lang="en-IN" sz="2400" dirty="0"/>
            </a:br>
            <a:endParaRPr lang="en-IN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95400"/>
            <a:ext cx="6114025" cy="393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79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Python</a:t>
            </a:r>
            <a:r>
              <a:rPr spc="-245" dirty="0"/>
              <a:t> </a:t>
            </a:r>
            <a:r>
              <a:rPr dirty="0"/>
              <a:t>Data</a:t>
            </a:r>
            <a:r>
              <a:rPr spc="-240" dirty="0"/>
              <a:t> </a:t>
            </a:r>
            <a:r>
              <a:rPr spc="-25" dirty="0"/>
              <a:t>Structures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10000" y="1752600"/>
            <a:ext cx="3307079" cy="4709160"/>
            <a:chOff x="3810000" y="1752600"/>
            <a:chExt cx="3307079" cy="47091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3239" y="5791200"/>
              <a:ext cx="228599" cy="6705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0" y="5775959"/>
              <a:ext cx="259079" cy="2743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000" y="5562600"/>
              <a:ext cx="259079" cy="2819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8000" y="5143500"/>
              <a:ext cx="259079" cy="7010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39739" y="4945379"/>
              <a:ext cx="228600" cy="8839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3239" y="4099560"/>
              <a:ext cx="228599" cy="6705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0" y="4084320"/>
              <a:ext cx="259079" cy="2743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58000" y="3870960"/>
              <a:ext cx="259079" cy="2743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8000" y="3444239"/>
              <a:ext cx="259079" cy="70104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24500" y="4084320"/>
              <a:ext cx="259079" cy="9067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06240" y="3672839"/>
              <a:ext cx="228600" cy="130302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9739" y="2400300"/>
              <a:ext cx="228600" cy="6705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24500" y="2385059"/>
              <a:ext cx="259079" cy="28193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0" y="2179319"/>
              <a:ext cx="259079" cy="27432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4500" y="1752600"/>
              <a:ext cx="259079" cy="7010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91000" y="2385059"/>
              <a:ext cx="259079" cy="134112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10000" y="2636519"/>
              <a:ext cx="548639" cy="211836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899011" y="2822558"/>
            <a:ext cx="264795" cy="1760855"/>
          </a:xfrm>
          <a:prstGeom prst="rect">
            <a:avLst/>
          </a:prstGeom>
        </p:spPr>
        <p:txBody>
          <a:bodyPr vert="vert270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solidFill>
                  <a:srgbClr val="202745"/>
                </a:solidFill>
                <a:latin typeface="Trebuchet MS"/>
                <a:cs typeface="Trebuchet MS"/>
              </a:rPr>
              <a:t>All</a:t>
            </a:r>
            <a:r>
              <a:rPr sz="1600" spc="-40" dirty="0">
                <a:solidFill>
                  <a:srgbClr val="202745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2745"/>
                </a:solidFill>
                <a:latin typeface="Trebuchet MS"/>
                <a:cs typeface="Trebuchet MS"/>
              </a:rPr>
              <a:t>Data</a:t>
            </a:r>
            <a:r>
              <a:rPr sz="1600" spc="-50" dirty="0">
                <a:solidFill>
                  <a:srgbClr val="202745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2745"/>
                </a:solidFill>
                <a:latin typeface="Trebuchet MS"/>
                <a:cs typeface="Trebuchet MS"/>
              </a:rPr>
              <a:t>Structures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335779" y="1584960"/>
            <a:ext cx="3909060" cy="5059680"/>
            <a:chOff x="4335779" y="1584960"/>
            <a:chExt cx="3909060" cy="5059680"/>
          </a:xfrm>
        </p:grpSpPr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04359" y="2217420"/>
              <a:ext cx="1173480" cy="4038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7859" y="1584960"/>
              <a:ext cx="1173480" cy="4038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7859" y="2004060"/>
              <a:ext cx="1173480" cy="4038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7859" y="2430780"/>
              <a:ext cx="1173480" cy="4038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37859" y="2857500"/>
              <a:ext cx="1173480" cy="39623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35779" y="4724400"/>
              <a:ext cx="1363979" cy="50291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37859" y="3916680"/>
              <a:ext cx="1173480" cy="39623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3276600"/>
              <a:ext cx="1173479" cy="40386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3703320"/>
              <a:ext cx="1173479" cy="4038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4122420"/>
              <a:ext cx="1173479" cy="4038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4549139"/>
              <a:ext cx="1173479" cy="4038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737859" y="5608319"/>
              <a:ext cx="1173480" cy="40385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071359" y="4975860"/>
              <a:ext cx="1173479" cy="39623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71359" y="5394960"/>
              <a:ext cx="1173479" cy="40385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71359" y="5821680"/>
              <a:ext cx="1173479" cy="40385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71359" y="6240780"/>
              <a:ext cx="1173479" cy="403860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4469765" y="1650618"/>
            <a:ext cx="3609975" cy="49015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8425" algn="ctr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Integer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rebuchet MS"/>
              <a:cs typeface="Trebuchet MS"/>
            </a:endParaRPr>
          </a:p>
          <a:p>
            <a:pPr marL="107950" algn="ctr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Float</a:t>
            </a:r>
            <a:endParaRPr sz="1350">
              <a:latin typeface="Trebuchet MS"/>
              <a:cs typeface="Trebuchet MS"/>
            </a:endParaRPr>
          </a:p>
          <a:p>
            <a:pPr marR="2558415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Primitive</a:t>
            </a:r>
            <a:endParaRPr sz="1350">
              <a:latin typeface="Trebuchet MS"/>
              <a:cs typeface="Trebuchet MS"/>
            </a:endParaRPr>
          </a:p>
          <a:p>
            <a:pPr marL="95250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String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rebuchet MS"/>
              <a:cs typeface="Trebuchet MS"/>
            </a:endParaRPr>
          </a:p>
          <a:p>
            <a:pPr marL="103505" algn="ctr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Boolean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50">
              <a:latin typeface="Trebuchet MS"/>
              <a:cs typeface="Trebuchet MS"/>
            </a:endParaRPr>
          </a:p>
          <a:p>
            <a:pPr marL="2769870" algn="ctr">
              <a:lnSpc>
                <a:spcPct val="100000"/>
              </a:lnSpc>
            </a:pPr>
            <a:r>
              <a:rPr sz="1350" spc="-20" dirty="0">
                <a:solidFill>
                  <a:srgbClr val="202745"/>
                </a:solidFill>
                <a:latin typeface="Trebuchet MS"/>
                <a:cs typeface="Trebuchet MS"/>
              </a:rPr>
              <a:t>List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rebuchet MS"/>
              <a:cs typeface="Trebuchet MS"/>
            </a:endParaRPr>
          </a:p>
          <a:p>
            <a:pPr marL="2765425" algn="ctr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Tuple</a:t>
            </a:r>
            <a:endParaRPr sz="1350">
              <a:latin typeface="Trebuchet MS"/>
              <a:cs typeface="Trebuchet MS"/>
            </a:endParaRPr>
          </a:p>
          <a:p>
            <a:pPr marL="100965" algn="ctr">
              <a:lnSpc>
                <a:spcPct val="100000"/>
              </a:lnSpc>
              <a:spcBef>
                <a:spcPts val="50"/>
              </a:spcBef>
            </a:pPr>
            <a:r>
              <a:rPr sz="1350" dirty="0">
                <a:solidFill>
                  <a:srgbClr val="202745"/>
                </a:solidFill>
                <a:latin typeface="Trebuchet MS"/>
                <a:cs typeface="Trebuchet MS"/>
              </a:rPr>
              <a:t>Built-</a:t>
            </a:r>
            <a:r>
              <a:rPr sz="1350" spc="-25" dirty="0">
                <a:solidFill>
                  <a:srgbClr val="202745"/>
                </a:solidFill>
                <a:latin typeface="Trebuchet MS"/>
                <a:cs typeface="Trebuchet MS"/>
              </a:rPr>
              <a:t>In</a:t>
            </a:r>
            <a:endParaRPr sz="1350">
              <a:latin typeface="Trebuchet MS"/>
              <a:cs typeface="Trebuchet MS"/>
            </a:endParaRPr>
          </a:p>
          <a:p>
            <a:pPr marL="2770505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Dictionary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50">
              <a:latin typeface="Trebuchet MS"/>
              <a:cs typeface="Trebuchet MS"/>
            </a:endParaRPr>
          </a:p>
          <a:p>
            <a:pPr marL="2769870" algn="ctr">
              <a:lnSpc>
                <a:spcPct val="100000"/>
              </a:lnSpc>
            </a:pPr>
            <a:r>
              <a:rPr sz="1350" spc="-25" dirty="0">
                <a:solidFill>
                  <a:srgbClr val="202745"/>
                </a:solidFill>
                <a:latin typeface="Trebuchet MS"/>
                <a:cs typeface="Trebuchet MS"/>
              </a:rPr>
              <a:t>Set</a:t>
            </a:r>
            <a:endParaRPr sz="1350">
              <a:latin typeface="Trebuchet MS"/>
              <a:cs typeface="Trebuchet MS"/>
            </a:endParaRPr>
          </a:p>
          <a:p>
            <a:pPr marR="2559050" algn="ctr">
              <a:lnSpc>
                <a:spcPct val="100000"/>
              </a:lnSpc>
              <a:spcBef>
                <a:spcPts val="45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Nonprimitive</a:t>
            </a:r>
            <a:endParaRPr sz="1350">
              <a:latin typeface="Trebuchet MS"/>
              <a:cs typeface="Trebuchet MS"/>
            </a:endParaRPr>
          </a:p>
          <a:p>
            <a:pPr marL="2766060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Stack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50">
              <a:latin typeface="Trebuchet MS"/>
              <a:cs typeface="Trebuchet MS"/>
            </a:endParaRPr>
          </a:p>
          <a:p>
            <a:pPr marL="2772410" algn="ctr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Queue</a:t>
            </a:r>
            <a:endParaRPr sz="1350">
              <a:latin typeface="Trebuchet MS"/>
              <a:cs typeface="Trebuchet MS"/>
            </a:endParaRPr>
          </a:p>
          <a:p>
            <a:pPr marL="104775" algn="ctr">
              <a:lnSpc>
                <a:spcPct val="100000"/>
              </a:lnSpc>
              <a:spcBef>
                <a:spcPts val="50"/>
              </a:spcBef>
            </a:pPr>
            <a:r>
              <a:rPr sz="1350" dirty="0">
                <a:solidFill>
                  <a:srgbClr val="202745"/>
                </a:solidFill>
                <a:latin typeface="Trebuchet MS"/>
                <a:cs typeface="Trebuchet MS"/>
              </a:rPr>
              <a:t>User-</a:t>
            </a: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Defined</a:t>
            </a:r>
            <a:endParaRPr sz="1350">
              <a:latin typeface="Trebuchet MS"/>
              <a:cs typeface="Trebuchet MS"/>
            </a:endParaRPr>
          </a:p>
          <a:p>
            <a:pPr marL="2768600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LinkedList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rebuchet MS"/>
              <a:cs typeface="Trebuchet MS"/>
            </a:endParaRPr>
          </a:p>
          <a:p>
            <a:pPr marL="2765425" algn="ctr">
              <a:lnSpc>
                <a:spcPct val="100000"/>
              </a:lnSpc>
            </a:pPr>
            <a:r>
              <a:rPr sz="1350" spc="-20" dirty="0">
                <a:solidFill>
                  <a:srgbClr val="202745"/>
                </a:solidFill>
                <a:latin typeface="Trebuchet MS"/>
                <a:cs typeface="Trebuchet MS"/>
              </a:rPr>
              <a:t>Tree</a:t>
            </a:r>
            <a:endParaRPr sz="135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226338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Python</a:t>
            </a:r>
            <a:r>
              <a:rPr spc="-245" dirty="0"/>
              <a:t> </a:t>
            </a:r>
            <a:r>
              <a:rPr dirty="0"/>
              <a:t>Data</a:t>
            </a:r>
            <a:r>
              <a:rPr spc="-240" dirty="0"/>
              <a:t> </a:t>
            </a:r>
            <a:r>
              <a:rPr spc="-25" dirty="0"/>
              <a:t>Structures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10000" y="1752600"/>
            <a:ext cx="3307079" cy="4709160"/>
            <a:chOff x="3810000" y="1752600"/>
            <a:chExt cx="3307079" cy="47091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3239" y="5791200"/>
              <a:ext cx="228599" cy="6705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0" y="5775959"/>
              <a:ext cx="259079" cy="2743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000" y="5562600"/>
              <a:ext cx="259079" cy="2819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8000" y="5143500"/>
              <a:ext cx="259079" cy="7010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39739" y="4945379"/>
              <a:ext cx="228600" cy="8839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3239" y="4099560"/>
              <a:ext cx="228599" cy="6705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0" y="4084320"/>
              <a:ext cx="259079" cy="2743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58000" y="3870960"/>
              <a:ext cx="259079" cy="2743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8000" y="3444239"/>
              <a:ext cx="259079" cy="70104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24500" y="4084320"/>
              <a:ext cx="259079" cy="9067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06240" y="3672839"/>
              <a:ext cx="228600" cy="130302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9739" y="2400300"/>
              <a:ext cx="228600" cy="6705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24500" y="2385059"/>
              <a:ext cx="259079" cy="28193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0" y="2179319"/>
              <a:ext cx="259079" cy="27432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4500" y="1752600"/>
              <a:ext cx="259079" cy="7010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91000" y="2385059"/>
              <a:ext cx="259079" cy="134112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10000" y="2636519"/>
              <a:ext cx="548639" cy="211836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899011" y="2822558"/>
            <a:ext cx="264795" cy="1760855"/>
          </a:xfrm>
          <a:prstGeom prst="rect">
            <a:avLst/>
          </a:prstGeom>
        </p:spPr>
        <p:txBody>
          <a:bodyPr vert="vert270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solidFill>
                  <a:srgbClr val="202745"/>
                </a:solidFill>
                <a:latin typeface="Trebuchet MS"/>
                <a:cs typeface="Trebuchet MS"/>
              </a:rPr>
              <a:t>All</a:t>
            </a:r>
            <a:r>
              <a:rPr sz="1600" spc="-40" dirty="0">
                <a:solidFill>
                  <a:srgbClr val="202745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2745"/>
                </a:solidFill>
                <a:latin typeface="Trebuchet MS"/>
                <a:cs typeface="Trebuchet MS"/>
              </a:rPr>
              <a:t>Data</a:t>
            </a:r>
            <a:r>
              <a:rPr sz="1600" spc="-50" dirty="0">
                <a:solidFill>
                  <a:srgbClr val="202745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2745"/>
                </a:solidFill>
                <a:latin typeface="Trebuchet MS"/>
                <a:cs typeface="Trebuchet MS"/>
              </a:rPr>
              <a:t>Structures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404359" y="1584960"/>
            <a:ext cx="2506980" cy="1668780"/>
            <a:chOff x="4404359" y="1584960"/>
            <a:chExt cx="2506980" cy="1668780"/>
          </a:xfrm>
        </p:grpSpPr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04359" y="2217420"/>
              <a:ext cx="1173480" cy="4038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7859" y="1584960"/>
              <a:ext cx="1173480" cy="4038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7859" y="2004060"/>
              <a:ext cx="1173480" cy="4038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7859" y="2430780"/>
              <a:ext cx="1173480" cy="4038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37859" y="2857500"/>
              <a:ext cx="1173480" cy="39623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4622165" y="1650618"/>
            <a:ext cx="2028189" cy="15081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16050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Integer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rebuchet MS"/>
              <a:cs typeface="Trebuchet MS"/>
            </a:endParaRPr>
          </a:p>
          <a:p>
            <a:pPr marL="1507490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Float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Primitive</a:t>
            </a:r>
            <a:endParaRPr sz="1350">
              <a:latin typeface="Trebuchet MS"/>
              <a:cs typeface="Trebuchet MS"/>
            </a:endParaRPr>
          </a:p>
          <a:p>
            <a:pPr marL="1469390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String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rebuchet MS"/>
              <a:cs typeface="Trebuchet MS"/>
            </a:endParaRPr>
          </a:p>
          <a:p>
            <a:pPr marL="1393190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Boolean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335779" y="4724400"/>
            <a:ext cx="1363979" cy="502919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4469765" y="4831016"/>
            <a:ext cx="104266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Nonprimitive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737859" y="3916679"/>
            <a:ext cx="1173480" cy="396239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6025896" y="3983354"/>
            <a:ext cx="59880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dirty="0">
                <a:solidFill>
                  <a:srgbClr val="202745"/>
                </a:solidFill>
                <a:latin typeface="Trebuchet MS"/>
                <a:cs typeface="Trebuchet MS"/>
              </a:rPr>
              <a:t>Built-</a:t>
            </a:r>
            <a:r>
              <a:rPr sz="1350" spc="-25" dirty="0">
                <a:solidFill>
                  <a:srgbClr val="202745"/>
                </a:solidFill>
                <a:latin typeface="Trebuchet MS"/>
                <a:cs typeface="Trebuchet MS"/>
              </a:rPr>
              <a:t>In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071359" y="3276600"/>
            <a:ext cx="1173480" cy="1249680"/>
            <a:chOff x="7071359" y="3276600"/>
            <a:chExt cx="1173480" cy="1249680"/>
          </a:xfrm>
        </p:grpSpPr>
        <p:pic>
          <p:nvPicPr>
            <p:cNvPr id="34" name="object 3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3276600"/>
              <a:ext cx="1173479" cy="40386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71359" y="3703319"/>
              <a:ext cx="1173479" cy="40386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4122419"/>
              <a:ext cx="1173479" cy="40386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7246366" y="3236417"/>
            <a:ext cx="827405" cy="119507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r>
              <a:rPr sz="1350" spc="-20" dirty="0">
                <a:solidFill>
                  <a:srgbClr val="202745"/>
                </a:solidFill>
                <a:latin typeface="Trebuchet MS"/>
                <a:cs typeface="Trebuchet MS"/>
              </a:rPr>
              <a:t>List</a:t>
            </a:r>
            <a:endParaRPr sz="1350">
              <a:latin typeface="Trebuchet MS"/>
              <a:cs typeface="Trebuchet MS"/>
            </a:endParaRPr>
          </a:p>
          <a:p>
            <a:pPr marL="5080" algn="ctr">
              <a:lnSpc>
                <a:spcPct val="100000"/>
              </a:lnSpc>
              <a:spcBef>
                <a:spcPts val="1285"/>
              </a:spcBef>
            </a:pPr>
            <a:r>
              <a:rPr sz="1950" b="1" spc="-10" dirty="0">
                <a:solidFill>
                  <a:srgbClr val="FFFFFF"/>
                </a:solidFill>
                <a:latin typeface="Trebuchet MS"/>
                <a:cs typeface="Trebuchet MS"/>
              </a:rPr>
              <a:t>Tuple</a:t>
            </a:r>
            <a:endParaRPr sz="19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435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Dictionary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38" name="object 3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071359" y="4549140"/>
            <a:ext cx="1173479" cy="403860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7520558" y="4619625"/>
            <a:ext cx="278130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5" dirty="0">
                <a:solidFill>
                  <a:srgbClr val="202745"/>
                </a:solidFill>
                <a:latin typeface="Trebuchet MS"/>
                <a:cs typeface="Trebuchet MS"/>
              </a:rPr>
              <a:t>Set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737859" y="4975859"/>
            <a:ext cx="2506980" cy="1668780"/>
            <a:chOff x="5737859" y="4975859"/>
            <a:chExt cx="2506980" cy="1668780"/>
          </a:xfrm>
        </p:grpSpPr>
        <p:pic>
          <p:nvPicPr>
            <p:cNvPr id="41" name="object 4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737859" y="5608319"/>
              <a:ext cx="1173480" cy="40385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071359" y="4975859"/>
              <a:ext cx="1173479" cy="39623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071359" y="5394959"/>
              <a:ext cx="1173479" cy="40385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071359" y="5821679"/>
              <a:ext cx="1173479" cy="40385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071359" y="6240779"/>
              <a:ext cx="1173479" cy="403860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5796915" y="5043106"/>
            <a:ext cx="2282825" cy="1508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52270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Stack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50">
              <a:latin typeface="Trebuchet MS"/>
              <a:cs typeface="Trebuchet MS"/>
            </a:endParaRPr>
          </a:p>
          <a:p>
            <a:pPr marL="1606550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Queue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350" dirty="0">
                <a:solidFill>
                  <a:srgbClr val="202745"/>
                </a:solidFill>
                <a:latin typeface="Trebuchet MS"/>
                <a:cs typeface="Trebuchet MS"/>
              </a:rPr>
              <a:t>User-</a:t>
            </a: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Defined</a:t>
            </a:r>
            <a:endParaRPr sz="1350">
              <a:latin typeface="Trebuchet MS"/>
              <a:cs typeface="Trebuchet MS"/>
            </a:endParaRPr>
          </a:p>
          <a:p>
            <a:pPr marL="1454150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LinkedList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rebuchet MS"/>
              <a:cs typeface="Trebuchet MS"/>
            </a:endParaRPr>
          </a:p>
          <a:p>
            <a:pPr marL="1690370">
              <a:lnSpc>
                <a:spcPct val="100000"/>
              </a:lnSpc>
            </a:pPr>
            <a:r>
              <a:rPr sz="1350" spc="-20" dirty="0">
                <a:solidFill>
                  <a:srgbClr val="202745"/>
                </a:solidFill>
                <a:latin typeface="Trebuchet MS"/>
                <a:cs typeface="Trebuchet MS"/>
              </a:rPr>
              <a:t>Tree</a:t>
            </a:r>
            <a:endParaRPr sz="135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270387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656" y="483489"/>
            <a:ext cx="1749743" cy="694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80" dirty="0"/>
              <a:t>Tuples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934" y="1558861"/>
            <a:ext cx="9852660" cy="294703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64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spc="-50" dirty="0">
                <a:latin typeface="Trebuchet MS"/>
                <a:cs typeface="Trebuchet MS"/>
              </a:rPr>
              <a:t>Tuple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one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4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built-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1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data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types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2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Python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4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Collection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items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stored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single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variable</a:t>
            </a:r>
            <a:endParaRPr sz="240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60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Items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inside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tuple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homogeneous</a:t>
            </a:r>
            <a:r>
              <a:rPr sz="2400" spc="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heterogenous.</a:t>
            </a:r>
            <a:endParaRPr sz="2400">
              <a:latin typeface="Trebuchet MS"/>
              <a:cs typeface="Trebuchet MS"/>
            </a:endParaRPr>
          </a:p>
          <a:p>
            <a:pPr marL="142240" marR="5080" indent="-129539">
              <a:lnSpc>
                <a:spcPct val="100000"/>
              </a:lnSpc>
              <a:spcBef>
                <a:spcPts val="600"/>
              </a:spcBef>
              <a:buClr>
                <a:srgbClr val="4E67C7"/>
              </a:buClr>
              <a:buFont typeface="Arial MT"/>
              <a:buChar char="•"/>
              <a:tabLst>
                <a:tab pos="142240" algn="l"/>
              </a:tabLst>
            </a:pPr>
            <a:r>
              <a:rPr sz="2400" spc="-40" dirty="0">
                <a:latin typeface="Trebuchet MS"/>
                <a:cs typeface="Trebuchet MS"/>
              </a:rPr>
              <a:t>Tuples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sequences,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just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like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lists.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There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some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major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differences </a:t>
            </a:r>
            <a:r>
              <a:rPr sz="2400" dirty="0">
                <a:latin typeface="Trebuchet MS"/>
                <a:cs typeface="Trebuchet MS"/>
              </a:rPr>
              <a:t>between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tuples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lists.</a:t>
            </a:r>
            <a:endParaRPr sz="2400">
              <a:latin typeface="Trebuchet MS"/>
              <a:cs typeface="Trebuchet MS"/>
            </a:endParaRPr>
          </a:p>
          <a:p>
            <a:pPr marL="142240" marR="568325" indent="-129539">
              <a:lnSpc>
                <a:spcPct val="100000"/>
              </a:lnSpc>
              <a:spcBef>
                <a:spcPts val="550"/>
              </a:spcBef>
              <a:buClr>
                <a:srgbClr val="4E67C7"/>
              </a:buClr>
              <a:buFont typeface="Arial MT"/>
              <a:buChar char="•"/>
              <a:tabLst>
                <a:tab pos="142240" algn="l"/>
              </a:tabLst>
            </a:pPr>
            <a:r>
              <a:rPr sz="2400" spc="-40" dirty="0">
                <a:latin typeface="Trebuchet MS"/>
                <a:cs typeface="Trebuchet MS"/>
              </a:rPr>
              <a:t>Tuples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immutable.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can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NOT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update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or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change</a:t>
            </a:r>
            <a:r>
              <a:rPr sz="2400" spc="-10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of </a:t>
            </a:r>
            <a:r>
              <a:rPr sz="2400" dirty="0">
                <a:latin typeface="Trebuchet MS"/>
                <a:cs typeface="Trebuchet MS"/>
              </a:rPr>
              <a:t>tuple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elements</a:t>
            </a:r>
            <a:endParaRPr sz="24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084666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657" y="448309"/>
            <a:ext cx="9545955" cy="68672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 smtClean="0"/>
              <a:t>Tuples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52400" y="1600200"/>
            <a:ext cx="6553200" cy="41908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1" marR="508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tabLst>
                <a:tab pos="142240" algn="l"/>
                <a:tab pos="6854825" algn="l"/>
              </a:tabLst>
            </a:pPr>
            <a:r>
              <a:rPr lang="en-IN" sz="2200" spc="-10" dirty="0" smtClean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--- Tuple (Immutable Data) ---</a:t>
            </a:r>
          </a:p>
          <a:p>
            <a:pPr marL="12701" marR="508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tabLst>
                <a:tab pos="142240" algn="l"/>
                <a:tab pos="6854825" algn="l"/>
              </a:tabLst>
            </a:pPr>
            <a:r>
              <a:rPr lang="en-IN" sz="2200" spc="-10" dirty="0" smtClean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Aircraft properties: (</a:t>
            </a:r>
            <a:r>
              <a:rPr lang="en-IN" sz="2200" spc="-10" dirty="0" err="1" smtClean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wing_span</a:t>
            </a:r>
            <a:r>
              <a:rPr lang="en-IN" sz="2200" spc="-10" dirty="0" smtClean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m, </a:t>
            </a:r>
            <a:r>
              <a:rPr lang="en-IN" sz="2200" spc="-10" dirty="0" err="1" smtClean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fuselage_length</a:t>
            </a:r>
            <a:r>
              <a:rPr lang="en-IN" sz="2200" spc="-10" dirty="0" smtClean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m, </a:t>
            </a:r>
            <a:r>
              <a:rPr lang="en-IN" sz="2200" spc="-10" dirty="0" err="1" smtClean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max_takeoff_weight</a:t>
            </a:r>
            <a:r>
              <a:rPr lang="en-IN" sz="2200" spc="-10" dirty="0" smtClean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kg)</a:t>
            </a:r>
          </a:p>
          <a:p>
            <a:pPr marL="12701" marR="508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tabLst>
                <a:tab pos="142240" algn="l"/>
                <a:tab pos="6854825" algn="l"/>
              </a:tabLst>
            </a:pPr>
            <a:endParaRPr lang="en-IN" sz="2200" spc="-10" dirty="0" smtClean="0">
              <a:solidFill>
                <a:srgbClr val="2327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1" marR="508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tabLst>
                <a:tab pos="142240" algn="l"/>
                <a:tab pos="6854825" algn="l"/>
              </a:tabLst>
            </a:pPr>
            <a:r>
              <a:rPr lang="en-IN" sz="2200" spc="-10" dirty="0" err="1" smtClean="0">
                <a:solidFill>
                  <a:srgbClr val="2327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aircraft_properties</a:t>
            </a:r>
            <a:r>
              <a:rPr lang="en-IN" sz="2200" spc="-10" dirty="0" smtClean="0">
                <a:solidFill>
                  <a:srgbClr val="2327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(60.3, 70.6, 396890)  # fixed and constant</a:t>
            </a:r>
          </a:p>
          <a:p>
            <a:pPr marL="12701" marR="508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tabLst>
                <a:tab pos="142240" algn="l"/>
                <a:tab pos="6854825" algn="l"/>
              </a:tabLst>
            </a:pPr>
            <a:endParaRPr lang="en-IN" sz="2200" spc="-10" dirty="0" smtClean="0">
              <a:solidFill>
                <a:srgbClr val="2327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1" marR="508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tabLst>
                <a:tab pos="142240" algn="l"/>
                <a:tab pos="6854825" algn="l"/>
              </a:tabLst>
            </a:pPr>
            <a:r>
              <a:rPr lang="en-IN" sz="2200" spc="-10" dirty="0" smtClean="0">
                <a:solidFill>
                  <a:srgbClr val="2327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print("Aircraft Properties (Tuple):", </a:t>
            </a:r>
            <a:r>
              <a:rPr lang="en-IN" sz="2200" spc="-10" dirty="0" err="1" smtClean="0">
                <a:solidFill>
                  <a:srgbClr val="2327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aircraft_properties</a:t>
            </a:r>
            <a:r>
              <a:rPr lang="en-IN" sz="2200" spc="-10" dirty="0" smtClean="0">
                <a:solidFill>
                  <a:srgbClr val="2327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2701" marR="508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tabLst>
                <a:tab pos="142240" algn="l"/>
                <a:tab pos="6854825" algn="l"/>
              </a:tabLst>
            </a:pPr>
            <a:endParaRPr lang="en-IN" sz="2200" spc="-10" dirty="0" smtClean="0">
              <a:solidFill>
                <a:srgbClr val="2327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1" marR="508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tabLst>
                <a:tab pos="142240" algn="l"/>
                <a:tab pos="6854825" algn="l"/>
              </a:tabLst>
            </a:pPr>
            <a:r>
              <a:rPr lang="en-IN" sz="2200" spc="-10" dirty="0" smtClean="0">
                <a:solidFill>
                  <a:srgbClr val="2327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You cannot change tuple elements</a:t>
            </a:r>
          </a:p>
          <a:p>
            <a:pPr marL="12701" marR="508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tabLst>
                <a:tab pos="142240" algn="l"/>
                <a:tab pos="6854825" algn="l"/>
              </a:tabLst>
            </a:pPr>
            <a:r>
              <a:rPr lang="en-IN" sz="2200" spc="-10" dirty="0" smtClean="0">
                <a:solidFill>
                  <a:srgbClr val="2327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IN" sz="2200" spc="-10" dirty="0" err="1" smtClean="0">
                <a:solidFill>
                  <a:srgbClr val="2327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aircraft_properties</a:t>
            </a:r>
            <a:r>
              <a:rPr lang="en-IN" sz="2200" spc="-10" dirty="0" smtClean="0">
                <a:solidFill>
                  <a:srgbClr val="2327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[0] = 61.0 </a:t>
            </a:r>
          </a:p>
          <a:p>
            <a:pPr marL="12701" marR="5080">
              <a:lnSpc>
                <a:spcPct val="100000"/>
              </a:lnSpc>
              <a:spcBef>
                <a:spcPts val="100"/>
              </a:spcBef>
              <a:buClr>
                <a:srgbClr val="4E67C7"/>
              </a:buClr>
              <a:tabLst>
                <a:tab pos="142240" algn="l"/>
                <a:tab pos="6854825" algn="l"/>
              </a:tabLst>
            </a:pPr>
            <a:r>
              <a:rPr lang="en-IN" sz="2200" spc="-10" dirty="0" smtClean="0">
                <a:solidFill>
                  <a:srgbClr val="2327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# ❌ This will cause an error</a:t>
            </a:r>
            <a:endParaRPr lang="en-IN" sz="2200" spc="-10" dirty="0">
              <a:solidFill>
                <a:srgbClr val="23272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2362200"/>
            <a:ext cx="5282656" cy="180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881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Python</a:t>
            </a:r>
            <a:r>
              <a:rPr spc="-245" dirty="0"/>
              <a:t> </a:t>
            </a:r>
            <a:r>
              <a:rPr dirty="0"/>
              <a:t>Data</a:t>
            </a:r>
            <a:r>
              <a:rPr spc="-240" dirty="0"/>
              <a:t> </a:t>
            </a:r>
            <a:r>
              <a:rPr spc="-25" dirty="0"/>
              <a:t>Structures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810000" y="1752600"/>
            <a:ext cx="3307079" cy="4709160"/>
            <a:chOff x="3810000" y="1752600"/>
            <a:chExt cx="3307079" cy="47091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3239" y="5791200"/>
              <a:ext cx="228599" cy="6705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0" y="5775959"/>
              <a:ext cx="259079" cy="2743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000" y="5562600"/>
              <a:ext cx="259079" cy="28194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8000" y="5143500"/>
              <a:ext cx="259079" cy="70104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39739" y="4945379"/>
              <a:ext cx="228600" cy="8839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73239" y="4099560"/>
              <a:ext cx="228599" cy="6705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0" y="4084320"/>
              <a:ext cx="259079" cy="2743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58000" y="3870960"/>
              <a:ext cx="259079" cy="2743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8000" y="3444239"/>
              <a:ext cx="259079" cy="70104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24500" y="4084320"/>
              <a:ext cx="259079" cy="9067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06240" y="3672839"/>
              <a:ext cx="228600" cy="130302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9739" y="2400300"/>
              <a:ext cx="228600" cy="6705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24500" y="2385059"/>
              <a:ext cx="259079" cy="28193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4500" y="2179319"/>
              <a:ext cx="259079" cy="27432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4500" y="1752600"/>
              <a:ext cx="259079" cy="7010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191000" y="2385059"/>
              <a:ext cx="259079" cy="134112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10000" y="2636519"/>
              <a:ext cx="548639" cy="211836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899011" y="2822558"/>
            <a:ext cx="264795" cy="1760855"/>
          </a:xfrm>
          <a:prstGeom prst="rect">
            <a:avLst/>
          </a:prstGeom>
        </p:spPr>
        <p:txBody>
          <a:bodyPr vert="vert270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solidFill>
                  <a:srgbClr val="202745"/>
                </a:solidFill>
                <a:latin typeface="Trebuchet MS"/>
                <a:cs typeface="Trebuchet MS"/>
              </a:rPr>
              <a:t>All</a:t>
            </a:r>
            <a:r>
              <a:rPr sz="1600" spc="-40" dirty="0">
                <a:solidFill>
                  <a:srgbClr val="202745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2745"/>
                </a:solidFill>
                <a:latin typeface="Trebuchet MS"/>
                <a:cs typeface="Trebuchet MS"/>
              </a:rPr>
              <a:t>Data</a:t>
            </a:r>
            <a:r>
              <a:rPr sz="1600" spc="-50" dirty="0">
                <a:solidFill>
                  <a:srgbClr val="202745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2745"/>
                </a:solidFill>
                <a:latin typeface="Trebuchet MS"/>
                <a:cs typeface="Trebuchet MS"/>
              </a:rPr>
              <a:t>Structures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335779" y="1584960"/>
            <a:ext cx="3909060" cy="5059680"/>
            <a:chOff x="4335779" y="1584960"/>
            <a:chExt cx="3909060" cy="5059680"/>
          </a:xfrm>
        </p:grpSpPr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04359" y="2217420"/>
              <a:ext cx="1173480" cy="4038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7859" y="1584960"/>
              <a:ext cx="1173480" cy="4038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7859" y="2004060"/>
              <a:ext cx="1173480" cy="40386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37859" y="2430780"/>
              <a:ext cx="1173480" cy="4038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37859" y="2857500"/>
              <a:ext cx="1173480" cy="39623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35779" y="4724400"/>
              <a:ext cx="1363979" cy="50291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37859" y="3916680"/>
              <a:ext cx="1173480" cy="39623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3276600"/>
              <a:ext cx="1173479" cy="40386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3703320"/>
              <a:ext cx="1173479" cy="40386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4122420"/>
              <a:ext cx="1173479" cy="40386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1359" y="4549139"/>
              <a:ext cx="1173479" cy="40386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737859" y="5608319"/>
              <a:ext cx="1173480" cy="40385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071359" y="4975860"/>
              <a:ext cx="1173479" cy="39623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71359" y="5394960"/>
              <a:ext cx="1173479" cy="40385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71359" y="5821680"/>
              <a:ext cx="1173479" cy="40385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071359" y="6240780"/>
              <a:ext cx="1173479" cy="403860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4469765" y="1650618"/>
            <a:ext cx="3609975" cy="49015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98425" algn="ctr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Integer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rebuchet MS"/>
              <a:cs typeface="Trebuchet MS"/>
            </a:endParaRPr>
          </a:p>
          <a:p>
            <a:pPr marL="107950" algn="ctr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Float</a:t>
            </a:r>
            <a:endParaRPr sz="1350">
              <a:latin typeface="Trebuchet MS"/>
              <a:cs typeface="Trebuchet MS"/>
            </a:endParaRPr>
          </a:p>
          <a:p>
            <a:pPr marR="2558415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Primitive</a:t>
            </a:r>
            <a:endParaRPr sz="1350">
              <a:latin typeface="Trebuchet MS"/>
              <a:cs typeface="Trebuchet MS"/>
            </a:endParaRPr>
          </a:p>
          <a:p>
            <a:pPr marL="95250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String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rebuchet MS"/>
              <a:cs typeface="Trebuchet MS"/>
            </a:endParaRPr>
          </a:p>
          <a:p>
            <a:pPr marL="103505" algn="ctr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Boolean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50">
              <a:latin typeface="Trebuchet MS"/>
              <a:cs typeface="Trebuchet MS"/>
            </a:endParaRPr>
          </a:p>
          <a:p>
            <a:pPr marL="2769870" algn="ctr">
              <a:lnSpc>
                <a:spcPct val="100000"/>
              </a:lnSpc>
            </a:pPr>
            <a:r>
              <a:rPr sz="1350" spc="-20" dirty="0">
                <a:solidFill>
                  <a:srgbClr val="202745"/>
                </a:solidFill>
                <a:latin typeface="Trebuchet MS"/>
                <a:cs typeface="Trebuchet MS"/>
              </a:rPr>
              <a:t>List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rebuchet MS"/>
              <a:cs typeface="Trebuchet MS"/>
            </a:endParaRPr>
          </a:p>
          <a:p>
            <a:pPr marL="2765425" algn="ctr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Tuple</a:t>
            </a:r>
            <a:endParaRPr sz="1350">
              <a:latin typeface="Trebuchet MS"/>
              <a:cs typeface="Trebuchet MS"/>
            </a:endParaRPr>
          </a:p>
          <a:p>
            <a:pPr marL="100965" algn="ctr">
              <a:lnSpc>
                <a:spcPct val="100000"/>
              </a:lnSpc>
              <a:spcBef>
                <a:spcPts val="50"/>
              </a:spcBef>
            </a:pPr>
            <a:r>
              <a:rPr sz="1350" dirty="0">
                <a:solidFill>
                  <a:srgbClr val="202745"/>
                </a:solidFill>
                <a:latin typeface="Trebuchet MS"/>
                <a:cs typeface="Trebuchet MS"/>
              </a:rPr>
              <a:t>Built-</a:t>
            </a:r>
            <a:r>
              <a:rPr sz="1350" spc="-25" dirty="0">
                <a:solidFill>
                  <a:srgbClr val="202745"/>
                </a:solidFill>
                <a:latin typeface="Trebuchet MS"/>
                <a:cs typeface="Trebuchet MS"/>
              </a:rPr>
              <a:t>In</a:t>
            </a:r>
            <a:endParaRPr sz="1350">
              <a:latin typeface="Trebuchet MS"/>
              <a:cs typeface="Trebuchet MS"/>
            </a:endParaRPr>
          </a:p>
          <a:p>
            <a:pPr marL="2770505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Dictionary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50">
              <a:latin typeface="Trebuchet MS"/>
              <a:cs typeface="Trebuchet MS"/>
            </a:endParaRPr>
          </a:p>
          <a:p>
            <a:pPr marL="2769870" algn="ctr">
              <a:lnSpc>
                <a:spcPct val="100000"/>
              </a:lnSpc>
            </a:pPr>
            <a:r>
              <a:rPr sz="1350" spc="-25" dirty="0">
                <a:solidFill>
                  <a:srgbClr val="202745"/>
                </a:solidFill>
                <a:latin typeface="Trebuchet MS"/>
                <a:cs typeface="Trebuchet MS"/>
              </a:rPr>
              <a:t>Set</a:t>
            </a:r>
            <a:endParaRPr sz="1350">
              <a:latin typeface="Trebuchet MS"/>
              <a:cs typeface="Trebuchet MS"/>
            </a:endParaRPr>
          </a:p>
          <a:p>
            <a:pPr marR="2559050" algn="ctr">
              <a:lnSpc>
                <a:spcPct val="100000"/>
              </a:lnSpc>
              <a:spcBef>
                <a:spcPts val="45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Nonprimitive</a:t>
            </a:r>
            <a:endParaRPr sz="1350">
              <a:latin typeface="Trebuchet MS"/>
              <a:cs typeface="Trebuchet MS"/>
            </a:endParaRPr>
          </a:p>
          <a:p>
            <a:pPr marL="2766060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Stack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50">
              <a:latin typeface="Trebuchet MS"/>
              <a:cs typeface="Trebuchet MS"/>
            </a:endParaRPr>
          </a:p>
          <a:p>
            <a:pPr marL="2772410" algn="ctr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Queue</a:t>
            </a:r>
            <a:endParaRPr sz="1350">
              <a:latin typeface="Trebuchet MS"/>
              <a:cs typeface="Trebuchet MS"/>
            </a:endParaRPr>
          </a:p>
          <a:p>
            <a:pPr marL="104775" algn="ctr">
              <a:lnSpc>
                <a:spcPct val="100000"/>
              </a:lnSpc>
              <a:spcBef>
                <a:spcPts val="50"/>
              </a:spcBef>
            </a:pPr>
            <a:r>
              <a:rPr sz="1350" dirty="0">
                <a:solidFill>
                  <a:srgbClr val="202745"/>
                </a:solidFill>
                <a:latin typeface="Trebuchet MS"/>
                <a:cs typeface="Trebuchet MS"/>
              </a:rPr>
              <a:t>User-</a:t>
            </a: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Defined</a:t>
            </a:r>
            <a:endParaRPr sz="1350">
              <a:latin typeface="Trebuchet MS"/>
              <a:cs typeface="Trebuchet MS"/>
            </a:endParaRPr>
          </a:p>
          <a:p>
            <a:pPr marL="2768600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LinkedList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rebuchet MS"/>
              <a:cs typeface="Trebuchet MS"/>
            </a:endParaRPr>
          </a:p>
          <a:p>
            <a:pPr marL="2765425" algn="ctr">
              <a:lnSpc>
                <a:spcPct val="100000"/>
              </a:lnSpc>
            </a:pPr>
            <a:r>
              <a:rPr sz="1350" spc="-20" dirty="0">
                <a:solidFill>
                  <a:srgbClr val="202745"/>
                </a:solidFill>
                <a:latin typeface="Trebuchet MS"/>
                <a:cs typeface="Trebuchet MS"/>
              </a:rPr>
              <a:t>Tree</a:t>
            </a:r>
            <a:endParaRPr sz="135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634530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Python</a:t>
            </a:r>
            <a:r>
              <a:rPr spc="-245" dirty="0"/>
              <a:t> </a:t>
            </a:r>
            <a:r>
              <a:rPr dirty="0"/>
              <a:t>Data</a:t>
            </a:r>
            <a:r>
              <a:rPr spc="-240" dirty="0"/>
              <a:t> </a:t>
            </a:r>
            <a:r>
              <a:rPr spc="-25" dirty="0"/>
              <a:t>Structures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619500" y="1752600"/>
            <a:ext cx="3307079" cy="4709160"/>
            <a:chOff x="3619500" y="1752600"/>
            <a:chExt cx="3307079" cy="47091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82739" y="5791200"/>
              <a:ext cx="228599" cy="6705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7500" y="5775959"/>
              <a:ext cx="259079" cy="2743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67500" y="5562600"/>
              <a:ext cx="259079" cy="2743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67500" y="5143500"/>
              <a:ext cx="259079" cy="69341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49239" y="4945379"/>
              <a:ext cx="228600" cy="876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82739" y="4099560"/>
              <a:ext cx="228599" cy="66294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7500" y="4084320"/>
              <a:ext cx="259079" cy="2743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67500" y="3870960"/>
              <a:ext cx="259079" cy="2743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67500" y="3451860"/>
              <a:ext cx="259079" cy="69341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34000" y="4084320"/>
              <a:ext cx="259079" cy="9067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15740" y="3672839"/>
              <a:ext cx="228600" cy="130302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49239" y="2407919"/>
              <a:ext cx="228600" cy="66294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0" y="2392680"/>
              <a:ext cx="259079" cy="27432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4000" y="2179319"/>
              <a:ext cx="259079" cy="27432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34000" y="1752600"/>
              <a:ext cx="259079" cy="7010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00500" y="2392680"/>
              <a:ext cx="259079" cy="13335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19500" y="2636519"/>
              <a:ext cx="548639" cy="211836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3707959" y="2821687"/>
            <a:ext cx="264795" cy="1760855"/>
          </a:xfrm>
          <a:prstGeom prst="rect">
            <a:avLst/>
          </a:prstGeom>
        </p:spPr>
        <p:txBody>
          <a:bodyPr vert="vert270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solidFill>
                  <a:srgbClr val="202745"/>
                </a:solidFill>
                <a:latin typeface="Trebuchet MS"/>
                <a:cs typeface="Trebuchet MS"/>
              </a:rPr>
              <a:t>All</a:t>
            </a:r>
            <a:r>
              <a:rPr sz="1600" spc="-45" dirty="0">
                <a:solidFill>
                  <a:srgbClr val="202745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solidFill>
                  <a:srgbClr val="202745"/>
                </a:solidFill>
                <a:latin typeface="Trebuchet MS"/>
                <a:cs typeface="Trebuchet MS"/>
              </a:rPr>
              <a:t>Data</a:t>
            </a:r>
            <a:r>
              <a:rPr sz="1600" spc="-55" dirty="0">
                <a:solidFill>
                  <a:srgbClr val="202745"/>
                </a:solidFill>
                <a:latin typeface="Trebuchet MS"/>
                <a:cs typeface="Trebuchet MS"/>
              </a:rPr>
              <a:t> </a:t>
            </a:r>
            <a:r>
              <a:rPr sz="1600" spc="-10" dirty="0">
                <a:solidFill>
                  <a:srgbClr val="202745"/>
                </a:solidFill>
                <a:latin typeface="Trebuchet MS"/>
                <a:cs typeface="Trebuchet MS"/>
              </a:rPr>
              <a:t>Structures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130040" y="1584960"/>
            <a:ext cx="2583180" cy="3642360"/>
            <a:chOff x="4130040" y="1584960"/>
            <a:chExt cx="2583180" cy="3642360"/>
          </a:xfrm>
        </p:grpSpPr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06240" y="2217420"/>
              <a:ext cx="1181100" cy="40386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39740" y="1584960"/>
              <a:ext cx="1173480" cy="4038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539740" y="2011680"/>
              <a:ext cx="1173480" cy="39623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39740" y="2430780"/>
              <a:ext cx="1173480" cy="4038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39740" y="2857500"/>
              <a:ext cx="1173480" cy="4038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30040" y="4724400"/>
              <a:ext cx="1371600" cy="50291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4271009" y="4830381"/>
            <a:ext cx="104330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Nonprimitive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539740" y="3916679"/>
            <a:ext cx="1173480" cy="396239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5825871" y="3983354"/>
            <a:ext cx="598805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dirty="0">
                <a:solidFill>
                  <a:srgbClr val="202745"/>
                </a:solidFill>
                <a:latin typeface="Trebuchet MS"/>
                <a:cs typeface="Trebuchet MS"/>
              </a:rPr>
              <a:t>Built-</a:t>
            </a:r>
            <a:r>
              <a:rPr sz="1350" spc="-25" dirty="0">
                <a:solidFill>
                  <a:srgbClr val="202745"/>
                </a:solidFill>
                <a:latin typeface="Trebuchet MS"/>
                <a:cs typeface="Trebuchet MS"/>
              </a:rPr>
              <a:t>In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873240" y="3276600"/>
            <a:ext cx="1173479" cy="403860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4423790" y="1652905"/>
            <a:ext cx="3196590" cy="19310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17804" algn="ctr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Integer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350">
              <a:latin typeface="Trebuchet MS"/>
              <a:cs typeface="Trebuchet MS"/>
            </a:endParaRPr>
          </a:p>
          <a:p>
            <a:pPr marL="212725" algn="ctr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Float</a:t>
            </a:r>
            <a:endParaRPr sz="1350">
              <a:latin typeface="Trebuchet MS"/>
              <a:cs typeface="Trebuchet MS"/>
            </a:endParaRPr>
          </a:p>
          <a:p>
            <a:pPr marR="2451100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Primitive</a:t>
            </a:r>
            <a:endParaRPr sz="1350">
              <a:latin typeface="Trebuchet MS"/>
              <a:cs typeface="Trebuchet MS"/>
            </a:endParaRPr>
          </a:p>
          <a:p>
            <a:pPr marL="215265" algn="ctr">
              <a:lnSpc>
                <a:spcPct val="100000"/>
              </a:lnSpc>
              <a:spcBef>
                <a:spcPts val="5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String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350">
              <a:latin typeface="Trebuchet MS"/>
              <a:cs typeface="Trebuchet MS"/>
            </a:endParaRPr>
          </a:p>
          <a:p>
            <a:pPr marL="208279" algn="ctr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Boolean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</a:pPr>
            <a:r>
              <a:rPr sz="1350" spc="-20" dirty="0">
                <a:solidFill>
                  <a:srgbClr val="202745"/>
                </a:solidFill>
                <a:latin typeface="Trebuchet MS"/>
                <a:cs typeface="Trebuchet MS"/>
              </a:rPr>
              <a:t>List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873240" y="3703320"/>
            <a:ext cx="1562100" cy="1249680"/>
            <a:chOff x="6873240" y="3703320"/>
            <a:chExt cx="1562100" cy="1249680"/>
          </a:xfrm>
        </p:grpSpPr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873240" y="3703320"/>
              <a:ext cx="1173479" cy="40386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73240" y="4122420"/>
              <a:ext cx="1562100" cy="40386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873240" y="4549140"/>
              <a:ext cx="1173479" cy="403860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7041133" y="3661500"/>
            <a:ext cx="1233805" cy="119380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214629">
              <a:lnSpc>
                <a:spcPct val="100000"/>
              </a:lnSpc>
              <a:spcBef>
                <a:spcPts val="994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Tuple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85"/>
              </a:spcBef>
            </a:pPr>
            <a:r>
              <a:rPr sz="1950" b="1" spc="-10" dirty="0">
                <a:solidFill>
                  <a:srgbClr val="FFFFFF"/>
                </a:solidFill>
                <a:latin typeface="Trebuchet MS"/>
                <a:cs typeface="Trebuchet MS"/>
              </a:rPr>
              <a:t>Dictionary</a:t>
            </a:r>
            <a:endParaRPr sz="1950">
              <a:latin typeface="Trebuchet MS"/>
              <a:cs typeface="Trebuchet MS"/>
            </a:endParaRPr>
          </a:p>
          <a:p>
            <a:pPr marL="298450">
              <a:lnSpc>
                <a:spcPct val="100000"/>
              </a:lnSpc>
              <a:spcBef>
                <a:spcPts val="1430"/>
              </a:spcBef>
            </a:pPr>
            <a:r>
              <a:rPr sz="1350" spc="-25" dirty="0">
                <a:solidFill>
                  <a:srgbClr val="202745"/>
                </a:solidFill>
                <a:latin typeface="Trebuchet MS"/>
                <a:cs typeface="Trebuchet MS"/>
              </a:rPr>
              <a:t>Set</a:t>
            </a:r>
            <a:endParaRPr sz="1350">
              <a:latin typeface="Trebuchet MS"/>
              <a:cs typeface="Trebuchet M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539740" y="4968240"/>
            <a:ext cx="2506980" cy="1676400"/>
            <a:chOff x="5539740" y="4968240"/>
            <a:chExt cx="2506980" cy="1676400"/>
          </a:xfrm>
        </p:grpSpPr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539740" y="5608320"/>
              <a:ext cx="1173480" cy="40385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73240" y="4968240"/>
              <a:ext cx="1173479" cy="40386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73240" y="5394960"/>
              <a:ext cx="1173479" cy="40385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873240" y="5821680"/>
              <a:ext cx="1173479" cy="39623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73240" y="6240780"/>
              <a:ext cx="1173479" cy="403860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5596890" y="5042217"/>
            <a:ext cx="2289175" cy="15074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658620">
              <a:lnSpc>
                <a:spcPct val="100000"/>
              </a:lnSpc>
              <a:spcBef>
                <a:spcPts val="130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Stack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rebuchet MS"/>
              <a:cs typeface="Trebuchet MS"/>
            </a:endParaRPr>
          </a:p>
          <a:p>
            <a:pPr marL="1605280">
              <a:lnSpc>
                <a:spcPct val="100000"/>
              </a:lnSpc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Queue</a:t>
            </a:r>
            <a:endParaRPr sz="1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350" dirty="0">
                <a:solidFill>
                  <a:srgbClr val="202745"/>
                </a:solidFill>
                <a:latin typeface="Trebuchet MS"/>
                <a:cs typeface="Trebuchet MS"/>
              </a:rPr>
              <a:t>User-</a:t>
            </a: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Defined</a:t>
            </a:r>
            <a:endParaRPr sz="1350">
              <a:latin typeface="Trebuchet MS"/>
              <a:cs typeface="Trebuchet MS"/>
            </a:endParaRPr>
          </a:p>
          <a:p>
            <a:pPr marL="1460500">
              <a:lnSpc>
                <a:spcPct val="100000"/>
              </a:lnSpc>
              <a:spcBef>
                <a:spcPts val="45"/>
              </a:spcBef>
            </a:pPr>
            <a:r>
              <a:rPr sz="1350" spc="-10" dirty="0">
                <a:solidFill>
                  <a:srgbClr val="202745"/>
                </a:solidFill>
                <a:latin typeface="Trebuchet MS"/>
                <a:cs typeface="Trebuchet MS"/>
              </a:rPr>
              <a:t>LinkedList</a:t>
            </a:r>
            <a:endParaRPr sz="13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350">
              <a:latin typeface="Trebuchet MS"/>
              <a:cs typeface="Trebuchet MS"/>
            </a:endParaRPr>
          </a:p>
          <a:p>
            <a:pPr marL="1696720">
              <a:lnSpc>
                <a:spcPct val="100000"/>
              </a:lnSpc>
            </a:pPr>
            <a:r>
              <a:rPr sz="1350" spc="-20" dirty="0">
                <a:solidFill>
                  <a:srgbClr val="202745"/>
                </a:solidFill>
                <a:latin typeface="Trebuchet MS"/>
                <a:cs typeface="Trebuchet MS"/>
              </a:rPr>
              <a:t>Tree</a:t>
            </a:r>
            <a:endParaRPr sz="135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712319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Dictionaries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9934" y="1551241"/>
            <a:ext cx="9857740" cy="242630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40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Dictionaries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have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two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major</a:t>
            </a:r>
            <a:r>
              <a:rPr sz="2400" spc="-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element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types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key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Value.</a:t>
            </a:r>
            <a:endParaRPr sz="2400" dirty="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305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Dictionaries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collection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of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key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value</a:t>
            </a:r>
            <a:r>
              <a:rPr sz="2400" spc="-11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pairs</a:t>
            </a:r>
            <a:endParaRPr sz="2400" dirty="0">
              <a:latin typeface="Trebuchet MS"/>
              <a:cs typeface="Trebuchet MS"/>
            </a:endParaRPr>
          </a:p>
          <a:p>
            <a:pPr marL="142240" marR="5080" indent="-129539">
              <a:lnSpc>
                <a:spcPts val="2580"/>
              </a:lnSpc>
              <a:spcBef>
                <a:spcPts val="640"/>
              </a:spcBef>
              <a:buClr>
                <a:srgbClr val="4E67C7"/>
              </a:buClr>
              <a:buFont typeface="Arial MT"/>
              <a:buChar char="•"/>
              <a:tabLst>
                <a:tab pos="142240" algn="l"/>
              </a:tabLst>
            </a:pPr>
            <a:r>
              <a:rPr sz="2400" dirty="0">
                <a:latin typeface="Trebuchet MS"/>
                <a:cs typeface="Trebuchet MS"/>
              </a:rPr>
              <a:t>Each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key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separated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from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its value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by</a:t>
            </a:r>
            <a:r>
              <a:rPr sz="2400" spc="-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colon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(:),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items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are </a:t>
            </a:r>
            <a:r>
              <a:rPr sz="2400" dirty="0">
                <a:latin typeface="Trebuchet MS"/>
                <a:cs typeface="Trebuchet MS"/>
              </a:rPr>
              <a:t>separated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by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commas,</a:t>
            </a:r>
            <a:r>
              <a:rPr sz="2400" spc="2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and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whole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thing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is enclosed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in</a:t>
            </a:r>
            <a:r>
              <a:rPr sz="2400" spc="1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curly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braces.</a:t>
            </a:r>
            <a:endParaRPr sz="2400" dirty="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27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dirty="0">
                <a:latin typeface="Trebuchet MS"/>
                <a:cs typeface="Trebuchet MS"/>
              </a:rPr>
              <a:t>Keys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are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unique</a:t>
            </a:r>
            <a:r>
              <a:rPr sz="2400" spc="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within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dictionary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2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410617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Dictionaries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3401" y="1164188"/>
            <a:ext cx="6553200" cy="5091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2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Defining a dictionary for air properties</a:t>
            </a:r>
          </a:p>
          <a:p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air_properties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"density": 1.225,        # kg/m^3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"viscosity": 1.81e-5,    #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Pa.s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"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specific_heat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1005     # J/(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kg·K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}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Accessing values using keys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print("Air density:",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air_properties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["density"], "kg/m^3")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print("Air viscosity:",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air_properties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["viscosity"], "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Pa.s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print("Specific heat:",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air_properties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specific_heat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"], "J/(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kg·K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)")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Adding a new property</a:t>
            </a:r>
          </a:p>
          <a:p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air_properties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["pressure"] = 101325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print("Updated Air Properties:",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air_properties</a:t>
            </a:r>
            <a:r>
              <a:rPr lang="en-IN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2209800"/>
            <a:ext cx="62484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090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Dictionaries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800" y="1371600"/>
            <a:ext cx="6781800" cy="5074466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Define dictionary for air properties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air_properties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{"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density": 1.225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"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viscosity": 1.81e-5,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"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specific_heat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1005 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 Change the value of an existing key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air_properties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["density"] = 1.2   # Updated density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print("Updated density:",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air_properties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["density"])</a:t>
            </a:r>
          </a:p>
          <a:p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 Add a new key-value pair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air_properties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["pressure"] = 101325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print("Added pressure:",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air_properties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["pressure"])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 Change a key (create new key and delete old one)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air_properties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["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air_density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"]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air_properties.pop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("density")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print("Changed key from 'density' to '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air_density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':",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air_properties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66040">
              <a:lnSpc>
                <a:spcPct val="100000"/>
              </a:lnSpc>
              <a:spcBef>
                <a:spcPts val="630"/>
              </a:spcBef>
            </a:pPr>
            <a:endParaRPr sz="1950" dirty="0">
              <a:latin typeface="Consolas"/>
              <a:cs typeface="Consola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514600"/>
            <a:ext cx="5590893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201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2589352"/>
            <a:ext cx="7658100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000" spc="-50" dirty="0"/>
              <a:t>Conditionals,</a:t>
            </a:r>
            <a:r>
              <a:rPr sz="6000" spc="-305" dirty="0"/>
              <a:t> </a:t>
            </a:r>
            <a:r>
              <a:rPr sz="6000" spc="-20" dirty="0"/>
              <a:t>Loops</a:t>
            </a:r>
            <a:r>
              <a:rPr sz="6000" spc="-325" dirty="0"/>
              <a:t> </a:t>
            </a:r>
            <a:r>
              <a:rPr sz="6000" spc="-25" dirty="0"/>
              <a:t>and </a:t>
            </a:r>
            <a:r>
              <a:rPr sz="6000" spc="-10" dirty="0"/>
              <a:t>functions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108121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3504438"/>
            <a:ext cx="28682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65" dirty="0"/>
              <a:t>Contents</a:t>
            </a:r>
            <a:endParaRPr sz="6000"/>
          </a:p>
        </p:txBody>
      </p:sp>
    </p:spTree>
    <p:extLst>
      <p:ext uri="{BB962C8B-B14F-4D97-AF65-F5344CB8AC3E}">
        <p14:creationId xmlns:p14="http://schemas.microsoft.com/office/powerpoint/2010/main" val="245180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2348" y="1550479"/>
            <a:ext cx="1835150" cy="1361911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41605" indent="-128905">
              <a:spcBef>
                <a:spcPts val="6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lang="en-IN" sz="2400" spc="-10" dirty="0" smtClean="0">
                <a:latin typeface="Trebuchet MS"/>
                <a:cs typeface="Trebuchet MS"/>
              </a:rPr>
              <a:t>Functions</a:t>
            </a:r>
            <a:endParaRPr lang="en-IN" sz="2400" dirty="0" smtClean="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6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spc="-10" dirty="0" smtClean="0">
                <a:latin typeface="Trebuchet MS"/>
                <a:cs typeface="Trebuchet MS"/>
              </a:rPr>
              <a:t>Conditionals</a:t>
            </a:r>
            <a:endParaRPr sz="2400" dirty="0">
              <a:latin typeface="Trebuchet MS"/>
              <a:cs typeface="Trebuchet MS"/>
            </a:endParaRPr>
          </a:p>
          <a:p>
            <a:pPr marL="141605" indent="-128905">
              <a:lnSpc>
                <a:spcPct val="100000"/>
              </a:lnSpc>
              <a:spcBef>
                <a:spcPts val="580"/>
              </a:spcBef>
              <a:buClr>
                <a:srgbClr val="4E67C7"/>
              </a:buClr>
              <a:buFont typeface="Arial MT"/>
              <a:buChar char="•"/>
              <a:tabLst>
                <a:tab pos="141605" algn="l"/>
              </a:tabLst>
            </a:pPr>
            <a:r>
              <a:rPr sz="2400" spc="-10" dirty="0" smtClean="0">
                <a:latin typeface="Trebuchet MS"/>
                <a:cs typeface="Trebuchet MS"/>
              </a:rPr>
              <a:t>Loops</a:t>
            </a:r>
            <a:endParaRPr sz="2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724464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 smtClean="0"/>
              <a:t>Functions  </a:t>
            </a:r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04800" y="1447800"/>
            <a:ext cx="5943600" cy="4076116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r>
              <a:rPr lang="en-US" sz="2000" dirty="0">
                <a:solidFill>
                  <a:schemeClr val="accent3"/>
                </a:solidFill>
              </a:rPr>
              <a:t># Function to calculate Lift </a:t>
            </a:r>
            <a:r>
              <a:rPr lang="en-US" sz="2000" dirty="0" smtClean="0">
                <a:solidFill>
                  <a:schemeClr val="accent3"/>
                </a:solidFill>
              </a:rPr>
              <a:t>Force</a:t>
            </a:r>
          </a:p>
          <a:p>
            <a:endParaRPr lang="en-US" sz="2000" dirty="0"/>
          </a:p>
          <a:p>
            <a:r>
              <a:rPr lang="en-US" sz="2000" dirty="0" err="1"/>
              <a:t>def</a:t>
            </a:r>
            <a:r>
              <a:rPr lang="en-US" sz="2000" dirty="0"/>
              <a:t> lift (density, velocity, </a:t>
            </a:r>
            <a:r>
              <a:rPr lang="en-US" sz="2000" dirty="0" err="1"/>
              <a:t>wing_area</a:t>
            </a:r>
            <a:r>
              <a:rPr lang="en-US" sz="2000" dirty="0"/>
              <a:t>, Cl):</a:t>
            </a:r>
          </a:p>
          <a:p>
            <a:r>
              <a:rPr lang="en-US" sz="2000" dirty="0"/>
              <a:t>       return 0.5 * density * velocity**2 * </a:t>
            </a:r>
            <a:r>
              <a:rPr lang="en-US" sz="2000" dirty="0" err="1"/>
              <a:t>wing_area</a:t>
            </a:r>
            <a:r>
              <a:rPr lang="en-US" sz="2000" dirty="0"/>
              <a:t> * Cl</a:t>
            </a:r>
          </a:p>
          <a:p>
            <a:r>
              <a:rPr lang="en-US" sz="2000" dirty="0"/>
              <a:t>    </a:t>
            </a:r>
          </a:p>
          <a:p>
            <a:r>
              <a:rPr lang="en-US" sz="2000" dirty="0"/>
              <a:t># </a:t>
            </a:r>
            <a:r>
              <a:rPr lang="en-US" sz="2000" dirty="0">
                <a:solidFill>
                  <a:srgbClr val="FF0000"/>
                </a:solidFill>
              </a:rPr>
              <a:t>If the function call and print statement are on the same line as the return, which will cause an indentation error</a:t>
            </a:r>
            <a:r>
              <a:rPr lang="en-US" sz="2000" dirty="0" smtClean="0">
                <a:solidFill>
                  <a:srgbClr val="FF0000"/>
                </a:solidFill>
              </a:rPr>
              <a:t>.</a:t>
            </a:r>
          </a:p>
          <a:p>
            <a:endParaRPr lang="en-US" sz="2000" dirty="0">
              <a:solidFill>
                <a:schemeClr val="accent3"/>
              </a:solidFill>
            </a:endParaRPr>
          </a:p>
          <a:p>
            <a:r>
              <a:rPr lang="en-US" sz="2000" dirty="0">
                <a:solidFill>
                  <a:schemeClr val="accent3"/>
                </a:solidFill>
              </a:rPr>
              <a:t># Call the function</a:t>
            </a:r>
          </a:p>
          <a:p>
            <a:r>
              <a:rPr lang="en-US" sz="2000" dirty="0" err="1"/>
              <a:t>lift_force</a:t>
            </a:r>
            <a:r>
              <a:rPr lang="en-US" sz="2000" dirty="0"/>
              <a:t> = lift(1, 200, 25, 1</a:t>
            </a:r>
            <a:r>
              <a:rPr lang="en-US" sz="2000" dirty="0" smtClean="0"/>
              <a:t>)</a:t>
            </a:r>
          </a:p>
          <a:p>
            <a:endParaRPr lang="en-US" sz="2000" dirty="0"/>
          </a:p>
          <a:p>
            <a:r>
              <a:rPr lang="en-US" sz="2000" dirty="0"/>
              <a:t>print("Lift Force (N):", </a:t>
            </a:r>
            <a:r>
              <a:rPr lang="en-US" sz="2000" dirty="0" err="1"/>
              <a:t>lift_force</a:t>
            </a:r>
            <a:r>
              <a:rPr lang="en-US" sz="2000" dirty="0"/>
              <a:t>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079" y="1600201"/>
            <a:ext cx="5280483" cy="304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245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dirty="0" smtClean="0"/>
              <a:t>Functions </a:t>
            </a:r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304800" y="1447800"/>
            <a:ext cx="5334000" cy="4691669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r>
              <a:rPr lang="en-IN" sz="2000" dirty="0">
                <a:solidFill>
                  <a:schemeClr val="accent3"/>
                </a:solidFill>
              </a:rPr>
              <a:t># Function to calculate Reynolds Number</a:t>
            </a:r>
          </a:p>
          <a:p>
            <a:r>
              <a:rPr lang="en-IN" sz="2000" dirty="0" err="1"/>
              <a:t>def</a:t>
            </a:r>
            <a:r>
              <a:rPr lang="en-IN" sz="2000" dirty="0"/>
              <a:t> </a:t>
            </a:r>
            <a:r>
              <a:rPr lang="en-IN" sz="2000" dirty="0" err="1"/>
              <a:t>reynolds_number</a:t>
            </a:r>
            <a:r>
              <a:rPr lang="en-IN" sz="2000" dirty="0"/>
              <a:t>(rho, V, L, mu):</a:t>
            </a:r>
          </a:p>
          <a:p>
            <a:r>
              <a:rPr lang="en-IN" sz="2000" dirty="0"/>
              <a:t>    return (rho * V * L) / mu</a:t>
            </a:r>
          </a:p>
          <a:p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>
                <a:solidFill>
                  <a:schemeClr val="accent3"/>
                </a:solidFill>
              </a:rPr>
              <a:t># Function to calculate Dynamic Pressure</a:t>
            </a:r>
          </a:p>
          <a:p>
            <a:r>
              <a:rPr lang="en-IN" sz="2000" dirty="0" err="1"/>
              <a:t>def</a:t>
            </a:r>
            <a:r>
              <a:rPr lang="en-IN" sz="2000" dirty="0"/>
              <a:t> </a:t>
            </a:r>
            <a:r>
              <a:rPr lang="en-IN" sz="2000" dirty="0" err="1"/>
              <a:t>dynamic_pressure</a:t>
            </a:r>
            <a:r>
              <a:rPr lang="en-IN" sz="2000" dirty="0"/>
              <a:t>(rho, V):</a:t>
            </a:r>
          </a:p>
          <a:p>
            <a:r>
              <a:rPr lang="en-IN" sz="2000" dirty="0"/>
              <a:t>    return 0.5 * rho * V**</a:t>
            </a:r>
            <a:r>
              <a:rPr lang="en-IN" sz="2000" dirty="0" smtClean="0"/>
              <a:t>2</a:t>
            </a:r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>
                <a:solidFill>
                  <a:schemeClr val="accent3"/>
                </a:solidFill>
              </a:rPr>
              <a:t/>
            </a:r>
            <a:br>
              <a:rPr lang="en-IN" sz="2000" dirty="0">
                <a:solidFill>
                  <a:schemeClr val="accent3"/>
                </a:solidFill>
              </a:rPr>
            </a:br>
            <a:r>
              <a:rPr lang="en-IN" sz="2000" dirty="0">
                <a:solidFill>
                  <a:schemeClr val="accent3"/>
                </a:solidFill>
              </a:rPr>
              <a:t># Call the functions</a:t>
            </a:r>
          </a:p>
          <a:p>
            <a:r>
              <a:rPr lang="en-IN" sz="2000" dirty="0"/>
              <a:t>Re = </a:t>
            </a:r>
            <a:r>
              <a:rPr lang="en-IN" sz="2000" dirty="0" err="1"/>
              <a:t>reynolds_number</a:t>
            </a:r>
            <a:r>
              <a:rPr lang="en-IN" sz="2000" dirty="0"/>
              <a:t>(1.225,50, 0.5, 1.81e-5)</a:t>
            </a:r>
          </a:p>
          <a:p>
            <a:r>
              <a:rPr lang="en-IN" sz="2000" dirty="0"/>
              <a:t>q = </a:t>
            </a:r>
            <a:r>
              <a:rPr lang="en-IN" sz="2000" dirty="0" err="1"/>
              <a:t>dynamic_pressure</a:t>
            </a:r>
            <a:r>
              <a:rPr lang="en-IN" sz="2000" dirty="0"/>
              <a:t>(1.225, 50)</a:t>
            </a:r>
          </a:p>
          <a:p>
            <a:r>
              <a:rPr lang="en-IN" sz="2000" dirty="0"/>
              <a:t/>
            </a:r>
            <a:br>
              <a:rPr lang="en-IN" sz="2000" dirty="0"/>
            </a:br>
            <a:r>
              <a:rPr lang="en-IN" sz="2000" dirty="0">
                <a:solidFill>
                  <a:schemeClr val="accent3"/>
                </a:solidFill>
              </a:rPr>
              <a:t># Print results</a:t>
            </a:r>
          </a:p>
          <a:p>
            <a:r>
              <a:rPr lang="en-IN" sz="2000" dirty="0"/>
              <a:t>print("Reynolds Number:", Re)</a:t>
            </a:r>
          </a:p>
          <a:p>
            <a:r>
              <a:rPr lang="en-IN" sz="2000" dirty="0"/>
              <a:t>print("Dynamic Pressure (Pa):", q)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45442"/>
            <a:ext cx="4464172" cy="442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582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838200"/>
            <a:ext cx="10618470" cy="369332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ifferent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kinds of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brackets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(or delimiters)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524000"/>
          <a:ext cx="10896600" cy="3474720"/>
        </p:xfrm>
        <a:graphic>
          <a:graphicData uri="http://schemas.openxmlformats.org/drawingml/2006/table">
            <a:tbl>
              <a:tblPr/>
              <a:tblGrid>
                <a:gridCol w="3632200">
                  <a:extLst>
                    <a:ext uri="{9D8B030D-6E8A-4147-A177-3AD203B41FA5}">
                      <a16:colId xmlns:a16="http://schemas.microsoft.com/office/drawing/2014/main" val="2707435636"/>
                    </a:ext>
                  </a:extLst>
                </a:gridCol>
                <a:gridCol w="3632200">
                  <a:extLst>
                    <a:ext uri="{9D8B030D-6E8A-4147-A177-3AD203B41FA5}">
                      <a16:colId xmlns:a16="http://schemas.microsoft.com/office/drawing/2014/main" val="66994658"/>
                    </a:ext>
                  </a:extLst>
                </a:gridCol>
                <a:gridCol w="3632200">
                  <a:extLst>
                    <a:ext uri="{9D8B030D-6E8A-4147-A177-3AD203B41FA5}">
                      <a16:colId xmlns:a16="http://schemas.microsoft.com/office/drawing/2014/main" val="41859426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Bracket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6689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Parentheses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 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Functions, tuples, grouping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755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Square brackets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 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Lists, indexing, slicing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752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Curly braces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 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Dicts, sets, comprehensions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7344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Angle brackets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Comparisons, type hints (rare)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140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Triple quotes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''' """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Multi-line strings, </a:t>
                      </a: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docstrings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4392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067440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3504438"/>
            <a:ext cx="715835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20" dirty="0" smtClean="0"/>
              <a:t>If-</a:t>
            </a:r>
            <a:r>
              <a:rPr sz="6000" dirty="0" smtClean="0"/>
              <a:t>Else</a:t>
            </a:r>
            <a:r>
              <a:rPr sz="6000" spc="-260" dirty="0" smtClean="0"/>
              <a:t> </a:t>
            </a:r>
            <a:r>
              <a:rPr sz="6000" spc="-40" dirty="0"/>
              <a:t>statement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39604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-75" dirty="0" smtClean="0"/>
              <a:t>If-</a:t>
            </a:r>
            <a:r>
              <a:rPr lang="en-IN" spc="-20" dirty="0" smtClean="0"/>
              <a:t>else </a:t>
            </a:r>
            <a:r>
              <a:rPr spc="-50" dirty="0" smtClean="0"/>
              <a:t>Condition</a:t>
            </a:r>
            <a:endParaRPr spc="-5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71600"/>
            <a:ext cx="3769896" cy="1524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94202"/>
            <a:ext cx="2895600" cy="17783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287" y="1159406"/>
            <a:ext cx="2851153" cy="19871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3494202"/>
            <a:ext cx="3057012" cy="24161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09800" y="6057942"/>
            <a:ext cx="830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ndentation is required in Python for if,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else blocks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657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3504438"/>
            <a:ext cx="259397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20" dirty="0"/>
              <a:t>For</a:t>
            </a:r>
            <a:r>
              <a:rPr sz="6000" spc="-345" dirty="0"/>
              <a:t> </a:t>
            </a:r>
            <a:r>
              <a:rPr sz="6000" spc="-30" dirty="0"/>
              <a:t>loop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1375453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683323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-20" dirty="0"/>
              <a:t>For</a:t>
            </a:r>
            <a:r>
              <a:rPr lang="en-IN" spc="-345" dirty="0"/>
              <a:t> </a:t>
            </a:r>
            <a:r>
              <a:rPr lang="en-IN" spc="-30" dirty="0"/>
              <a:t>loop</a:t>
            </a:r>
            <a:endParaRPr spc="-50" dirty="0"/>
          </a:p>
        </p:txBody>
      </p:sp>
      <p:sp>
        <p:nvSpPr>
          <p:cNvPr id="3" name="TextBox 2"/>
          <p:cNvSpPr txBox="1"/>
          <p:nvPr/>
        </p:nvSpPr>
        <p:spPr>
          <a:xfrm>
            <a:off x="688340" y="1179355"/>
            <a:ext cx="51028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velocities = [10, 20, 30]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chemeClr val="accent3"/>
                </a:solidFill>
              </a:rPr>
              <a:t># 1. Basic for ... in </a:t>
            </a:r>
            <a:r>
              <a:rPr lang="en-IN" dirty="0" smtClean="0">
                <a:solidFill>
                  <a:schemeClr val="accent3"/>
                </a:solidFill>
              </a:rPr>
              <a:t>list</a:t>
            </a:r>
          </a:p>
          <a:p>
            <a:endParaRPr lang="en-IN" dirty="0"/>
          </a:p>
          <a:p>
            <a:r>
              <a:rPr lang="en-IN" dirty="0"/>
              <a:t>for V in velocities:</a:t>
            </a:r>
          </a:p>
          <a:p>
            <a:r>
              <a:rPr lang="en-IN" dirty="0"/>
              <a:t>    print(</a:t>
            </a:r>
            <a:r>
              <a:rPr lang="en-IN" dirty="0" err="1"/>
              <a:t>f"Velocity</a:t>
            </a:r>
            <a:r>
              <a:rPr lang="en-IN" dirty="0"/>
              <a:t> = {V} m/s")</a:t>
            </a:r>
          </a:p>
          <a:p>
            <a:r>
              <a:rPr lang="en-IN" dirty="0">
                <a:solidFill>
                  <a:schemeClr val="accent3"/>
                </a:solidFill>
              </a:rPr>
              <a:t>    </a:t>
            </a:r>
          </a:p>
          <a:p>
            <a:r>
              <a:rPr lang="en-IN" dirty="0">
                <a:solidFill>
                  <a:schemeClr val="accent3"/>
                </a:solidFill>
              </a:rPr>
              <a:t># 2. Using enumerate() (index + value</a:t>
            </a:r>
            <a:r>
              <a:rPr lang="en-IN" dirty="0" smtClean="0">
                <a:solidFill>
                  <a:schemeClr val="accent3"/>
                </a:solidFill>
              </a:rPr>
              <a:t>)</a:t>
            </a:r>
          </a:p>
          <a:p>
            <a:endParaRPr lang="en-IN" dirty="0"/>
          </a:p>
          <a:p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, V in enumerate(velocities):</a:t>
            </a:r>
          </a:p>
          <a:p>
            <a:r>
              <a:rPr lang="en-IN" dirty="0"/>
              <a:t>    print(</a:t>
            </a:r>
            <a:r>
              <a:rPr lang="en-IN" dirty="0" err="1"/>
              <a:t>f"Case</a:t>
            </a:r>
            <a:r>
              <a:rPr lang="en-IN" dirty="0"/>
              <a:t> {i+1}: Velocity = {V} m/s")</a:t>
            </a:r>
          </a:p>
          <a:p>
            <a:r>
              <a:rPr lang="en-IN" dirty="0">
                <a:solidFill>
                  <a:schemeClr val="accent3"/>
                </a:solidFill>
              </a:rPr>
              <a:t/>
            </a:r>
            <a:br>
              <a:rPr lang="en-IN" dirty="0">
                <a:solidFill>
                  <a:schemeClr val="accent3"/>
                </a:solidFill>
              </a:rPr>
            </a:br>
            <a:r>
              <a:rPr lang="en-IN" dirty="0">
                <a:solidFill>
                  <a:schemeClr val="accent3"/>
                </a:solidFill>
              </a:rPr>
              <a:t># 3. Using range(start, stop, step</a:t>
            </a:r>
            <a:r>
              <a:rPr lang="en-IN" dirty="0" smtClean="0">
                <a:solidFill>
                  <a:schemeClr val="accent3"/>
                </a:solidFill>
              </a:rPr>
              <a:t>)</a:t>
            </a:r>
          </a:p>
          <a:p>
            <a:endParaRPr lang="en-IN" dirty="0"/>
          </a:p>
          <a:p>
            <a:r>
              <a:rPr lang="en-IN" dirty="0"/>
              <a:t>for V in range(10, 40, 10):   # from 10 to 30 with step 10</a:t>
            </a:r>
          </a:p>
          <a:p>
            <a:r>
              <a:rPr lang="en-IN" dirty="0"/>
              <a:t>    print(</a:t>
            </a:r>
            <a:r>
              <a:rPr lang="en-IN" dirty="0" err="1"/>
              <a:t>f"Velocity</a:t>
            </a:r>
            <a:r>
              <a:rPr lang="en-IN" dirty="0"/>
              <a:t> = {V} m/s</a:t>
            </a:r>
            <a:r>
              <a:rPr lang="en-IN" dirty="0" smtClean="0"/>
              <a:t>")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88340" y="6096000"/>
            <a:ext cx="11122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f-string </a:t>
            </a:r>
            <a:r>
              <a:rPr lang="en-US" dirty="0">
                <a:solidFill>
                  <a:srgbClr val="FF0000"/>
                </a:solidFill>
              </a:rPr>
              <a:t>(formatted string </a:t>
            </a:r>
            <a:r>
              <a:rPr lang="en-US" dirty="0" smtClean="0">
                <a:solidFill>
                  <a:srgbClr val="FF0000"/>
                </a:solidFill>
              </a:rPr>
              <a:t>literal) allows </a:t>
            </a:r>
            <a:r>
              <a:rPr lang="en-US" dirty="0">
                <a:solidFill>
                  <a:srgbClr val="FF0000"/>
                </a:solidFill>
              </a:rPr>
              <a:t>us to insert variable values directly inside a string by writing them in curly braces { }.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1287616"/>
            <a:ext cx="5160754" cy="442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564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683323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-20" dirty="0"/>
              <a:t>For</a:t>
            </a:r>
            <a:r>
              <a:rPr lang="en-IN" spc="-345" dirty="0"/>
              <a:t> </a:t>
            </a:r>
            <a:r>
              <a:rPr lang="en-IN" spc="-30" dirty="0"/>
              <a:t>loop</a:t>
            </a:r>
            <a:endParaRPr spc="-50" dirty="0"/>
          </a:p>
        </p:txBody>
      </p:sp>
      <p:sp>
        <p:nvSpPr>
          <p:cNvPr id="3" name="TextBox 2"/>
          <p:cNvSpPr txBox="1"/>
          <p:nvPr/>
        </p:nvSpPr>
        <p:spPr>
          <a:xfrm>
            <a:off x="688340" y="1179355"/>
            <a:ext cx="5102860" cy="4307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>
                <a:solidFill>
                  <a:schemeClr val="accent3"/>
                </a:solidFill>
              </a:rPr>
              <a:t> </a:t>
            </a:r>
            <a:r>
              <a:rPr lang="en-IN" dirty="0">
                <a:solidFill>
                  <a:schemeClr val="accent3"/>
                </a:solidFill>
              </a:rPr>
              <a:t>#  Lift Calculation with different velocities</a:t>
            </a:r>
          </a:p>
          <a:p>
            <a:pPr algn="just"/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chemeClr val="accent3"/>
                </a:solidFill>
              </a:rPr>
              <a:t># Constants</a:t>
            </a:r>
          </a:p>
          <a:p>
            <a:pPr algn="just"/>
            <a:r>
              <a:rPr lang="en-IN" dirty="0"/>
              <a:t>rho = 1.225   # air density (kg/m^3) at sea level</a:t>
            </a:r>
          </a:p>
          <a:p>
            <a:pPr algn="just"/>
            <a:r>
              <a:rPr lang="en-IN" dirty="0"/>
              <a:t>S = 20.0      # wing area (m^2)</a:t>
            </a:r>
          </a:p>
          <a:p>
            <a:pPr algn="just"/>
            <a:r>
              <a:rPr lang="en-IN" dirty="0"/>
              <a:t>CL = 0.5      # lift coefficient</a:t>
            </a:r>
          </a:p>
          <a:p>
            <a:pPr algn="just"/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chemeClr val="accent3"/>
                </a:solidFill>
              </a:rPr>
              <a:t># Velocity range (in m/s)</a:t>
            </a:r>
          </a:p>
          <a:p>
            <a:pPr algn="just"/>
            <a:r>
              <a:rPr lang="en-IN" dirty="0"/>
              <a:t>velocities = [30, 40, 50, 60, 70, 80]</a:t>
            </a:r>
          </a:p>
          <a:p>
            <a:pPr algn="just"/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chemeClr val="accent3"/>
                </a:solidFill>
              </a:rPr>
              <a:t># Calculate lift for each velocity using for loop</a:t>
            </a:r>
          </a:p>
          <a:p>
            <a:pPr algn="just"/>
            <a:r>
              <a:rPr lang="en-IN" dirty="0">
                <a:solidFill>
                  <a:schemeClr val="accent3"/>
                </a:solidFill>
              </a:rPr>
              <a:t>for V in velocities:</a:t>
            </a:r>
          </a:p>
          <a:p>
            <a:pPr algn="just"/>
            <a:r>
              <a:rPr lang="en-IN" dirty="0"/>
              <a:t>    L = 0.5 * rho * (V**2) * S * CL</a:t>
            </a:r>
          </a:p>
          <a:p>
            <a:pPr algn="just"/>
            <a:r>
              <a:rPr lang="en-IN" dirty="0"/>
              <a:t>    print(</a:t>
            </a:r>
            <a:r>
              <a:rPr lang="en-IN" dirty="0" err="1"/>
              <a:t>f"Velocity</a:t>
            </a:r>
            <a:r>
              <a:rPr lang="en-IN" dirty="0"/>
              <a:t>: {V} m/s --&gt; Lift: {L:.2f} N")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1179355"/>
            <a:ext cx="4572000" cy="417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58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683323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pc="-20" dirty="0"/>
              <a:t>For</a:t>
            </a:r>
            <a:r>
              <a:rPr lang="en-IN" spc="-345" dirty="0"/>
              <a:t> </a:t>
            </a:r>
            <a:r>
              <a:rPr lang="en-IN" spc="-30" dirty="0"/>
              <a:t>loop</a:t>
            </a:r>
            <a:endParaRPr spc="-50" dirty="0"/>
          </a:p>
        </p:txBody>
      </p:sp>
      <p:sp>
        <p:nvSpPr>
          <p:cNvPr id="3" name="TextBox 2"/>
          <p:cNvSpPr txBox="1"/>
          <p:nvPr/>
        </p:nvSpPr>
        <p:spPr>
          <a:xfrm>
            <a:off x="688340" y="1179354"/>
            <a:ext cx="510286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/>
                </a:solidFill>
              </a:rPr>
              <a:t># Constants</a:t>
            </a:r>
          </a:p>
          <a:p>
            <a:r>
              <a:rPr lang="en-IN" dirty="0"/>
              <a:t>V = 2.0          # velocity (m/s)</a:t>
            </a:r>
          </a:p>
          <a:p>
            <a:r>
              <a:rPr lang="en-IN" dirty="0"/>
              <a:t>D = 0.05         # pipe diameter (m)</a:t>
            </a:r>
          </a:p>
          <a:p>
            <a:r>
              <a:rPr lang="en-IN" dirty="0"/>
              <a:t>mu = 0.001       # viscosity of water (</a:t>
            </a:r>
            <a:r>
              <a:rPr lang="en-IN" dirty="0" err="1"/>
              <a:t>Pa·s</a:t>
            </a:r>
            <a:r>
              <a:rPr lang="en-IN" dirty="0"/>
              <a:t>)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chemeClr val="accent3"/>
                </a:solidFill>
              </a:rPr>
              <a:t># Different fluid densities (kg/m^3</a:t>
            </a:r>
            <a:r>
              <a:rPr lang="en-IN" dirty="0" smtClean="0">
                <a:solidFill>
                  <a:schemeClr val="accent3"/>
                </a:solidFill>
              </a:rPr>
              <a:t>)</a:t>
            </a:r>
          </a:p>
          <a:p>
            <a:endParaRPr lang="en-IN" dirty="0">
              <a:solidFill>
                <a:schemeClr val="accent3"/>
              </a:solidFill>
            </a:endParaRPr>
          </a:p>
          <a:p>
            <a:r>
              <a:rPr lang="en-IN" dirty="0"/>
              <a:t>densities = [800, 900, 1000, 1100, 1200]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chemeClr val="accent3"/>
                </a:solidFill>
              </a:rPr>
              <a:t># Calculate Reynolds number for each </a:t>
            </a:r>
            <a:r>
              <a:rPr lang="en-IN" dirty="0" smtClean="0">
                <a:solidFill>
                  <a:schemeClr val="accent3"/>
                </a:solidFill>
              </a:rPr>
              <a:t>density</a:t>
            </a:r>
          </a:p>
          <a:p>
            <a:endParaRPr lang="en-IN" dirty="0">
              <a:solidFill>
                <a:schemeClr val="accent3"/>
              </a:solidFill>
            </a:endParaRPr>
          </a:p>
          <a:p>
            <a:r>
              <a:rPr lang="en-IN" dirty="0"/>
              <a:t>for rho in densities:</a:t>
            </a:r>
          </a:p>
          <a:p>
            <a:r>
              <a:rPr lang="en-IN" dirty="0"/>
              <a:t>    Re = (rho * V * D) / mu</a:t>
            </a:r>
          </a:p>
          <a:p>
            <a:r>
              <a:rPr lang="en-IN" dirty="0"/>
              <a:t>    print(</a:t>
            </a:r>
            <a:r>
              <a:rPr lang="en-IN" dirty="0" err="1"/>
              <a:t>f"Density</a:t>
            </a:r>
            <a:r>
              <a:rPr lang="en-IN" dirty="0"/>
              <a:t>: {rho} kg/m^3 --&gt; Reynolds </a:t>
            </a:r>
            <a:r>
              <a:rPr lang="en-IN" dirty="0" smtClean="0"/>
              <a:t> 			Number</a:t>
            </a:r>
            <a:r>
              <a:rPr lang="en-IN" dirty="0"/>
              <a:t>: {Re:.0f}")</a:t>
            </a:r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10869" y="5711524"/>
            <a:ext cx="11122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FF0000"/>
                </a:solidFill>
              </a:rPr>
              <a:t>Don’t reuse the same name for the list and the loop variable. Use something like for r in rho: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199" y="1179354"/>
            <a:ext cx="5738247" cy="354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521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683323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b="1" i="1" dirty="0"/>
              <a:t>Looping over two lists </a:t>
            </a:r>
            <a:endParaRPr spc="-50" dirty="0"/>
          </a:p>
        </p:txBody>
      </p:sp>
      <p:sp>
        <p:nvSpPr>
          <p:cNvPr id="3" name="TextBox 2"/>
          <p:cNvSpPr txBox="1"/>
          <p:nvPr/>
        </p:nvSpPr>
        <p:spPr>
          <a:xfrm>
            <a:off x="688340" y="1179355"/>
            <a:ext cx="52552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accent3"/>
                </a:solidFill>
              </a:rPr>
              <a:t># Looping over two lists with zip()</a:t>
            </a:r>
          </a:p>
          <a:p>
            <a:endParaRPr lang="en-IN" dirty="0" smtClean="0"/>
          </a:p>
          <a:p>
            <a:r>
              <a:rPr lang="en-IN" dirty="0" smtClean="0"/>
              <a:t>rho </a:t>
            </a:r>
            <a:r>
              <a:rPr lang="en-IN" dirty="0"/>
              <a:t>= [1.2, 1.1, 1.0]        # densities</a:t>
            </a:r>
          </a:p>
          <a:p>
            <a:r>
              <a:rPr lang="en-IN" dirty="0"/>
              <a:t>V   = [50, 60, 70]           # velocities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for r, v in zip(rho, V):</a:t>
            </a:r>
          </a:p>
          <a:p>
            <a:r>
              <a:rPr lang="en-IN" dirty="0"/>
              <a:t>    print(</a:t>
            </a:r>
            <a:r>
              <a:rPr lang="en-IN" dirty="0" err="1"/>
              <a:t>f"Density</a:t>
            </a:r>
            <a:r>
              <a:rPr lang="en-IN" dirty="0"/>
              <a:t> = {r}, Velocity = {v}")</a:t>
            </a:r>
          </a:p>
          <a:p>
            <a:endParaRPr lang="en-US" dirty="0" smtClean="0">
              <a:solidFill>
                <a:schemeClr val="accent3"/>
              </a:solidFill>
            </a:endParaRPr>
          </a:p>
          <a:p>
            <a:r>
              <a:rPr lang="en-IN" dirty="0">
                <a:solidFill>
                  <a:schemeClr val="accent3"/>
                </a:solidFill>
              </a:rPr>
              <a:t># Looping over two lists without zip()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 in range(</a:t>
            </a:r>
            <a:r>
              <a:rPr lang="en-IN" dirty="0" err="1"/>
              <a:t>len</a:t>
            </a:r>
            <a:r>
              <a:rPr lang="en-IN" dirty="0"/>
              <a:t>(rho)):</a:t>
            </a:r>
          </a:p>
          <a:p>
            <a:r>
              <a:rPr lang="en-IN" dirty="0"/>
              <a:t>    print(</a:t>
            </a:r>
            <a:r>
              <a:rPr lang="en-IN" dirty="0" err="1"/>
              <a:t>f"Density</a:t>
            </a:r>
            <a:r>
              <a:rPr lang="en-IN" dirty="0"/>
              <a:t> = {rho[</a:t>
            </a:r>
            <a:r>
              <a:rPr lang="en-IN" dirty="0" err="1"/>
              <a:t>i</a:t>
            </a:r>
            <a:r>
              <a:rPr lang="en-IN" dirty="0"/>
              <a:t>]}, Velocity = {V[</a:t>
            </a:r>
            <a:r>
              <a:rPr lang="en-IN" dirty="0" err="1"/>
              <a:t>i</a:t>
            </a:r>
            <a:r>
              <a:rPr lang="en-IN" dirty="0"/>
              <a:t>]}")</a:t>
            </a:r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1147933"/>
            <a:ext cx="4271498" cy="4186068"/>
          </a:xfrm>
          <a:prstGeom prst="rect">
            <a:avLst/>
          </a:prstGeom>
        </p:spPr>
      </p:pic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688340" y="5600113"/>
            <a:ext cx="1006269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mandatory to use zip(), but it’s </a:t>
            </a:r>
            <a:r>
              <a:rPr kumimoji="0" lang="en-US" altLang="en-US" sz="200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Pythonic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safer. </a:t>
            </a:r>
          </a:p>
        </p:txBody>
      </p:sp>
    </p:spTree>
    <p:extLst>
      <p:ext uri="{BB962C8B-B14F-4D97-AF65-F5344CB8AC3E}">
        <p14:creationId xmlns:p14="http://schemas.microsoft.com/office/powerpoint/2010/main" val="186138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683323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b="1" i="1" dirty="0"/>
              <a:t>Looping over two lists </a:t>
            </a:r>
            <a:endParaRPr spc="-50" dirty="0"/>
          </a:p>
        </p:txBody>
      </p:sp>
      <p:sp>
        <p:nvSpPr>
          <p:cNvPr id="3" name="TextBox 2"/>
          <p:cNvSpPr txBox="1"/>
          <p:nvPr/>
        </p:nvSpPr>
        <p:spPr>
          <a:xfrm>
            <a:off x="688340" y="1524000"/>
            <a:ext cx="56362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densities = [1.2, 1.1, 1.0]        # densities</a:t>
            </a:r>
          </a:p>
          <a:p>
            <a:r>
              <a:rPr lang="en-IN" dirty="0"/>
              <a:t>velocities  = [50, 60, 70]           # velocities</a:t>
            </a:r>
          </a:p>
          <a:p>
            <a:r>
              <a:rPr lang="en-IN" dirty="0"/>
              <a:t>S = 20     # wing area in m^2</a:t>
            </a:r>
          </a:p>
          <a:p>
            <a:r>
              <a:rPr lang="en-IN" dirty="0"/>
              <a:t>CL = 0.5   # lift coefficient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for rho, V in zip(densities, velocities):</a:t>
            </a:r>
          </a:p>
          <a:p>
            <a:r>
              <a:rPr lang="en-IN" dirty="0"/>
              <a:t>    L = 0.5 * rho * V**2 * S * CL</a:t>
            </a:r>
          </a:p>
          <a:p>
            <a:r>
              <a:rPr lang="en-IN" dirty="0"/>
              <a:t>    print(</a:t>
            </a:r>
            <a:r>
              <a:rPr lang="en-IN" dirty="0" err="1"/>
              <a:t>f"Density</a:t>
            </a:r>
            <a:r>
              <a:rPr lang="en-IN" dirty="0"/>
              <a:t> = {rho}, Velocity: {V} m/s --&gt; Lift: </a:t>
            </a:r>
            <a:r>
              <a:rPr lang="en-IN" dirty="0" smtClean="0"/>
              <a:t>				{</a:t>
            </a:r>
            <a:r>
              <a:rPr lang="en-IN" dirty="0"/>
              <a:t>L:.0f} N")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1500433"/>
            <a:ext cx="5868921" cy="2538167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24000" y="4830370"/>
            <a:ext cx="927048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zip() is used to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pair elements one-to-one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two or more lists.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you want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every density with every velocity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not one-to-one.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Then,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a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nested loop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outer loop goes over densities, the inner loop goes over velocities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5517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683323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b="1" i="1" dirty="0" smtClean="0"/>
              <a:t>Nested for loop</a:t>
            </a:r>
            <a:endParaRPr spc="-50" dirty="0"/>
          </a:p>
        </p:txBody>
      </p:sp>
      <p:sp>
        <p:nvSpPr>
          <p:cNvPr id="3" name="TextBox 2"/>
          <p:cNvSpPr txBox="1"/>
          <p:nvPr/>
        </p:nvSpPr>
        <p:spPr>
          <a:xfrm>
            <a:off x="228600" y="1346681"/>
            <a:ext cx="561444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3"/>
                </a:solidFill>
              </a:rPr>
              <a:t># Constants</a:t>
            </a:r>
          </a:p>
          <a:p>
            <a:r>
              <a:rPr lang="en-IN" dirty="0"/>
              <a:t>S = 20     # wing area in m^2</a:t>
            </a:r>
          </a:p>
          <a:p>
            <a:r>
              <a:rPr lang="en-IN" dirty="0"/>
              <a:t>CL = 0.5   # lift coefficient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densities = [1.2, 1.1, 1.0]        # densities</a:t>
            </a:r>
          </a:p>
          <a:p>
            <a:r>
              <a:rPr lang="en-IN" dirty="0"/>
              <a:t>velocities = [50, 60, 70]          # velocities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>
                <a:solidFill>
                  <a:schemeClr val="accent3"/>
                </a:solidFill>
              </a:rPr>
              <a:t># Nested loop with enumerate to number cases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for </a:t>
            </a:r>
            <a:r>
              <a:rPr lang="en-IN" dirty="0" err="1"/>
              <a:t>i</a:t>
            </a:r>
            <a:r>
              <a:rPr lang="en-IN" dirty="0"/>
              <a:t>, rho in enumerate(densities):      </a:t>
            </a:r>
            <a:r>
              <a:rPr lang="en-IN" dirty="0">
                <a:solidFill>
                  <a:schemeClr val="accent3"/>
                </a:solidFill>
              </a:rPr>
              <a:t># outer loop over densities</a:t>
            </a:r>
          </a:p>
          <a:p>
            <a:r>
              <a:rPr lang="en-IN" dirty="0"/>
              <a:t>    for j, V in enumerate(velocities):   </a:t>
            </a:r>
            <a:r>
              <a:rPr lang="en-IN" dirty="0">
                <a:solidFill>
                  <a:schemeClr val="accent3"/>
                </a:solidFill>
              </a:rPr>
              <a:t># inner loop over velocities</a:t>
            </a:r>
          </a:p>
          <a:p>
            <a:r>
              <a:rPr lang="en-IN" dirty="0"/>
              <a:t>        L = 0.5 * rho * V**2 * S * CL</a:t>
            </a:r>
          </a:p>
          <a:p>
            <a:r>
              <a:rPr lang="en-IN" dirty="0"/>
              <a:t>        print(f" Density = {rho}, Velocity = {V} m/s --&gt; Lift: </a:t>
            </a:r>
            <a:r>
              <a:rPr lang="en-IN" dirty="0" smtClean="0"/>
              <a:t>				{</a:t>
            </a:r>
            <a:r>
              <a:rPr lang="en-IN" dirty="0"/>
              <a:t>L:.0f} N")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186" y="1346681"/>
            <a:ext cx="5871542" cy="442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720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683323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b="1" i="1" dirty="0" smtClean="0"/>
              <a:t>While loop</a:t>
            </a:r>
            <a:endParaRPr spc="-50" dirty="0"/>
          </a:p>
        </p:txBody>
      </p:sp>
      <p:sp>
        <p:nvSpPr>
          <p:cNvPr id="3" name="TextBox 2"/>
          <p:cNvSpPr txBox="1"/>
          <p:nvPr/>
        </p:nvSpPr>
        <p:spPr>
          <a:xfrm>
            <a:off x="228600" y="1172285"/>
            <a:ext cx="561444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# Constants</a:t>
            </a:r>
          </a:p>
          <a:p>
            <a:r>
              <a:rPr lang="en-US" dirty="0"/>
              <a:t>S = 20</a:t>
            </a:r>
          </a:p>
          <a:p>
            <a:r>
              <a:rPr lang="en-US" dirty="0"/>
              <a:t>CL = 0.5</a:t>
            </a:r>
          </a:p>
          <a:p>
            <a:r>
              <a:rPr lang="en-US" dirty="0"/>
              <a:t>rho = 1.2</a:t>
            </a:r>
          </a:p>
          <a:p>
            <a:r>
              <a:rPr lang="en-US" dirty="0"/>
              <a:t>V = </a:t>
            </a:r>
            <a:r>
              <a:rPr lang="en-US" dirty="0" smtClean="0"/>
              <a:t>50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chemeClr val="accent3"/>
                </a:solidFill>
              </a:rPr>
              <a:t># Lift threshold</a:t>
            </a:r>
          </a:p>
          <a:p>
            <a:r>
              <a:rPr lang="en-US" dirty="0"/>
              <a:t>threshold = </a:t>
            </a:r>
            <a:r>
              <a:rPr lang="en-US" dirty="0" smtClean="0"/>
              <a:t>20000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chemeClr val="accent3"/>
                </a:solidFill>
              </a:rPr>
              <a:t># While loop</a:t>
            </a:r>
          </a:p>
          <a:p>
            <a:r>
              <a:rPr lang="en-US" dirty="0"/>
              <a:t>while True:</a:t>
            </a:r>
          </a:p>
          <a:p>
            <a:r>
              <a:rPr lang="en-US" dirty="0"/>
              <a:t>    L = 0.5 * rho * V**2 * S * CL</a:t>
            </a:r>
          </a:p>
          <a:p>
            <a:r>
              <a:rPr lang="en-US" dirty="0"/>
              <a:t>    print(</a:t>
            </a:r>
            <a:r>
              <a:rPr lang="en-US" dirty="0" err="1"/>
              <a:t>f"Velocity</a:t>
            </a:r>
            <a:r>
              <a:rPr lang="en-US" dirty="0"/>
              <a:t> = {V} m/s --&gt; Lift = {L:.0f} N")</a:t>
            </a:r>
          </a:p>
          <a:p>
            <a:r>
              <a:rPr lang="en-US" dirty="0"/>
              <a:t>    </a:t>
            </a:r>
          </a:p>
          <a:p>
            <a:r>
              <a:rPr lang="en-US" dirty="0"/>
              <a:t>    if L &gt; threshold:</a:t>
            </a:r>
          </a:p>
          <a:p>
            <a:r>
              <a:rPr lang="en-US" dirty="0"/>
              <a:t>        print("Lift exceeded threshold!")</a:t>
            </a:r>
          </a:p>
          <a:p>
            <a:r>
              <a:rPr lang="en-US" dirty="0"/>
              <a:t>        break  </a:t>
            </a:r>
            <a:r>
              <a:rPr lang="en-US" dirty="0">
                <a:solidFill>
                  <a:schemeClr val="accent3"/>
                </a:solidFill>
              </a:rPr>
              <a:t># exit the loop</a:t>
            </a:r>
          </a:p>
          <a:p>
            <a:r>
              <a:rPr lang="en-US" dirty="0"/>
              <a:t>    </a:t>
            </a:r>
          </a:p>
          <a:p>
            <a:r>
              <a:rPr lang="en-US" dirty="0"/>
              <a:t>    V += 5   </a:t>
            </a:r>
            <a:r>
              <a:rPr lang="en-US" dirty="0">
                <a:solidFill>
                  <a:schemeClr val="accent3"/>
                </a:solidFill>
              </a:rPr>
              <a:t># increase velocity each iteration</a:t>
            </a:r>
          </a:p>
          <a:p>
            <a:r>
              <a:rPr lang="en-US" dirty="0"/>
              <a:t>          </a:t>
            </a:r>
            <a:r>
              <a:rPr lang="en-US" dirty="0">
                <a:solidFill>
                  <a:schemeClr val="accent3"/>
                </a:solidFill>
              </a:rPr>
              <a:t>  # V = V + </a:t>
            </a:r>
            <a:r>
              <a:rPr lang="en-US" dirty="0" smtClean="0">
                <a:solidFill>
                  <a:schemeClr val="accent3"/>
                </a:solidFill>
              </a:rPr>
              <a:t>5</a:t>
            </a:r>
            <a:endParaRPr lang="en-US" dirty="0">
              <a:solidFill>
                <a:schemeClr val="accent3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172285"/>
            <a:ext cx="4425307" cy="469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15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775" y="3507485"/>
            <a:ext cx="330454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6000" dirty="0" smtClean="0"/>
              <a:t>math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115925506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683323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b="1" i="1" dirty="0" smtClean="0"/>
              <a:t>Math package</a:t>
            </a:r>
            <a:endParaRPr spc="-5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09600" y="1927375"/>
            <a:ext cx="4876800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default,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only has basic arithmetic operators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(+ - * / ** %) available without importing anything.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Functions like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sqrt()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log()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sin()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etc. are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available directly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unless you import them from: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math package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(built-in, works on single numbers)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248400" y="1917948"/>
            <a:ext cx="5562600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the math package?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built-in Python module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(no extra installation needed).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mathematical functions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work on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numbers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(scalars).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Very similar to the functions you use on a scientific calculator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002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683323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b="1" i="1" dirty="0" smtClean="0"/>
              <a:t>Math package</a:t>
            </a:r>
            <a:endParaRPr spc="-50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04800" y="1676400"/>
            <a:ext cx="6553200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dirty="0"/>
              <a:t>import math</a:t>
            </a:r>
          </a:p>
          <a:p>
            <a:r>
              <a:rPr lang="en-IN" sz="2000" dirty="0"/>
              <a:t>x = 5.0</a:t>
            </a:r>
          </a:p>
          <a:p>
            <a:r>
              <a:rPr lang="en-IN" sz="2000" dirty="0"/>
              <a:t>print(</a:t>
            </a:r>
            <a:r>
              <a:rPr lang="en-IN" sz="2000" dirty="0" err="1"/>
              <a:t>math.sqrt</a:t>
            </a:r>
            <a:r>
              <a:rPr lang="en-IN" sz="2000" dirty="0"/>
              <a:t>(x))     </a:t>
            </a:r>
            <a:r>
              <a:rPr lang="en-IN" sz="2000" dirty="0">
                <a:solidFill>
                  <a:schemeClr val="accent3"/>
                </a:solidFill>
              </a:rPr>
              <a:t># Square root → 2.236...</a:t>
            </a:r>
          </a:p>
          <a:p>
            <a:r>
              <a:rPr lang="en-IN" sz="2000" dirty="0"/>
              <a:t>print(</a:t>
            </a:r>
            <a:r>
              <a:rPr lang="en-IN" sz="2000" dirty="0" err="1"/>
              <a:t>math.sin</a:t>
            </a:r>
            <a:r>
              <a:rPr lang="en-IN" sz="2000" dirty="0"/>
              <a:t>(</a:t>
            </a:r>
            <a:r>
              <a:rPr lang="en-IN" sz="2000" dirty="0" err="1"/>
              <a:t>math.radians</a:t>
            </a:r>
            <a:r>
              <a:rPr lang="en-IN" sz="2000" dirty="0"/>
              <a:t>(30)))  </a:t>
            </a:r>
            <a:r>
              <a:rPr lang="en-IN" sz="2000" dirty="0">
                <a:solidFill>
                  <a:schemeClr val="accent3"/>
                </a:solidFill>
              </a:rPr>
              <a:t> # Sine of 30° → 0.5</a:t>
            </a:r>
          </a:p>
          <a:p>
            <a:r>
              <a:rPr lang="en-IN" sz="2000" dirty="0"/>
              <a:t>print(math.log(x))     </a:t>
            </a:r>
            <a:r>
              <a:rPr lang="en-IN" sz="2000" dirty="0">
                <a:solidFill>
                  <a:schemeClr val="accent3"/>
                </a:solidFill>
              </a:rPr>
              <a:t># Natural log</a:t>
            </a:r>
          </a:p>
          <a:p>
            <a:r>
              <a:rPr lang="en-IN" sz="2000" dirty="0"/>
              <a:t>print(</a:t>
            </a:r>
            <a:r>
              <a:rPr lang="en-IN" sz="2000" dirty="0" err="1"/>
              <a:t>math.exp</a:t>
            </a:r>
            <a:r>
              <a:rPr lang="en-IN" sz="2000" dirty="0"/>
              <a:t>(x))     </a:t>
            </a:r>
            <a:r>
              <a:rPr lang="en-IN" sz="2000" dirty="0">
                <a:solidFill>
                  <a:schemeClr val="accent3"/>
                </a:solidFill>
              </a:rPr>
              <a:t> # e^5</a:t>
            </a:r>
          </a:p>
          <a:p>
            <a:r>
              <a:rPr lang="en-IN" sz="2000" dirty="0"/>
              <a:t>print(</a:t>
            </a:r>
            <a:r>
              <a:rPr lang="en-IN" sz="2000" dirty="0" err="1"/>
              <a:t>math.pi</a:t>
            </a:r>
            <a:r>
              <a:rPr lang="en-IN" sz="2000" dirty="0"/>
              <a:t>)        </a:t>
            </a:r>
            <a:r>
              <a:rPr lang="en-IN" sz="2000" dirty="0">
                <a:solidFill>
                  <a:schemeClr val="accent3"/>
                </a:solidFill>
              </a:rPr>
              <a:t># </a:t>
            </a:r>
            <a:r>
              <a:rPr lang="el-GR" sz="2000" dirty="0">
                <a:solidFill>
                  <a:schemeClr val="accent3"/>
                </a:solidFill>
              </a:rPr>
              <a:t>π = 3.14159...</a:t>
            </a:r>
          </a:p>
          <a:p>
            <a:r>
              <a:rPr lang="en-IN" sz="2000" dirty="0"/>
              <a:t>print(x * </a:t>
            </a:r>
            <a:r>
              <a:rPr lang="en-IN" sz="2000" dirty="0" err="1"/>
              <a:t>math.pi</a:t>
            </a:r>
            <a:r>
              <a:rPr lang="en-IN" sz="2000" dirty="0"/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146" y="1660689"/>
            <a:ext cx="4520568" cy="262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045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683323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b="1" i="1" dirty="0" smtClean="0"/>
              <a:t>Math package</a:t>
            </a:r>
            <a:endParaRPr spc="-5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04800" y="1617821"/>
            <a:ext cx="54864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math in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only with scalars (single numbers)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math.sqrt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(25) ✅ works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math.sqrt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([1, 4, 9]) ❌ error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you have a list/array, you must loop through it manually.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28512"/>
            <a:ext cx="5200708" cy="236804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756868"/>
            <a:ext cx="4000962" cy="2281945"/>
          </a:xfrm>
          <a:prstGeom prst="rect">
            <a:avLst/>
          </a:prstGeom>
        </p:spPr>
      </p:pic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04800" y="3895367"/>
            <a:ext cx="54864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math → only works with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scalars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can still use it with lists, but only if you loop through values one-by-one.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you want to apply formulas to an entire list/array at once → that’s where </a:t>
            </a:r>
            <a:r>
              <a:rPr kumimoji="0" lang="en-US" altLang="en-US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comes 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755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775" y="3507485"/>
            <a:ext cx="330454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6000" dirty="0" err="1" smtClean="0"/>
              <a:t>numpy</a:t>
            </a:r>
            <a:endParaRPr sz="6000" dirty="0"/>
          </a:p>
        </p:txBody>
      </p:sp>
    </p:spTree>
    <p:extLst>
      <p:ext uri="{BB962C8B-B14F-4D97-AF65-F5344CB8AC3E}">
        <p14:creationId xmlns:p14="http://schemas.microsoft.com/office/powerpoint/2010/main" val="386054333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683323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b="1" i="1" dirty="0" err="1" smtClean="0"/>
              <a:t>Numpy</a:t>
            </a:r>
            <a:r>
              <a:rPr lang="en-IN" b="1" i="1" dirty="0" smtClean="0"/>
              <a:t> package</a:t>
            </a:r>
            <a:endParaRPr spc="-50" dirty="0"/>
          </a:p>
        </p:txBody>
      </p:sp>
      <p:sp>
        <p:nvSpPr>
          <p:cNvPr id="3" name="Rectangle 2"/>
          <p:cNvSpPr/>
          <p:nvPr/>
        </p:nvSpPr>
        <p:spPr>
          <a:xfrm>
            <a:off x="304800" y="1577964"/>
            <a:ext cx="52578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stands for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Python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tools for handling arrays and matrices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more memory-efficient than Python lists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for large datasets.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operations, linear algebra, statistics, and simulations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0" y="1577964"/>
            <a:ext cx="5791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use 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 Aerospace / Fluid Mechanics?</a:t>
            </a:r>
          </a:p>
          <a:p>
            <a:endParaRPr lang="en-IN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Storing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densities, velocities, pressures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as arrays.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vectorized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calculations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(no loops needed).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Calculating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Reynolds number, lift, drag, or pressure coefficients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quickly for many points.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Easy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plotting libraries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like </a:t>
            </a:r>
            <a:r>
              <a:rPr lang="en-IN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054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683323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b="1" i="1" dirty="0" err="1" smtClean="0"/>
              <a:t>Numpy</a:t>
            </a:r>
            <a:endParaRPr spc="-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47800"/>
            <a:ext cx="5187870" cy="2362200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6096000" y="1828800"/>
            <a:ext cx="5257799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Because: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lists ([50, 60, 70]) don’t support element-wise math.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velocities**2 is not defined for lists.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4800600"/>
            <a:ext cx="3886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Correct way with 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4039385"/>
            <a:ext cx="5507818" cy="192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98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683323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b="1" i="1" dirty="0" err="1" smtClean="0"/>
              <a:t>Numpy</a:t>
            </a:r>
            <a:endParaRPr spc="-50" dirty="0"/>
          </a:p>
        </p:txBody>
      </p:sp>
      <p:sp>
        <p:nvSpPr>
          <p:cNvPr id="3" name="Rectangle 2"/>
          <p:cNvSpPr/>
          <p:nvPr/>
        </p:nvSpPr>
        <p:spPr>
          <a:xfrm>
            <a:off x="6781800" y="1066800"/>
            <a:ext cx="457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With a </a:t>
            </a:r>
            <a:r>
              <a:rPr lang="en-IN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array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array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np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velocities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([50, 60, 70])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print(velocities * 2)  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*2 means element-wise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3400" y="1185640"/>
            <a:ext cx="4572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With a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list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velocities = [50, 60, 70]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print(velocities * 2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*2 means repetition (concatenation),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4114800"/>
            <a:ext cx="5867400" cy="2438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641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683323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b="1" i="1" dirty="0" err="1" smtClean="0"/>
              <a:t>Numpy</a:t>
            </a:r>
            <a:endParaRPr spc="-50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04800" y="1295400"/>
            <a:ext cx="5867401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✅ Covered Topics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 creation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np.array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np.zeros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np.eye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np.random.rand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Basic arithmetic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+ - * /, element vs matrix multiplication (@)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Transpose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.T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Matrix operations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Linear equations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np.linalg.solve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Polynomials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np.roots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np.polyval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Broadcasting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e.g., rho[:,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np.newaxis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* V**2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Vectorized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calculations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lift, dynamic pressure,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Trigonometric / sqrt / log /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works on scalars or arrays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172201" y="1172285"/>
            <a:ext cx="5715000" cy="3570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Optional / Advanced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Topics (newer / extra)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Stacking arrays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np.vstack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np.hstack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Reshaping arrays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np.reshape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np.ravel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Indexing &amp; slicing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[::2],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[:,1]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Boolean masking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&gt; 50]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Statistical functions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np.mean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np.std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np.sum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np.max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Linear algebra extensions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np.linalg.norm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np.linalg.eigvals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np.linalg.svd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Polynomial fitting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np.polyfit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(x, y,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deg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→ e.g., fit a curve to data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sampling / distributions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np.random.normal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np.random.randint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132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481711"/>
            <a:ext cx="6833234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b="1" i="1" dirty="0" smtClean="0"/>
              <a:t>pandas package</a:t>
            </a:r>
            <a:endParaRPr spc="-50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33400" y="1439465"/>
            <a:ext cx="525780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 is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library for data analysis and manipulation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on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so it’s fast with arrays and numerical operations.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two main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1D labeled array (like a column of data)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2D labeled table (like an Excel sheet)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248400" y="1439465"/>
            <a:ext cx="502920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data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velocity, pressure, temperature, density.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derived quantities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lift, drag, Reynolds number.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filtering, grouping, statistics, plotting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Read/write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CSV, Excel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even online datasets.</a:t>
            </a:r>
          </a:p>
        </p:txBody>
      </p:sp>
    </p:spTree>
    <p:extLst>
      <p:ext uri="{BB962C8B-B14F-4D97-AF65-F5344CB8AC3E}">
        <p14:creationId xmlns:p14="http://schemas.microsoft.com/office/powerpoint/2010/main" val="1921470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775" y="3507485"/>
            <a:ext cx="3304540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0" dirty="0"/>
              <a:t>Thank</a:t>
            </a:r>
            <a:r>
              <a:rPr sz="6000" spc="-370" dirty="0"/>
              <a:t> </a:t>
            </a:r>
            <a:r>
              <a:rPr sz="6000" spc="-55" dirty="0"/>
              <a:t>you</a:t>
            </a:r>
            <a:endParaRPr sz="6000"/>
          </a:p>
        </p:txBody>
      </p:sp>
    </p:spTree>
    <p:extLst>
      <p:ext uri="{BB962C8B-B14F-4D97-AF65-F5344CB8AC3E}">
        <p14:creationId xmlns:p14="http://schemas.microsoft.com/office/powerpoint/2010/main" val="450099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5C6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615</TotalTime>
  <Words>2630</Words>
  <Application>Microsoft Office PowerPoint</Application>
  <PresentationFormat>Widescreen</PresentationFormat>
  <Paragraphs>792</Paragraphs>
  <Slides>91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9" baseType="lpstr">
      <vt:lpstr>Arial</vt:lpstr>
      <vt:lpstr>Arial MT</vt:lpstr>
      <vt:lpstr>Consolas</vt:lpstr>
      <vt:lpstr>Franklin Gothic Medium</vt:lpstr>
      <vt:lpstr>Times New Roman</vt:lpstr>
      <vt:lpstr>Trebuchet MS</vt:lpstr>
      <vt:lpstr>Wingdings</vt:lpstr>
      <vt:lpstr>Office Theme</vt:lpstr>
      <vt:lpstr>PYTHON FOR AEROSPACE</vt:lpstr>
      <vt:lpstr>Python Basics – Data Structures</vt:lpstr>
      <vt:lpstr>Contents</vt:lpstr>
      <vt:lpstr>Contents</vt:lpstr>
      <vt:lpstr>Introduction to Python &amp; History</vt:lpstr>
      <vt:lpstr>What is python</vt:lpstr>
      <vt:lpstr>History</vt:lpstr>
      <vt:lpstr>Python History</vt:lpstr>
      <vt:lpstr>Which Version to install?</vt:lpstr>
      <vt:lpstr>Installing Python &amp; Python IDEs</vt:lpstr>
      <vt:lpstr>Writing and executing python programs</vt:lpstr>
      <vt:lpstr>Installing Python, Anaconda</vt:lpstr>
      <vt:lpstr>Most Widely used IDEs</vt:lpstr>
      <vt:lpstr>Jypyter Notebook</vt:lpstr>
      <vt:lpstr>Colab Notebook</vt:lpstr>
      <vt:lpstr>Working with notebooks</vt:lpstr>
      <vt:lpstr>Check Python Version</vt:lpstr>
      <vt:lpstr>Before you code</vt:lpstr>
      <vt:lpstr>Basic Commands in Python</vt:lpstr>
      <vt:lpstr>Basic Commands</vt:lpstr>
      <vt:lpstr>What an error looks like?</vt:lpstr>
      <vt:lpstr>What an error looks like?</vt:lpstr>
      <vt:lpstr>Assigning and Naming convention</vt:lpstr>
      <vt:lpstr>Assignment operator</vt:lpstr>
      <vt:lpstr>Assignment operator</vt:lpstr>
      <vt:lpstr>Naming convention</vt:lpstr>
      <vt:lpstr>Packages</vt:lpstr>
      <vt:lpstr>Packages</vt:lpstr>
      <vt:lpstr>Packages</vt:lpstr>
      <vt:lpstr>Important Packages- NumPy</vt:lpstr>
      <vt:lpstr>PowerPoint Presentation</vt:lpstr>
      <vt:lpstr>Important Packages- Pandas</vt:lpstr>
      <vt:lpstr>Important Packages- Pandas</vt:lpstr>
      <vt:lpstr>Important Packages- Matplotlib</vt:lpstr>
      <vt:lpstr>Important Packages- Scikit-Learn</vt:lpstr>
      <vt:lpstr>Get help on Python</vt:lpstr>
      <vt:lpstr>Conclusion</vt:lpstr>
      <vt:lpstr>Conclusion</vt:lpstr>
      <vt:lpstr>Python Basics – Data Structures</vt:lpstr>
      <vt:lpstr>Contents</vt:lpstr>
      <vt:lpstr>Python Data Structures</vt:lpstr>
      <vt:lpstr>Python Data Structures</vt:lpstr>
      <vt:lpstr>Integers and Float</vt:lpstr>
      <vt:lpstr>Strings</vt:lpstr>
      <vt:lpstr>Strings – Slicing</vt:lpstr>
      <vt:lpstr>String Concatenation</vt:lpstr>
      <vt:lpstr>Boolean</vt:lpstr>
      <vt:lpstr>PowerPoint Presentation</vt:lpstr>
      <vt:lpstr>Python Data Structures</vt:lpstr>
      <vt:lpstr>Python Data Structures</vt:lpstr>
      <vt:lpstr>List</vt:lpstr>
      <vt:lpstr>List Creation</vt:lpstr>
      <vt:lpstr>Combining two lists</vt:lpstr>
      <vt:lpstr>Negative Index</vt:lpstr>
      <vt:lpstr>LIST WITH MIXED DATA</vt:lpstr>
      <vt:lpstr>Python Data Structures</vt:lpstr>
      <vt:lpstr>Python Data Structures</vt:lpstr>
      <vt:lpstr>Tuples</vt:lpstr>
      <vt:lpstr>Tuples</vt:lpstr>
      <vt:lpstr>Python Data Structures</vt:lpstr>
      <vt:lpstr>Python Data Structures</vt:lpstr>
      <vt:lpstr>Dictionaries</vt:lpstr>
      <vt:lpstr>Dictionaries</vt:lpstr>
      <vt:lpstr>Dictionaries</vt:lpstr>
      <vt:lpstr>Conditionals, Loops and functions</vt:lpstr>
      <vt:lpstr>Contents</vt:lpstr>
      <vt:lpstr>Contents</vt:lpstr>
      <vt:lpstr>Functions  </vt:lpstr>
      <vt:lpstr>Functions </vt:lpstr>
      <vt:lpstr>PowerPoint Presentation</vt:lpstr>
      <vt:lpstr>If-Else statement</vt:lpstr>
      <vt:lpstr>If-else Condition</vt:lpstr>
      <vt:lpstr>For loop</vt:lpstr>
      <vt:lpstr>For loop</vt:lpstr>
      <vt:lpstr>For loop</vt:lpstr>
      <vt:lpstr>For loop</vt:lpstr>
      <vt:lpstr>Looping over two lists </vt:lpstr>
      <vt:lpstr>Looping over two lists </vt:lpstr>
      <vt:lpstr>Nested for loop</vt:lpstr>
      <vt:lpstr>While loop</vt:lpstr>
      <vt:lpstr>math</vt:lpstr>
      <vt:lpstr>Math package</vt:lpstr>
      <vt:lpstr>Math package</vt:lpstr>
      <vt:lpstr>Math package</vt:lpstr>
      <vt:lpstr>numpy</vt:lpstr>
      <vt:lpstr>Numpy package</vt:lpstr>
      <vt:lpstr>Numpy</vt:lpstr>
      <vt:lpstr>Numpy</vt:lpstr>
      <vt:lpstr>Numpy</vt:lpstr>
      <vt:lpstr>pandas package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</dc:title>
  <dc:creator>., Venkat Reddy</dc:creator>
  <cp:lastModifiedBy>ADMIN</cp:lastModifiedBy>
  <cp:revision>51</cp:revision>
  <dcterms:created xsi:type="dcterms:W3CDTF">2025-09-09T08:40:14Z</dcterms:created>
  <dcterms:modified xsi:type="dcterms:W3CDTF">2025-09-16T10:25:56Z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2024-08-20T00:00:00Z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2025-09-09T00:00:00Z</vt:filetime>
  </property>
  <property fmtid="{D5CDD505-2E9C-101B-9397-08002B2CF9AE}" pid="5" name="Producer">
    <vt:lpwstr>Microsoft® PowerPoint® 2016</vt:lpwstr>
  </property>
</Properties>
</file>